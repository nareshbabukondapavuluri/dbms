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diagrams/layout1.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ppt/diagrams/data1.xml" ContentType="application/vnd.openxmlformats-officedocument.drawingml.diagramData+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7"/>
  </p:notesMasterIdLst>
  <p:sldIdLst>
    <p:sldId id="257" r:id="rId2"/>
    <p:sldId id="352" r:id="rId3"/>
    <p:sldId id="353" r:id="rId4"/>
    <p:sldId id="354" r:id="rId5"/>
    <p:sldId id="355" r:id="rId6"/>
    <p:sldId id="356" r:id="rId7"/>
    <p:sldId id="357" r:id="rId8"/>
    <p:sldId id="256" r:id="rId9"/>
    <p:sldId id="258" r:id="rId10"/>
    <p:sldId id="259" r:id="rId11"/>
    <p:sldId id="260" r:id="rId12"/>
    <p:sldId id="262" r:id="rId13"/>
    <p:sldId id="263" r:id="rId14"/>
    <p:sldId id="261" r:id="rId15"/>
    <p:sldId id="270" r:id="rId16"/>
    <p:sldId id="264" r:id="rId17"/>
    <p:sldId id="272" r:id="rId18"/>
    <p:sldId id="269" r:id="rId19"/>
    <p:sldId id="273" r:id="rId20"/>
    <p:sldId id="274" r:id="rId21"/>
    <p:sldId id="275" r:id="rId22"/>
    <p:sldId id="276" r:id="rId23"/>
    <p:sldId id="291" r:id="rId24"/>
    <p:sldId id="277" r:id="rId25"/>
    <p:sldId id="278" r:id="rId26"/>
    <p:sldId id="279" r:id="rId27"/>
    <p:sldId id="280" r:id="rId28"/>
    <p:sldId id="358" r:id="rId29"/>
    <p:sldId id="362" r:id="rId30"/>
    <p:sldId id="281" r:id="rId31"/>
    <p:sldId id="359" r:id="rId32"/>
    <p:sldId id="363" r:id="rId33"/>
    <p:sldId id="360" r:id="rId34"/>
    <p:sldId id="361" r:id="rId35"/>
    <p:sldId id="282" r:id="rId36"/>
    <p:sldId id="283" r:id="rId37"/>
    <p:sldId id="290" r:id="rId38"/>
    <p:sldId id="285" r:id="rId39"/>
    <p:sldId id="286" r:id="rId40"/>
    <p:sldId id="287" r:id="rId41"/>
    <p:sldId id="288" r:id="rId42"/>
    <p:sldId id="289" r:id="rId43"/>
    <p:sldId id="364" r:id="rId44"/>
    <p:sldId id="365" r:id="rId45"/>
    <p:sldId id="366" r:id="rId46"/>
    <p:sldId id="367" r:id="rId47"/>
    <p:sldId id="368" r:id="rId48"/>
    <p:sldId id="369" r:id="rId49"/>
    <p:sldId id="370" r:id="rId50"/>
    <p:sldId id="292" r:id="rId51"/>
    <p:sldId id="293" r:id="rId52"/>
    <p:sldId id="294" r:id="rId53"/>
    <p:sldId id="373" r:id="rId54"/>
    <p:sldId id="371"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77" r:id="rId74"/>
    <p:sldId id="378" r:id="rId75"/>
    <p:sldId id="379" r:id="rId76"/>
    <p:sldId id="374" r:id="rId77"/>
    <p:sldId id="375" r:id="rId78"/>
    <p:sldId id="380" r:id="rId79"/>
    <p:sldId id="381" r:id="rId80"/>
    <p:sldId id="376" r:id="rId81"/>
    <p:sldId id="409" r:id="rId82"/>
    <p:sldId id="410" r:id="rId83"/>
    <p:sldId id="411" r:id="rId84"/>
    <p:sldId id="315" r:id="rId85"/>
    <p:sldId id="316" r:id="rId86"/>
    <p:sldId id="317" r:id="rId87"/>
    <p:sldId id="382" r:id="rId88"/>
    <p:sldId id="383" r:id="rId89"/>
    <p:sldId id="384" r:id="rId90"/>
    <p:sldId id="385" r:id="rId91"/>
    <p:sldId id="386" r:id="rId92"/>
    <p:sldId id="387" r:id="rId93"/>
    <p:sldId id="388" r:id="rId94"/>
    <p:sldId id="389" r:id="rId95"/>
    <p:sldId id="390" r:id="rId96"/>
    <p:sldId id="391" r:id="rId97"/>
    <p:sldId id="393" r:id="rId98"/>
    <p:sldId id="394" r:id="rId99"/>
    <p:sldId id="395" r:id="rId100"/>
    <p:sldId id="396" r:id="rId101"/>
    <p:sldId id="392" r:id="rId102"/>
    <p:sldId id="397" r:id="rId103"/>
    <p:sldId id="398" r:id="rId104"/>
    <p:sldId id="399" r:id="rId105"/>
    <p:sldId id="400" r:id="rId106"/>
    <p:sldId id="401" r:id="rId107"/>
    <p:sldId id="402" r:id="rId108"/>
    <p:sldId id="403" r:id="rId109"/>
    <p:sldId id="404" r:id="rId110"/>
    <p:sldId id="405" r:id="rId111"/>
    <p:sldId id="406" r:id="rId112"/>
    <p:sldId id="407" r:id="rId113"/>
    <p:sldId id="408" r:id="rId114"/>
    <p:sldId id="318" r:id="rId115"/>
    <p:sldId id="320" r:id="rId116"/>
    <p:sldId id="321" r:id="rId117"/>
    <p:sldId id="322" r:id="rId118"/>
    <p:sldId id="323" r:id="rId119"/>
    <p:sldId id="324" r:id="rId120"/>
    <p:sldId id="326" r:id="rId121"/>
    <p:sldId id="328" r:id="rId122"/>
    <p:sldId id="329" r:id="rId123"/>
    <p:sldId id="330" r:id="rId124"/>
    <p:sldId id="325" r:id="rId125"/>
    <p:sldId id="331" r:id="rId126"/>
    <p:sldId id="332" r:id="rId127"/>
    <p:sldId id="333" r:id="rId128"/>
    <p:sldId id="334" r:id="rId129"/>
    <p:sldId id="335" r:id="rId130"/>
    <p:sldId id="336" r:id="rId131"/>
    <p:sldId id="338" r:id="rId132"/>
    <p:sldId id="344" r:id="rId133"/>
    <p:sldId id="345" r:id="rId134"/>
    <p:sldId id="339" r:id="rId135"/>
    <p:sldId id="340" r:id="rId136"/>
    <p:sldId id="341" r:id="rId137"/>
    <p:sldId id="342" r:id="rId138"/>
    <p:sldId id="343" r:id="rId139"/>
    <p:sldId id="347" r:id="rId140"/>
    <p:sldId id="337" r:id="rId141"/>
    <p:sldId id="346" r:id="rId142"/>
    <p:sldId id="348" r:id="rId143"/>
    <p:sldId id="349" r:id="rId144"/>
    <p:sldId id="350" r:id="rId145"/>
    <p:sldId id="351" r:id="rId146"/>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112" d="100"/>
          <a:sy n="112" d="100"/>
        </p:scale>
        <p:origin x="-610" y="-43"/>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presProps" Target="presProps.xml"/><Relationship Id="rId15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B8FC5B-C150-40E7-BBBA-1756598649C6}" type="doc">
      <dgm:prSet loTypeId="urn:microsoft.com/office/officeart/2008/layout/VerticalCurvedList" loCatId="list" qsTypeId="urn:microsoft.com/office/officeart/2005/8/quickstyle/simple1" qsCatId="simple" csTypeId="urn:microsoft.com/office/officeart/2005/8/colors/accent0_1" csCatId="mainScheme" phldr="1"/>
      <dgm:spPr/>
      <dgm:t>
        <a:bodyPr/>
        <a:lstStyle/>
        <a:p>
          <a:endParaRPr lang="en-IN"/>
        </a:p>
      </dgm:t>
    </dgm:pt>
    <dgm:pt modelId="{194EEE81-BE3B-416A-B8B7-2D73C14A6778}">
      <dgm:prSet custT="1"/>
      <dgm:spPr/>
      <dgm:t>
        <a:bodyPr/>
        <a:lstStyle/>
        <a:p>
          <a:r>
            <a:rPr lang="en-IN" sz="2200" b="1" dirty="0">
              <a:solidFill>
                <a:schemeClr val="accent5">
                  <a:lumMod val="75000"/>
                </a:schemeClr>
              </a:solidFill>
            </a:rPr>
            <a:t>Data Independence</a:t>
          </a:r>
          <a:endParaRPr lang="en-IN" sz="2200" dirty="0"/>
        </a:p>
      </dgm:t>
    </dgm:pt>
    <dgm:pt modelId="{0601FEE2-8C7C-4EA0-8159-62ECA0B0CD04}" type="parTrans" cxnId="{AB67BC2E-85A3-4427-8E83-C98A60589ED0}">
      <dgm:prSet/>
      <dgm:spPr/>
      <dgm:t>
        <a:bodyPr/>
        <a:lstStyle/>
        <a:p>
          <a:endParaRPr lang="en-IN"/>
        </a:p>
      </dgm:t>
    </dgm:pt>
    <dgm:pt modelId="{E71A84B4-CBB7-48AC-95F5-34532C14889C}" type="sibTrans" cxnId="{AB67BC2E-85A3-4427-8E83-C98A60589ED0}">
      <dgm:prSet/>
      <dgm:spPr/>
      <dgm:t>
        <a:bodyPr/>
        <a:lstStyle/>
        <a:p>
          <a:endParaRPr lang="en-IN"/>
        </a:p>
      </dgm:t>
    </dgm:pt>
    <dgm:pt modelId="{7D8F6491-F755-4BB0-86F4-E60733622B72}">
      <dgm:prSet custT="1"/>
      <dgm:spPr/>
      <dgm:t>
        <a:bodyPr/>
        <a:lstStyle/>
        <a:p>
          <a:r>
            <a:rPr lang="en-IN" sz="2200" b="1" dirty="0">
              <a:solidFill>
                <a:srgbClr val="3399FF"/>
              </a:solidFill>
            </a:rPr>
            <a:t>Data Abstraction</a:t>
          </a:r>
          <a:endParaRPr lang="en-IN" sz="2200" dirty="0">
            <a:solidFill>
              <a:srgbClr val="3399FF"/>
            </a:solidFill>
          </a:endParaRPr>
        </a:p>
      </dgm:t>
    </dgm:pt>
    <dgm:pt modelId="{7DD8DA4A-9013-4145-B967-264B8EB2F6F4}" type="parTrans" cxnId="{10283915-4C19-4A16-9A7F-F06755F2BED6}">
      <dgm:prSet/>
      <dgm:spPr/>
      <dgm:t>
        <a:bodyPr/>
        <a:lstStyle/>
        <a:p>
          <a:endParaRPr lang="en-IN"/>
        </a:p>
      </dgm:t>
    </dgm:pt>
    <dgm:pt modelId="{90946713-6883-4BDC-962A-857267B626F2}" type="sibTrans" cxnId="{10283915-4C19-4A16-9A7F-F06755F2BED6}">
      <dgm:prSet/>
      <dgm:spPr/>
      <dgm:t>
        <a:bodyPr/>
        <a:lstStyle/>
        <a:p>
          <a:endParaRPr lang="en-IN"/>
        </a:p>
      </dgm:t>
    </dgm:pt>
    <dgm:pt modelId="{6496B49B-F810-4693-B295-DC315E926F59}">
      <dgm:prSet custT="1"/>
      <dgm:spPr/>
      <dgm:t>
        <a:bodyPr/>
        <a:lstStyle/>
        <a:p>
          <a:r>
            <a:rPr lang="en-IN" sz="2200" b="1" dirty="0">
              <a:solidFill>
                <a:schemeClr val="tx2">
                  <a:lumMod val="75000"/>
                  <a:lumOff val="25000"/>
                </a:schemeClr>
              </a:solidFill>
            </a:rPr>
            <a:t>Efficient Data Access </a:t>
          </a:r>
          <a:endParaRPr lang="en-IN" sz="2200" dirty="0">
            <a:solidFill>
              <a:schemeClr val="tx2">
                <a:lumMod val="75000"/>
                <a:lumOff val="25000"/>
              </a:schemeClr>
            </a:solidFill>
          </a:endParaRPr>
        </a:p>
      </dgm:t>
    </dgm:pt>
    <dgm:pt modelId="{3346C260-B39A-4FE9-BC85-14256C9AF15A}" type="parTrans" cxnId="{FC14E417-30E5-4951-BB88-ECAD89A33883}">
      <dgm:prSet/>
      <dgm:spPr/>
      <dgm:t>
        <a:bodyPr/>
        <a:lstStyle/>
        <a:p>
          <a:endParaRPr lang="en-IN"/>
        </a:p>
      </dgm:t>
    </dgm:pt>
    <dgm:pt modelId="{61AB4254-726A-4949-86D1-AFB4C9C879CE}" type="sibTrans" cxnId="{FC14E417-30E5-4951-BB88-ECAD89A33883}">
      <dgm:prSet/>
      <dgm:spPr/>
      <dgm:t>
        <a:bodyPr/>
        <a:lstStyle/>
        <a:p>
          <a:endParaRPr lang="en-IN"/>
        </a:p>
      </dgm:t>
    </dgm:pt>
    <dgm:pt modelId="{22F24722-CCB4-479A-9A50-AF8001B7FFE9}">
      <dgm:prSet custT="1"/>
      <dgm:spPr/>
      <dgm:t>
        <a:bodyPr/>
        <a:lstStyle/>
        <a:p>
          <a:r>
            <a:rPr lang="en-IN" sz="2200" b="1" dirty="0">
              <a:solidFill>
                <a:schemeClr val="accent2">
                  <a:lumMod val="75000"/>
                </a:schemeClr>
              </a:solidFill>
            </a:rPr>
            <a:t>Data Integrity and Security </a:t>
          </a:r>
          <a:endParaRPr lang="en-IN" sz="2200" dirty="0">
            <a:solidFill>
              <a:schemeClr val="accent2">
                <a:lumMod val="75000"/>
              </a:schemeClr>
            </a:solidFill>
          </a:endParaRPr>
        </a:p>
      </dgm:t>
    </dgm:pt>
    <dgm:pt modelId="{BDC5021F-2EB1-43C8-914B-8546373CD57F}" type="parTrans" cxnId="{3A681F02-F016-4404-99FC-C092BF0C17E0}">
      <dgm:prSet/>
      <dgm:spPr/>
      <dgm:t>
        <a:bodyPr/>
        <a:lstStyle/>
        <a:p>
          <a:endParaRPr lang="en-IN"/>
        </a:p>
      </dgm:t>
    </dgm:pt>
    <dgm:pt modelId="{19E59619-4248-40ED-8C27-F20D36D12704}" type="sibTrans" cxnId="{3A681F02-F016-4404-99FC-C092BF0C17E0}">
      <dgm:prSet/>
      <dgm:spPr/>
      <dgm:t>
        <a:bodyPr/>
        <a:lstStyle/>
        <a:p>
          <a:endParaRPr lang="en-IN"/>
        </a:p>
      </dgm:t>
    </dgm:pt>
    <dgm:pt modelId="{E73A6EE2-DA53-4A1F-ACD0-FA375136E3E0}">
      <dgm:prSet custT="1"/>
      <dgm:spPr/>
      <dgm:t>
        <a:bodyPr/>
        <a:lstStyle/>
        <a:p>
          <a:r>
            <a:rPr lang="en-IN" sz="2200" b="1" dirty="0">
              <a:solidFill>
                <a:schemeClr val="accent6">
                  <a:lumMod val="75000"/>
                </a:schemeClr>
              </a:solidFill>
            </a:rPr>
            <a:t>Data Administration</a:t>
          </a:r>
          <a:endParaRPr lang="en-IN" sz="2200" dirty="0">
            <a:solidFill>
              <a:schemeClr val="accent6">
                <a:lumMod val="75000"/>
              </a:schemeClr>
            </a:solidFill>
          </a:endParaRPr>
        </a:p>
      </dgm:t>
    </dgm:pt>
    <dgm:pt modelId="{EFBD62F4-2C82-41DE-9CDB-EB4394423EA1}" type="parTrans" cxnId="{0CF22742-AF9F-4FEE-B168-D04BC628AC83}">
      <dgm:prSet/>
      <dgm:spPr/>
      <dgm:t>
        <a:bodyPr/>
        <a:lstStyle/>
        <a:p>
          <a:endParaRPr lang="en-IN"/>
        </a:p>
      </dgm:t>
    </dgm:pt>
    <dgm:pt modelId="{5FF7619B-AC1D-4ED7-B316-C97FACF62A33}" type="sibTrans" cxnId="{0CF22742-AF9F-4FEE-B168-D04BC628AC83}">
      <dgm:prSet/>
      <dgm:spPr/>
      <dgm:t>
        <a:bodyPr/>
        <a:lstStyle/>
        <a:p>
          <a:endParaRPr lang="en-IN"/>
        </a:p>
      </dgm:t>
    </dgm:pt>
    <dgm:pt modelId="{2BEBCB23-92AB-4314-9898-8CED350CEC08}">
      <dgm:prSet custT="1"/>
      <dgm:spPr/>
      <dgm:t>
        <a:bodyPr/>
        <a:lstStyle/>
        <a:p>
          <a:r>
            <a:rPr lang="en-IN" sz="2200" b="1" dirty="0">
              <a:solidFill>
                <a:srgbClr val="00B050"/>
              </a:solidFill>
            </a:rPr>
            <a:t>Concurrent Access and Crash Recovery </a:t>
          </a:r>
          <a:endParaRPr lang="en-IN" sz="2200" dirty="0">
            <a:solidFill>
              <a:srgbClr val="00B050"/>
            </a:solidFill>
          </a:endParaRPr>
        </a:p>
      </dgm:t>
    </dgm:pt>
    <dgm:pt modelId="{1A530863-E2B8-4CEC-ACFA-D69A1C1F4A5D}" type="parTrans" cxnId="{0144D116-F129-429A-A466-95FE0094F631}">
      <dgm:prSet/>
      <dgm:spPr/>
      <dgm:t>
        <a:bodyPr/>
        <a:lstStyle/>
        <a:p>
          <a:endParaRPr lang="en-IN"/>
        </a:p>
      </dgm:t>
    </dgm:pt>
    <dgm:pt modelId="{192FC4E3-41F7-4E8A-98D5-1C580434E093}" type="sibTrans" cxnId="{0144D116-F129-429A-A466-95FE0094F631}">
      <dgm:prSet/>
      <dgm:spPr/>
      <dgm:t>
        <a:bodyPr/>
        <a:lstStyle/>
        <a:p>
          <a:endParaRPr lang="en-IN"/>
        </a:p>
      </dgm:t>
    </dgm:pt>
    <dgm:pt modelId="{D2D8A5BF-4878-4DA8-884B-9C0282FB3D12}">
      <dgm:prSet custT="1"/>
      <dgm:spPr/>
      <dgm:t>
        <a:bodyPr/>
        <a:lstStyle/>
        <a:p>
          <a:r>
            <a:rPr lang="en-IN" sz="2200" b="1" dirty="0">
              <a:solidFill>
                <a:schemeClr val="accent5">
                  <a:lumMod val="75000"/>
                </a:schemeClr>
              </a:solidFill>
            </a:rPr>
            <a:t>Reduced Application Development Time</a:t>
          </a:r>
          <a:endParaRPr lang="en-IN" sz="2200" dirty="0">
            <a:solidFill>
              <a:schemeClr val="accent5">
                <a:lumMod val="75000"/>
              </a:schemeClr>
            </a:solidFill>
          </a:endParaRPr>
        </a:p>
      </dgm:t>
    </dgm:pt>
    <dgm:pt modelId="{8A1BD53A-1080-4CD4-A1AE-94B5C259DB37}" type="parTrans" cxnId="{AA1DCAC3-D3BA-427D-9E58-8D1DB2D09E18}">
      <dgm:prSet/>
      <dgm:spPr/>
      <dgm:t>
        <a:bodyPr/>
        <a:lstStyle/>
        <a:p>
          <a:endParaRPr lang="en-IN"/>
        </a:p>
      </dgm:t>
    </dgm:pt>
    <dgm:pt modelId="{FBFD50B7-0C12-4DC4-9B87-0DAE07F1BAAB}" type="sibTrans" cxnId="{AA1DCAC3-D3BA-427D-9E58-8D1DB2D09E18}">
      <dgm:prSet/>
      <dgm:spPr/>
      <dgm:t>
        <a:bodyPr/>
        <a:lstStyle/>
        <a:p>
          <a:endParaRPr lang="en-IN"/>
        </a:p>
      </dgm:t>
    </dgm:pt>
    <dgm:pt modelId="{7EFCD2B8-169A-4242-8CEF-6934AB04B9F6}" type="pres">
      <dgm:prSet presAssocID="{D3B8FC5B-C150-40E7-BBBA-1756598649C6}" presName="Name0" presStyleCnt="0">
        <dgm:presLayoutVars>
          <dgm:chMax val="7"/>
          <dgm:chPref val="7"/>
          <dgm:dir/>
        </dgm:presLayoutVars>
      </dgm:prSet>
      <dgm:spPr/>
      <dgm:t>
        <a:bodyPr/>
        <a:lstStyle/>
        <a:p>
          <a:endParaRPr lang="en-US"/>
        </a:p>
      </dgm:t>
    </dgm:pt>
    <dgm:pt modelId="{43FFBDF9-EB76-4722-B681-C1B01243F387}" type="pres">
      <dgm:prSet presAssocID="{D3B8FC5B-C150-40E7-BBBA-1756598649C6}" presName="Name1" presStyleCnt="0"/>
      <dgm:spPr/>
    </dgm:pt>
    <dgm:pt modelId="{B67CD31C-7B38-4C5D-A24F-638580CD5C23}" type="pres">
      <dgm:prSet presAssocID="{D3B8FC5B-C150-40E7-BBBA-1756598649C6}" presName="cycle" presStyleCnt="0"/>
      <dgm:spPr/>
    </dgm:pt>
    <dgm:pt modelId="{FA245062-9FF5-45C3-BAD9-39664F76793C}" type="pres">
      <dgm:prSet presAssocID="{D3B8FC5B-C150-40E7-BBBA-1756598649C6}" presName="srcNode" presStyleLbl="node1" presStyleIdx="0" presStyleCnt="7"/>
      <dgm:spPr/>
    </dgm:pt>
    <dgm:pt modelId="{06AE880E-2556-4AB6-8C03-66AC5BD3F99C}" type="pres">
      <dgm:prSet presAssocID="{D3B8FC5B-C150-40E7-BBBA-1756598649C6}" presName="conn" presStyleLbl="parChTrans1D2" presStyleIdx="0" presStyleCnt="1"/>
      <dgm:spPr/>
      <dgm:t>
        <a:bodyPr/>
        <a:lstStyle/>
        <a:p>
          <a:endParaRPr lang="en-US"/>
        </a:p>
      </dgm:t>
    </dgm:pt>
    <dgm:pt modelId="{57DC6648-0E96-42B9-9F77-C3A175E12C74}" type="pres">
      <dgm:prSet presAssocID="{D3B8FC5B-C150-40E7-BBBA-1756598649C6}" presName="extraNode" presStyleLbl="node1" presStyleIdx="0" presStyleCnt="7"/>
      <dgm:spPr/>
    </dgm:pt>
    <dgm:pt modelId="{B3CCB782-9587-4F79-9847-9E851DC55FB7}" type="pres">
      <dgm:prSet presAssocID="{D3B8FC5B-C150-40E7-BBBA-1756598649C6}" presName="dstNode" presStyleLbl="node1" presStyleIdx="0" presStyleCnt="7"/>
      <dgm:spPr/>
    </dgm:pt>
    <dgm:pt modelId="{1F6547D4-9B01-4029-9909-12E65625D7D8}" type="pres">
      <dgm:prSet presAssocID="{194EEE81-BE3B-416A-B8B7-2D73C14A6778}" presName="text_1" presStyleLbl="node1" presStyleIdx="0" presStyleCnt="7">
        <dgm:presLayoutVars>
          <dgm:bulletEnabled val="1"/>
        </dgm:presLayoutVars>
      </dgm:prSet>
      <dgm:spPr/>
      <dgm:t>
        <a:bodyPr/>
        <a:lstStyle/>
        <a:p>
          <a:endParaRPr lang="en-US"/>
        </a:p>
      </dgm:t>
    </dgm:pt>
    <dgm:pt modelId="{AC436D57-AC1D-4E66-8711-69950D3A4E83}" type="pres">
      <dgm:prSet presAssocID="{194EEE81-BE3B-416A-B8B7-2D73C14A6778}" presName="accent_1" presStyleCnt="0"/>
      <dgm:spPr/>
    </dgm:pt>
    <dgm:pt modelId="{BE8B6C16-C92A-477A-8E71-9BAE2797578C}" type="pres">
      <dgm:prSet presAssocID="{194EEE81-BE3B-416A-B8B7-2D73C14A6778}" presName="accentRepeatNode" presStyleLbl="solidFgAcc1" presStyleIdx="0" presStyleCnt="7"/>
      <dgm:spPr/>
    </dgm:pt>
    <dgm:pt modelId="{5F6039E3-F425-450F-AACD-F7560A6C20CC}" type="pres">
      <dgm:prSet presAssocID="{7D8F6491-F755-4BB0-86F4-E60733622B72}" presName="text_2" presStyleLbl="node1" presStyleIdx="1" presStyleCnt="7">
        <dgm:presLayoutVars>
          <dgm:bulletEnabled val="1"/>
        </dgm:presLayoutVars>
      </dgm:prSet>
      <dgm:spPr/>
      <dgm:t>
        <a:bodyPr/>
        <a:lstStyle/>
        <a:p>
          <a:endParaRPr lang="en-US"/>
        </a:p>
      </dgm:t>
    </dgm:pt>
    <dgm:pt modelId="{63097F65-EA4F-4FC7-BEE9-4831844D0B99}" type="pres">
      <dgm:prSet presAssocID="{7D8F6491-F755-4BB0-86F4-E60733622B72}" presName="accent_2" presStyleCnt="0"/>
      <dgm:spPr/>
    </dgm:pt>
    <dgm:pt modelId="{92BCAD2B-7A22-4A8E-A50E-08487DC97BD0}" type="pres">
      <dgm:prSet presAssocID="{7D8F6491-F755-4BB0-86F4-E60733622B72}" presName="accentRepeatNode" presStyleLbl="solidFgAcc1" presStyleIdx="1" presStyleCnt="7"/>
      <dgm:spPr/>
    </dgm:pt>
    <dgm:pt modelId="{AFFD5804-B0E2-4C8C-B722-DC5C45782D30}" type="pres">
      <dgm:prSet presAssocID="{6496B49B-F810-4693-B295-DC315E926F59}" presName="text_3" presStyleLbl="node1" presStyleIdx="2" presStyleCnt="7">
        <dgm:presLayoutVars>
          <dgm:bulletEnabled val="1"/>
        </dgm:presLayoutVars>
      </dgm:prSet>
      <dgm:spPr/>
      <dgm:t>
        <a:bodyPr/>
        <a:lstStyle/>
        <a:p>
          <a:endParaRPr lang="en-US"/>
        </a:p>
      </dgm:t>
    </dgm:pt>
    <dgm:pt modelId="{1387320B-9745-4D73-93A4-EBF6B857AE3D}" type="pres">
      <dgm:prSet presAssocID="{6496B49B-F810-4693-B295-DC315E926F59}" presName="accent_3" presStyleCnt="0"/>
      <dgm:spPr/>
    </dgm:pt>
    <dgm:pt modelId="{77576BD3-70EE-4869-B73A-24BA3A3BA357}" type="pres">
      <dgm:prSet presAssocID="{6496B49B-F810-4693-B295-DC315E926F59}" presName="accentRepeatNode" presStyleLbl="solidFgAcc1" presStyleIdx="2" presStyleCnt="7"/>
      <dgm:spPr/>
    </dgm:pt>
    <dgm:pt modelId="{856CBF30-6F87-436D-82A7-EDADE1AFE0A1}" type="pres">
      <dgm:prSet presAssocID="{22F24722-CCB4-479A-9A50-AF8001B7FFE9}" presName="text_4" presStyleLbl="node1" presStyleIdx="3" presStyleCnt="7">
        <dgm:presLayoutVars>
          <dgm:bulletEnabled val="1"/>
        </dgm:presLayoutVars>
      </dgm:prSet>
      <dgm:spPr/>
      <dgm:t>
        <a:bodyPr/>
        <a:lstStyle/>
        <a:p>
          <a:endParaRPr lang="en-US"/>
        </a:p>
      </dgm:t>
    </dgm:pt>
    <dgm:pt modelId="{198B81E3-3454-4E98-816F-1F8A3EC667B2}" type="pres">
      <dgm:prSet presAssocID="{22F24722-CCB4-479A-9A50-AF8001B7FFE9}" presName="accent_4" presStyleCnt="0"/>
      <dgm:spPr/>
    </dgm:pt>
    <dgm:pt modelId="{14EC9B9E-CEC9-44C3-92AC-27B7232FA505}" type="pres">
      <dgm:prSet presAssocID="{22F24722-CCB4-479A-9A50-AF8001B7FFE9}" presName="accentRepeatNode" presStyleLbl="solidFgAcc1" presStyleIdx="3" presStyleCnt="7"/>
      <dgm:spPr/>
    </dgm:pt>
    <dgm:pt modelId="{A0003A30-3FB5-4BCF-80B7-025AFEEAC098}" type="pres">
      <dgm:prSet presAssocID="{E73A6EE2-DA53-4A1F-ACD0-FA375136E3E0}" presName="text_5" presStyleLbl="node1" presStyleIdx="4" presStyleCnt="7">
        <dgm:presLayoutVars>
          <dgm:bulletEnabled val="1"/>
        </dgm:presLayoutVars>
      </dgm:prSet>
      <dgm:spPr/>
      <dgm:t>
        <a:bodyPr/>
        <a:lstStyle/>
        <a:p>
          <a:endParaRPr lang="en-US"/>
        </a:p>
      </dgm:t>
    </dgm:pt>
    <dgm:pt modelId="{7325FDCA-CFCB-4B29-B398-86F50AB355DE}" type="pres">
      <dgm:prSet presAssocID="{E73A6EE2-DA53-4A1F-ACD0-FA375136E3E0}" presName="accent_5" presStyleCnt="0"/>
      <dgm:spPr/>
    </dgm:pt>
    <dgm:pt modelId="{CFC28C3F-CC3D-45F1-8DE8-1264CC441C04}" type="pres">
      <dgm:prSet presAssocID="{E73A6EE2-DA53-4A1F-ACD0-FA375136E3E0}" presName="accentRepeatNode" presStyleLbl="solidFgAcc1" presStyleIdx="4" presStyleCnt="7"/>
      <dgm:spPr/>
    </dgm:pt>
    <dgm:pt modelId="{FD00D405-5056-449F-88A5-1396C52916D4}" type="pres">
      <dgm:prSet presAssocID="{2BEBCB23-92AB-4314-9898-8CED350CEC08}" presName="text_6" presStyleLbl="node1" presStyleIdx="5" presStyleCnt="7">
        <dgm:presLayoutVars>
          <dgm:bulletEnabled val="1"/>
        </dgm:presLayoutVars>
      </dgm:prSet>
      <dgm:spPr/>
      <dgm:t>
        <a:bodyPr/>
        <a:lstStyle/>
        <a:p>
          <a:endParaRPr lang="en-US"/>
        </a:p>
      </dgm:t>
    </dgm:pt>
    <dgm:pt modelId="{FEF64FFB-D5B9-451C-A52E-B7A7881B2599}" type="pres">
      <dgm:prSet presAssocID="{2BEBCB23-92AB-4314-9898-8CED350CEC08}" presName="accent_6" presStyleCnt="0"/>
      <dgm:spPr/>
    </dgm:pt>
    <dgm:pt modelId="{67716AC2-97AD-42EF-9326-F995555D43A3}" type="pres">
      <dgm:prSet presAssocID="{2BEBCB23-92AB-4314-9898-8CED350CEC08}" presName="accentRepeatNode" presStyleLbl="solidFgAcc1" presStyleIdx="5" presStyleCnt="7"/>
      <dgm:spPr/>
    </dgm:pt>
    <dgm:pt modelId="{C3AD7646-C285-4D4E-891A-7535B434FD0D}" type="pres">
      <dgm:prSet presAssocID="{D2D8A5BF-4878-4DA8-884B-9C0282FB3D12}" presName="text_7" presStyleLbl="node1" presStyleIdx="6" presStyleCnt="7">
        <dgm:presLayoutVars>
          <dgm:bulletEnabled val="1"/>
        </dgm:presLayoutVars>
      </dgm:prSet>
      <dgm:spPr/>
      <dgm:t>
        <a:bodyPr/>
        <a:lstStyle/>
        <a:p>
          <a:endParaRPr lang="en-US"/>
        </a:p>
      </dgm:t>
    </dgm:pt>
    <dgm:pt modelId="{EA26C624-1574-4606-956F-6A542C3F9063}" type="pres">
      <dgm:prSet presAssocID="{D2D8A5BF-4878-4DA8-884B-9C0282FB3D12}" presName="accent_7" presStyleCnt="0"/>
      <dgm:spPr/>
    </dgm:pt>
    <dgm:pt modelId="{24DAB8B4-6F5A-44A1-8CFC-1010E959124C}" type="pres">
      <dgm:prSet presAssocID="{D2D8A5BF-4878-4DA8-884B-9C0282FB3D12}" presName="accentRepeatNode" presStyleLbl="solidFgAcc1" presStyleIdx="6" presStyleCnt="7"/>
      <dgm:spPr/>
    </dgm:pt>
  </dgm:ptLst>
  <dgm:cxnLst>
    <dgm:cxn modelId="{0CF22742-AF9F-4FEE-B168-D04BC628AC83}" srcId="{D3B8FC5B-C150-40E7-BBBA-1756598649C6}" destId="{E73A6EE2-DA53-4A1F-ACD0-FA375136E3E0}" srcOrd="4" destOrd="0" parTransId="{EFBD62F4-2C82-41DE-9CDB-EB4394423EA1}" sibTransId="{5FF7619B-AC1D-4ED7-B316-C97FACF62A33}"/>
    <dgm:cxn modelId="{AA1DCAC3-D3BA-427D-9E58-8D1DB2D09E18}" srcId="{D3B8FC5B-C150-40E7-BBBA-1756598649C6}" destId="{D2D8A5BF-4878-4DA8-884B-9C0282FB3D12}" srcOrd="6" destOrd="0" parTransId="{8A1BD53A-1080-4CD4-A1AE-94B5C259DB37}" sibTransId="{FBFD50B7-0C12-4DC4-9B87-0DAE07F1BAAB}"/>
    <dgm:cxn modelId="{B85AE550-2FB0-4A83-B26E-8109E40E93A0}" type="presOf" srcId="{6496B49B-F810-4693-B295-DC315E926F59}" destId="{AFFD5804-B0E2-4C8C-B722-DC5C45782D30}" srcOrd="0" destOrd="0" presId="urn:microsoft.com/office/officeart/2008/layout/VerticalCurvedList"/>
    <dgm:cxn modelId="{BB3AA352-76B9-43FA-B52A-87C1387CF097}" type="presOf" srcId="{D3B8FC5B-C150-40E7-BBBA-1756598649C6}" destId="{7EFCD2B8-169A-4242-8CEF-6934AB04B9F6}" srcOrd="0" destOrd="0" presId="urn:microsoft.com/office/officeart/2008/layout/VerticalCurvedList"/>
    <dgm:cxn modelId="{BE89C99F-300D-4BB6-8915-D2FDAECB2E07}" type="presOf" srcId="{D2D8A5BF-4878-4DA8-884B-9C0282FB3D12}" destId="{C3AD7646-C285-4D4E-891A-7535B434FD0D}" srcOrd="0" destOrd="0" presId="urn:microsoft.com/office/officeart/2008/layout/VerticalCurvedList"/>
    <dgm:cxn modelId="{10283915-4C19-4A16-9A7F-F06755F2BED6}" srcId="{D3B8FC5B-C150-40E7-BBBA-1756598649C6}" destId="{7D8F6491-F755-4BB0-86F4-E60733622B72}" srcOrd="1" destOrd="0" parTransId="{7DD8DA4A-9013-4145-B967-264B8EB2F6F4}" sibTransId="{90946713-6883-4BDC-962A-857267B626F2}"/>
    <dgm:cxn modelId="{FC14E417-30E5-4951-BB88-ECAD89A33883}" srcId="{D3B8FC5B-C150-40E7-BBBA-1756598649C6}" destId="{6496B49B-F810-4693-B295-DC315E926F59}" srcOrd="2" destOrd="0" parTransId="{3346C260-B39A-4FE9-BC85-14256C9AF15A}" sibTransId="{61AB4254-726A-4949-86D1-AFB4C9C879CE}"/>
    <dgm:cxn modelId="{A41FEC81-CA90-45CD-ADEC-A78FA925424B}" type="presOf" srcId="{E71A84B4-CBB7-48AC-95F5-34532C14889C}" destId="{06AE880E-2556-4AB6-8C03-66AC5BD3F99C}" srcOrd="0" destOrd="0" presId="urn:microsoft.com/office/officeart/2008/layout/VerticalCurvedList"/>
    <dgm:cxn modelId="{4C4F889F-D465-4CC9-9931-8978B4F2FEBA}" type="presOf" srcId="{E73A6EE2-DA53-4A1F-ACD0-FA375136E3E0}" destId="{A0003A30-3FB5-4BCF-80B7-025AFEEAC098}" srcOrd="0" destOrd="0" presId="urn:microsoft.com/office/officeart/2008/layout/VerticalCurvedList"/>
    <dgm:cxn modelId="{0EA0F8AD-E6DD-4406-8493-1267D413DC55}" type="presOf" srcId="{2BEBCB23-92AB-4314-9898-8CED350CEC08}" destId="{FD00D405-5056-449F-88A5-1396C52916D4}" srcOrd="0" destOrd="0" presId="urn:microsoft.com/office/officeart/2008/layout/VerticalCurvedList"/>
    <dgm:cxn modelId="{90129FC6-B329-44C9-97C5-94DD6A804F61}" type="presOf" srcId="{194EEE81-BE3B-416A-B8B7-2D73C14A6778}" destId="{1F6547D4-9B01-4029-9909-12E65625D7D8}" srcOrd="0" destOrd="0" presId="urn:microsoft.com/office/officeart/2008/layout/VerticalCurvedList"/>
    <dgm:cxn modelId="{D10D5C7C-ACB8-456D-9F5B-7B35CD78B2D7}" type="presOf" srcId="{22F24722-CCB4-479A-9A50-AF8001B7FFE9}" destId="{856CBF30-6F87-436D-82A7-EDADE1AFE0A1}" srcOrd="0" destOrd="0" presId="urn:microsoft.com/office/officeart/2008/layout/VerticalCurvedList"/>
    <dgm:cxn modelId="{0144D116-F129-429A-A466-95FE0094F631}" srcId="{D3B8FC5B-C150-40E7-BBBA-1756598649C6}" destId="{2BEBCB23-92AB-4314-9898-8CED350CEC08}" srcOrd="5" destOrd="0" parTransId="{1A530863-E2B8-4CEC-ACFA-D69A1C1F4A5D}" sibTransId="{192FC4E3-41F7-4E8A-98D5-1C580434E093}"/>
    <dgm:cxn modelId="{3A681F02-F016-4404-99FC-C092BF0C17E0}" srcId="{D3B8FC5B-C150-40E7-BBBA-1756598649C6}" destId="{22F24722-CCB4-479A-9A50-AF8001B7FFE9}" srcOrd="3" destOrd="0" parTransId="{BDC5021F-2EB1-43C8-914B-8546373CD57F}" sibTransId="{19E59619-4248-40ED-8C27-F20D36D12704}"/>
    <dgm:cxn modelId="{AB67BC2E-85A3-4427-8E83-C98A60589ED0}" srcId="{D3B8FC5B-C150-40E7-BBBA-1756598649C6}" destId="{194EEE81-BE3B-416A-B8B7-2D73C14A6778}" srcOrd="0" destOrd="0" parTransId="{0601FEE2-8C7C-4EA0-8159-62ECA0B0CD04}" sibTransId="{E71A84B4-CBB7-48AC-95F5-34532C14889C}"/>
    <dgm:cxn modelId="{BC37162D-7B19-403B-A19E-D69719F9A0C1}" type="presOf" srcId="{7D8F6491-F755-4BB0-86F4-E60733622B72}" destId="{5F6039E3-F425-450F-AACD-F7560A6C20CC}" srcOrd="0" destOrd="0" presId="urn:microsoft.com/office/officeart/2008/layout/VerticalCurvedList"/>
    <dgm:cxn modelId="{CAE2543A-1B5A-4358-A235-5932F2BE0153}" type="presParOf" srcId="{7EFCD2B8-169A-4242-8CEF-6934AB04B9F6}" destId="{43FFBDF9-EB76-4722-B681-C1B01243F387}" srcOrd="0" destOrd="0" presId="urn:microsoft.com/office/officeart/2008/layout/VerticalCurvedList"/>
    <dgm:cxn modelId="{585990AE-92AD-4A22-BF63-6F93D0FB3EAF}" type="presParOf" srcId="{43FFBDF9-EB76-4722-B681-C1B01243F387}" destId="{B67CD31C-7B38-4C5D-A24F-638580CD5C23}" srcOrd="0" destOrd="0" presId="urn:microsoft.com/office/officeart/2008/layout/VerticalCurvedList"/>
    <dgm:cxn modelId="{B1B7ACDE-66D5-4D60-ACAC-370E9C688BC9}" type="presParOf" srcId="{B67CD31C-7B38-4C5D-A24F-638580CD5C23}" destId="{FA245062-9FF5-45C3-BAD9-39664F76793C}" srcOrd="0" destOrd="0" presId="urn:microsoft.com/office/officeart/2008/layout/VerticalCurvedList"/>
    <dgm:cxn modelId="{E7AE1A87-7AB6-41BB-B018-31FE5EE8F4CD}" type="presParOf" srcId="{B67CD31C-7B38-4C5D-A24F-638580CD5C23}" destId="{06AE880E-2556-4AB6-8C03-66AC5BD3F99C}" srcOrd="1" destOrd="0" presId="urn:microsoft.com/office/officeart/2008/layout/VerticalCurvedList"/>
    <dgm:cxn modelId="{238E6CAF-8714-44CA-B3F6-C4D8B5AA44BD}" type="presParOf" srcId="{B67CD31C-7B38-4C5D-A24F-638580CD5C23}" destId="{57DC6648-0E96-42B9-9F77-C3A175E12C74}" srcOrd="2" destOrd="0" presId="urn:microsoft.com/office/officeart/2008/layout/VerticalCurvedList"/>
    <dgm:cxn modelId="{F1EC8D22-27CD-473D-BAE9-41D7BFB81DF3}" type="presParOf" srcId="{B67CD31C-7B38-4C5D-A24F-638580CD5C23}" destId="{B3CCB782-9587-4F79-9847-9E851DC55FB7}" srcOrd="3" destOrd="0" presId="urn:microsoft.com/office/officeart/2008/layout/VerticalCurvedList"/>
    <dgm:cxn modelId="{004742CB-C42B-4948-977A-20C8E809193F}" type="presParOf" srcId="{43FFBDF9-EB76-4722-B681-C1B01243F387}" destId="{1F6547D4-9B01-4029-9909-12E65625D7D8}" srcOrd="1" destOrd="0" presId="urn:microsoft.com/office/officeart/2008/layout/VerticalCurvedList"/>
    <dgm:cxn modelId="{ADF1FCE3-053C-431F-9F09-A4B97D6A3CCC}" type="presParOf" srcId="{43FFBDF9-EB76-4722-B681-C1B01243F387}" destId="{AC436D57-AC1D-4E66-8711-69950D3A4E83}" srcOrd="2" destOrd="0" presId="urn:microsoft.com/office/officeart/2008/layout/VerticalCurvedList"/>
    <dgm:cxn modelId="{4AD8CEE8-EEF3-4A24-A337-687F281C435C}" type="presParOf" srcId="{AC436D57-AC1D-4E66-8711-69950D3A4E83}" destId="{BE8B6C16-C92A-477A-8E71-9BAE2797578C}" srcOrd="0" destOrd="0" presId="urn:microsoft.com/office/officeart/2008/layout/VerticalCurvedList"/>
    <dgm:cxn modelId="{C1D89F18-5D4F-4FF9-9602-5FCE8378BBCC}" type="presParOf" srcId="{43FFBDF9-EB76-4722-B681-C1B01243F387}" destId="{5F6039E3-F425-450F-AACD-F7560A6C20CC}" srcOrd="3" destOrd="0" presId="urn:microsoft.com/office/officeart/2008/layout/VerticalCurvedList"/>
    <dgm:cxn modelId="{0F11244D-923F-4B77-A12F-861706A2B2D2}" type="presParOf" srcId="{43FFBDF9-EB76-4722-B681-C1B01243F387}" destId="{63097F65-EA4F-4FC7-BEE9-4831844D0B99}" srcOrd="4" destOrd="0" presId="urn:microsoft.com/office/officeart/2008/layout/VerticalCurvedList"/>
    <dgm:cxn modelId="{A42AC0F0-297B-426C-AA23-7C6BA8ED2E4C}" type="presParOf" srcId="{63097F65-EA4F-4FC7-BEE9-4831844D0B99}" destId="{92BCAD2B-7A22-4A8E-A50E-08487DC97BD0}" srcOrd="0" destOrd="0" presId="urn:microsoft.com/office/officeart/2008/layout/VerticalCurvedList"/>
    <dgm:cxn modelId="{42E74238-542A-4AEF-956E-D82137EA0B40}" type="presParOf" srcId="{43FFBDF9-EB76-4722-B681-C1B01243F387}" destId="{AFFD5804-B0E2-4C8C-B722-DC5C45782D30}" srcOrd="5" destOrd="0" presId="urn:microsoft.com/office/officeart/2008/layout/VerticalCurvedList"/>
    <dgm:cxn modelId="{3A6F3E14-8EB2-47FB-8840-C57AC1EF3FDB}" type="presParOf" srcId="{43FFBDF9-EB76-4722-B681-C1B01243F387}" destId="{1387320B-9745-4D73-93A4-EBF6B857AE3D}" srcOrd="6" destOrd="0" presId="urn:microsoft.com/office/officeart/2008/layout/VerticalCurvedList"/>
    <dgm:cxn modelId="{2D409595-160C-4978-8C91-348280563369}" type="presParOf" srcId="{1387320B-9745-4D73-93A4-EBF6B857AE3D}" destId="{77576BD3-70EE-4869-B73A-24BA3A3BA357}" srcOrd="0" destOrd="0" presId="urn:microsoft.com/office/officeart/2008/layout/VerticalCurvedList"/>
    <dgm:cxn modelId="{EE452D70-7685-43DC-A6DD-5A1D2C969094}" type="presParOf" srcId="{43FFBDF9-EB76-4722-B681-C1B01243F387}" destId="{856CBF30-6F87-436D-82A7-EDADE1AFE0A1}" srcOrd="7" destOrd="0" presId="urn:microsoft.com/office/officeart/2008/layout/VerticalCurvedList"/>
    <dgm:cxn modelId="{137CBDAC-2A11-4233-AECE-FF027D94EB0F}" type="presParOf" srcId="{43FFBDF9-EB76-4722-B681-C1B01243F387}" destId="{198B81E3-3454-4E98-816F-1F8A3EC667B2}" srcOrd="8" destOrd="0" presId="urn:microsoft.com/office/officeart/2008/layout/VerticalCurvedList"/>
    <dgm:cxn modelId="{A4C69C35-B06D-4636-B8D6-E2A1EB34CACD}" type="presParOf" srcId="{198B81E3-3454-4E98-816F-1F8A3EC667B2}" destId="{14EC9B9E-CEC9-44C3-92AC-27B7232FA505}" srcOrd="0" destOrd="0" presId="urn:microsoft.com/office/officeart/2008/layout/VerticalCurvedList"/>
    <dgm:cxn modelId="{1287D102-F6EC-48EA-9061-0985630A32F4}" type="presParOf" srcId="{43FFBDF9-EB76-4722-B681-C1B01243F387}" destId="{A0003A30-3FB5-4BCF-80B7-025AFEEAC098}" srcOrd="9" destOrd="0" presId="urn:microsoft.com/office/officeart/2008/layout/VerticalCurvedList"/>
    <dgm:cxn modelId="{072BB15E-3920-47AD-8667-CFC551A48139}" type="presParOf" srcId="{43FFBDF9-EB76-4722-B681-C1B01243F387}" destId="{7325FDCA-CFCB-4B29-B398-86F50AB355DE}" srcOrd="10" destOrd="0" presId="urn:microsoft.com/office/officeart/2008/layout/VerticalCurvedList"/>
    <dgm:cxn modelId="{DAB0CD1A-9D5E-4B97-BCDD-79BEDC87349C}" type="presParOf" srcId="{7325FDCA-CFCB-4B29-B398-86F50AB355DE}" destId="{CFC28C3F-CC3D-45F1-8DE8-1264CC441C04}" srcOrd="0" destOrd="0" presId="urn:microsoft.com/office/officeart/2008/layout/VerticalCurvedList"/>
    <dgm:cxn modelId="{57D255BE-DB3C-4726-82F8-E1B57FBBB3F8}" type="presParOf" srcId="{43FFBDF9-EB76-4722-B681-C1B01243F387}" destId="{FD00D405-5056-449F-88A5-1396C52916D4}" srcOrd="11" destOrd="0" presId="urn:microsoft.com/office/officeart/2008/layout/VerticalCurvedList"/>
    <dgm:cxn modelId="{93D3ECE9-50B3-46AF-9BF0-F680707F396E}" type="presParOf" srcId="{43FFBDF9-EB76-4722-B681-C1B01243F387}" destId="{FEF64FFB-D5B9-451C-A52E-B7A7881B2599}" srcOrd="12" destOrd="0" presId="urn:microsoft.com/office/officeart/2008/layout/VerticalCurvedList"/>
    <dgm:cxn modelId="{A0C5E9FB-AA7E-4604-A57E-1EE59AFBB498}" type="presParOf" srcId="{FEF64FFB-D5B9-451C-A52E-B7A7881B2599}" destId="{67716AC2-97AD-42EF-9326-F995555D43A3}" srcOrd="0" destOrd="0" presId="urn:microsoft.com/office/officeart/2008/layout/VerticalCurvedList"/>
    <dgm:cxn modelId="{F8CB6E11-6F84-4998-91E8-D3FD17337F31}" type="presParOf" srcId="{43FFBDF9-EB76-4722-B681-C1B01243F387}" destId="{C3AD7646-C285-4D4E-891A-7535B434FD0D}" srcOrd="13" destOrd="0" presId="urn:microsoft.com/office/officeart/2008/layout/VerticalCurvedList"/>
    <dgm:cxn modelId="{706BE70B-11F2-45C2-A1FB-2476711B1DCE}" type="presParOf" srcId="{43FFBDF9-EB76-4722-B681-C1B01243F387}" destId="{EA26C624-1574-4606-956F-6A542C3F9063}" srcOrd="14" destOrd="0" presId="urn:microsoft.com/office/officeart/2008/layout/VerticalCurvedList"/>
    <dgm:cxn modelId="{59C9D6DE-DB0E-42E7-82C1-8C44D3BC3C9A}" type="presParOf" srcId="{EA26C624-1574-4606-956F-6A542C3F9063}" destId="{24DAB8B4-6F5A-44A1-8CFC-1010E959124C}" srcOrd="0" destOrd="0" presId="urn:microsoft.com/office/officeart/2008/layout/VerticalCurvedList"/>
  </dgm:cxnLst>
  <dgm:bg/>
  <dgm:whole/>
</dgm:dataModel>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E824A8BB-4AC2-4FE5-998A-78CE253F13E5}" type="datetimeFigureOut">
              <a:rPr lang="en-US" smtClean="0"/>
              <a:pPr/>
              <a:t>8/27/2026</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E9596DB8-7D82-4BB6-9719-7820ABF898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596DB8-7D82-4BB6-9719-7820ABF8983A}" type="slidenum">
              <a:rPr lang="en-US" smtClean="0"/>
              <a:pPr/>
              <a:t>56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r>
              <a:rPr lang="en-US" dirty="0" smtClean="0"/>
              <a:t>++</a:t>
            </a:r>
            <a:endParaRPr lang="en-US" dirty="0"/>
          </a:p>
        </p:txBody>
      </p:sp>
      <p:sp>
        <p:nvSpPr>
          <p:cNvPr id="4" name="Slide Number Placeholder 3"/>
          <p:cNvSpPr>
            <a:spLocks noGrp="1"/>
          </p:cNvSpPr>
          <p:nvPr>
            <p:ph type="sldNum" sz="quarter" idx="10"/>
          </p:nvPr>
        </p:nvSpPr>
        <p:spPr/>
        <p:txBody>
          <a:bodyPr/>
          <a:lstStyle/>
          <a:p>
            <a:fld id="{E9596DB8-7D82-4BB6-9719-7820ABF8983A}" type="slidenum">
              <a:rPr lang="en-US" smtClean="0"/>
              <a:pPr/>
              <a:t>70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596DB8-7D82-4BB6-9719-7820ABF8983A}" type="slidenum">
              <a:rPr lang="en-US" smtClean="0"/>
              <a:pPr/>
              <a:t>75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596DB8-7D82-4BB6-9719-7820ABF8983A}" type="slidenum">
              <a:rPr lang="en-US" smtClean="0"/>
              <a:pPr/>
              <a:t>107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314452"/>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3714751"/>
            <a:ext cx="9147765" cy="1434066"/>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D73D5CA-4B2B-4245-A196-046F23F0378F}" type="datetimeFigureOut">
              <a:rPr lang="en-US" smtClean="0"/>
              <a:pPr/>
              <a:t>8/27/2026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A92733AF-2770-481A-8BA1-9D8D78F3B551}"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D73D5CA-4B2B-4245-A196-046F23F0378F}" type="datetimeFigureOut">
              <a:rPr lang="en-US" smtClean="0"/>
              <a:pPr/>
              <a:t>8/27/2026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A92733AF-2770-481A-8BA1-9D8D78F3B551}"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794784"/>
            <a:ext cx="7772400" cy="13716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198784"/>
            <a:ext cx="4572000" cy="1091166"/>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D73D5CA-4B2B-4245-A196-046F23F0378F}" type="datetimeFigureOut">
              <a:rPr lang="en-US" smtClean="0"/>
              <a:pPr/>
              <a:t>8/27/2026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A92733AF-2770-481A-8BA1-9D8D78F3B551}" type="slidenum">
              <a:rPr lang="en-US" smtClean="0"/>
              <a:pPr/>
              <a:t>‹#›</a:t>
            </a:fld>
            <a:endParaRPr lang="en-US"/>
          </a:p>
        </p:txBody>
      </p:sp>
      <p:sp>
        <p:nvSpPr>
          <p:cNvPr id="7" name="Chevron 6"/>
          <p:cNvSpPr/>
          <p:nvPr/>
        </p:nvSpPr>
        <p:spPr>
          <a:xfrm>
            <a:off x="3636680"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D73D5CA-4B2B-4245-A196-046F23F0378F}" type="datetimeFigureOut">
              <a:rPr lang="en-US" smtClean="0"/>
              <a:pPr/>
              <a:t>8/27/2026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A92733AF-2770-481A-8BA1-9D8D78F3B551}"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8229600" cy="85725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9"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8"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D73D5CA-4B2B-4245-A196-046F23F0378F}" type="datetimeFigureOut">
              <a:rPr lang="en-US" smtClean="0"/>
              <a:pPr/>
              <a:t>8/27/2026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A92733AF-2770-481A-8BA1-9D8D78F3B5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D73D5CA-4B2B-4245-A196-046F23F0378F}" type="datetimeFigureOut">
              <a:rPr lang="en-US" smtClean="0"/>
              <a:pPr/>
              <a:t>8/27/2026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A92733AF-2770-481A-8BA1-9D8D78F3B551}"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D73D5CA-4B2B-4245-A196-046F23F0378F}" type="datetimeFigureOut">
              <a:rPr lang="en-US" smtClean="0"/>
              <a:pPr/>
              <a:t>8/27/2026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A92733AF-2770-481A-8BA1-9D8D78F3B551}"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3657600"/>
            <a:ext cx="7481776" cy="3429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4016327"/>
            <a:ext cx="3974592" cy="6858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05740"/>
            <a:ext cx="7479792" cy="3429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4805958"/>
            <a:ext cx="1920240" cy="274320"/>
          </a:xfrm>
        </p:spPr>
        <p:txBody>
          <a:bodyPr/>
          <a:lstStyle>
            <a:extLst/>
          </a:lstStyle>
          <a:p>
            <a:fld id="{2D73D5CA-4B2B-4245-A196-046F23F0378F}" type="datetimeFigureOut">
              <a:rPr lang="en-US" smtClean="0"/>
              <a:pPr/>
              <a:t>8/27/2026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A92733AF-2770-481A-8BA1-9D8D78F3B5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4082552"/>
            <a:ext cx="7162800" cy="486174"/>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42476"/>
            <a:ext cx="8686800" cy="329184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D73D5CA-4B2B-4245-A196-046F23F0378F}" type="datetimeFigureOut">
              <a:rPr lang="en-US" smtClean="0"/>
              <a:pPr/>
              <a:t>8/27/2026</a:t>
            </a:fld>
            <a:endParaRPr lang="en-US"/>
          </a:p>
        </p:txBody>
      </p:sp>
      <p:sp>
        <p:nvSpPr>
          <p:cNvPr id="6" name="Footer Placeholder 5"/>
          <p:cNvSpPr>
            <a:spLocks noGrp="1"/>
          </p:cNvSpPr>
          <p:nvPr>
            <p:ph type="ftr" sz="quarter" idx="11"/>
          </p:nvPr>
        </p:nvSpPr>
        <p:spPr>
          <a:xfrm>
            <a:off x="4380075" y="4805958"/>
            <a:ext cx="2350681" cy="273844"/>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A92733AF-2770-481A-8BA1-9D8D78F3B551}" type="slidenum">
              <a:rPr lang="en-US" smtClean="0"/>
              <a:pPr/>
              <a:t>‹#›</a:t>
            </a:fld>
            <a:endParaRPr lang="en-US"/>
          </a:p>
        </p:txBody>
      </p:sp>
      <p:sp>
        <p:nvSpPr>
          <p:cNvPr id="2" name="Title 1"/>
          <p:cNvSpPr>
            <a:spLocks noGrp="1"/>
          </p:cNvSpPr>
          <p:nvPr>
            <p:ph type="title"/>
          </p:nvPr>
        </p:nvSpPr>
        <p:spPr>
          <a:xfrm>
            <a:off x="228600" y="3648842"/>
            <a:ext cx="8075432" cy="422004"/>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9" y="3751495"/>
            <a:ext cx="3802003" cy="1082333"/>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4338767"/>
            <a:ext cx="3802003" cy="6286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4343441"/>
            <a:ext cx="3402314" cy="810651"/>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10998"/>
            <a:ext cx="8229600" cy="3289553"/>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D73D5CA-4B2B-4245-A196-046F23F0378F}" type="datetimeFigureOut">
              <a:rPr lang="en-US" smtClean="0"/>
              <a:pPr/>
              <a:t>8/27/2026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A92733AF-2770-481A-8BA1-9D8D78F3B551}"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05980"/>
            <a:ext cx="1777470" cy="419457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2"/>
            <a:ext cx="6324600" cy="419457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D73D5CA-4B2B-4245-A196-046F23F0378F}" type="datetimeFigureOut">
              <a:rPr lang="en-US" smtClean="0"/>
              <a:pPr/>
              <a:t>8/27/2026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A92733AF-2770-481A-8BA1-9D8D78F3B551}"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9" y="3751495"/>
            <a:ext cx="3802003" cy="1082333"/>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4338767"/>
            <a:ext cx="3802003" cy="6286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4343441"/>
            <a:ext cx="3402314" cy="810651"/>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110997"/>
            <a:ext cx="8229600" cy="3394472"/>
          </a:xfrm>
          <a:prstGeom prst="rect">
            <a:avLst/>
          </a:prstGeom>
        </p:spPr>
        <p:txBody>
          <a:bodyPr vert="horz">
            <a:normAutofit/>
          </a:bodyPr>
          <a:lstStyle>
            <a:extLst/>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2D73D5CA-4B2B-4245-A196-046F23F0378F}" type="datetimeFigureOut">
              <a:rPr lang="en-US" smtClean="0"/>
              <a:pPr/>
              <a:t>8/27/2026</a:t>
            </a:fld>
            <a:endParaRPr lang="en-US"/>
          </a:p>
        </p:txBody>
      </p:sp>
      <p:sp>
        <p:nvSpPr>
          <p:cNvPr id="22" name="Footer Placeholder 21"/>
          <p:cNvSpPr>
            <a:spLocks noGrp="1"/>
          </p:cNvSpPr>
          <p:nvPr>
            <p:ph type="ftr" sz="quarter" idx="3"/>
          </p:nvPr>
        </p:nvSpPr>
        <p:spPr>
          <a:xfrm>
            <a:off x="4380075"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A92733AF-2770-481A-8BA1-9D8D78F3B551}" type="slidenum">
              <a:rPr lang="en-US" smtClean="0"/>
              <a:pPr/>
              <a:t>‹#›</a:t>
            </a:fld>
            <a:endParaRPr lang="en-US"/>
          </a:p>
        </p:txBody>
      </p:sp>
      <p:sp>
        <p:nvSpPr>
          <p:cNvPr id="11" name="TextBox 10"/>
          <p:cNvSpPr txBox="1"/>
          <p:nvPr userDrawn="1"/>
        </p:nvSpPr>
        <p:spPr>
          <a:xfrm rot="19888120">
            <a:off x="2123013" y="1565449"/>
            <a:ext cx="5142800" cy="830997"/>
          </a:xfrm>
          <a:prstGeom prst="rect">
            <a:avLst/>
          </a:prstGeom>
          <a:noFill/>
        </p:spPr>
        <p:txBody>
          <a:bodyPr wrap="square" rtlCol="0">
            <a:spAutoFit/>
          </a:bodyPr>
          <a:lstStyle/>
          <a:p>
            <a:r>
              <a:rPr lang="en-US" sz="4800" dirty="0" smtClean="0">
                <a:solidFill>
                  <a:schemeClr val="bg1">
                    <a:lumMod val="75000"/>
                  </a:schemeClr>
                </a:solidFill>
              </a:rPr>
              <a:t>NARESH BABU.K</a:t>
            </a:r>
            <a:endParaRPr lang="en-US" sz="4800" dirty="0">
              <a:solidFill>
                <a:schemeClr val="bg1">
                  <a:lumMod val="75000"/>
                </a:schemeClr>
              </a:solidFill>
            </a:endParaRPr>
          </a:p>
        </p:txBody>
      </p:sp>
      <p:sp>
        <p:nvSpPr>
          <p:cNvPr id="16" name="TextBox 15"/>
          <p:cNvSpPr txBox="1"/>
          <p:nvPr userDrawn="1"/>
        </p:nvSpPr>
        <p:spPr>
          <a:xfrm rot="20205835">
            <a:off x="6871770" y="4562284"/>
            <a:ext cx="2286016" cy="400110"/>
          </a:xfrm>
          <a:prstGeom prst="rect">
            <a:avLst/>
          </a:prstGeom>
          <a:noFill/>
        </p:spPr>
        <p:txBody>
          <a:bodyPr wrap="square" rtlCol="0">
            <a:spAutoFit/>
          </a:bodyPr>
          <a:lstStyle/>
          <a:p>
            <a:r>
              <a:rPr lang="en-US" sz="2000" dirty="0" smtClean="0">
                <a:solidFill>
                  <a:schemeClr val="accent1">
                    <a:lumMod val="60000"/>
                    <a:lumOff val="40000"/>
                  </a:schemeClr>
                </a:solidFill>
              </a:rPr>
              <a:t>NARESH BABU.K</a:t>
            </a:r>
            <a:endParaRPr lang="en-US" sz="2000" dirty="0">
              <a:solidFill>
                <a:schemeClr val="accent1">
                  <a:lumMod val="60000"/>
                  <a:lumOff val="40000"/>
                </a:scheme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nptel.ac.in/courses/106/105/106105175/"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www.mentimeter.com/"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6.jpeg"/></Relationships>
</file>

<file path=ppt/slides/_rels/slide5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hyperlink" Target="https://www.edureka.co/blog/like-in-sql/" TargetMode="Externa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1406" y="355476"/>
            <a:ext cx="8929750" cy="4216539"/>
          </a:xfrm>
          <a:prstGeom prst="rect">
            <a:avLst/>
          </a:prstGeom>
          <a:noFill/>
        </p:spPr>
        <p:txBody>
          <a:bodyPr wrap="square" rtlCol="0">
            <a:spAutoFit/>
          </a:bodyPr>
          <a:lstStyle/>
          <a:p>
            <a:r>
              <a:rPr lang="en-US" sz="4000" dirty="0">
                <a:latin typeface="Cambria" pitchFamily="18" charset="0"/>
                <a:ea typeface="Cambria" pitchFamily="18" charset="0"/>
              </a:rPr>
              <a:t>DATA BASE MANAGEMENT SYSTEMS</a:t>
            </a:r>
          </a:p>
          <a:p>
            <a:pPr algn="ctr"/>
            <a:r>
              <a:rPr lang="en-US" sz="5400" dirty="0" smtClean="0">
                <a:latin typeface="Cambria" pitchFamily="18" charset="0"/>
                <a:ea typeface="Cambria" pitchFamily="18" charset="0"/>
              </a:rPr>
              <a:t>III </a:t>
            </a:r>
            <a:r>
              <a:rPr lang="en-US" sz="5400" dirty="0">
                <a:latin typeface="Cambria" pitchFamily="18" charset="0"/>
                <a:ea typeface="Cambria" pitchFamily="18" charset="0"/>
              </a:rPr>
              <a:t>SEM </a:t>
            </a:r>
            <a:r>
              <a:rPr lang="en-US" sz="5400" dirty="0" smtClean="0">
                <a:latin typeface="Cambria" pitchFamily="18" charset="0"/>
                <a:ea typeface="Cambria" pitchFamily="18" charset="0"/>
              </a:rPr>
              <a:t>AI&amp;DS</a:t>
            </a:r>
            <a:endParaRPr lang="en-US" sz="5400" dirty="0">
              <a:latin typeface="Cambria" pitchFamily="18" charset="0"/>
              <a:ea typeface="Cambria" pitchFamily="18" charset="0"/>
            </a:endParaRPr>
          </a:p>
          <a:p>
            <a:pPr algn="ctr"/>
            <a:endParaRPr lang="en-US" sz="5400" dirty="0">
              <a:latin typeface="Cambria" pitchFamily="18" charset="0"/>
              <a:ea typeface="Cambria" pitchFamily="18" charset="0"/>
            </a:endParaRPr>
          </a:p>
          <a:p>
            <a:pPr algn="r"/>
            <a:r>
              <a:rPr lang="en-US" sz="4000" dirty="0">
                <a:latin typeface="Cambria" pitchFamily="18" charset="0"/>
                <a:ea typeface="Cambria" pitchFamily="18" charset="0"/>
              </a:rPr>
              <a:t>BY:NARESH BABU.K</a:t>
            </a:r>
          </a:p>
          <a:p>
            <a:pPr algn="r"/>
            <a:r>
              <a:rPr lang="en-US" sz="4000" dirty="0">
                <a:latin typeface="Cambria" pitchFamily="18" charset="0"/>
                <a:ea typeface="Cambria" pitchFamily="18" charset="0"/>
              </a:rPr>
              <a:t>Associate Professor </a:t>
            </a:r>
          </a:p>
          <a:p>
            <a:pPr algn="r"/>
            <a:r>
              <a:rPr lang="en-US" sz="4000" dirty="0">
                <a:latin typeface="Cambria" pitchFamily="18" charset="0"/>
                <a:ea typeface="Cambria" pitchFamily="18" charset="0"/>
              </a:rPr>
              <a:t>AI&amp;DS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44663"/>
            <a:ext cx="9001156" cy="3485570"/>
          </a:xfrm>
          <a:prstGeom prst="rect">
            <a:avLst/>
          </a:prstGeom>
        </p:spPr>
        <p:txBody>
          <a:bodyPr wrap="square">
            <a:spAutoFit/>
          </a:bodyPr>
          <a:lstStyle/>
          <a:p>
            <a:r>
              <a:rPr lang="en-US" b="1" dirty="0" smtClean="0">
                <a:solidFill>
                  <a:srgbClr val="FF0000"/>
                </a:solidFill>
                <a:latin typeface="Cambria" pitchFamily="18" charset="0"/>
                <a:ea typeface="Cambria" pitchFamily="18" charset="0"/>
              </a:rPr>
              <a:t>Course Objectives:</a:t>
            </a:r>
          </a:p>
          <a:p>
            <a:pPr>
              <a:buFont typeface="Wingdings" pitchFamily="2" charset="2"/>
              <a:buChar char="Ø"/>
            </a:pPr>
            <a:r>
              <a:rPr lang="en-US" sz="2000" b="1" dirty="0" smtClean="0">
                <a:latin typeface="Cambria" pitchFamily="18" charset="0"/>
                <a:ea typeface="Cambria" pitchFamily="18" charset="0"/>
              </a:rPr>
              <a:t> </a:t>
            </a:r>
            <a:r>
              <a:rPr lang="en-US" sz="2000" dirty="0" smtClean="0">
                <a:latin typeface="Cambria" pitchFamily="18" charset="0"/>
                <a:ea typeface="Cambria" pitchFamily="18" charset="0"/>
              </a:rPr>
              <a:t>Introduce database management systems and to give a good formal foundation  </a:t>
            </a:r>
          </a:p>
          <a:p>
            <a:r>
              <a:rPr lang="en-US" sz="2000" dirty="0" smtClean="0">
                <a:latin typeface="Cambria" pitchFamily="18" charset="0"/>
                <a:ea typeface="Cambria" pitchFamily="18" charset="0"/>
              </a:rPr>
              <a:t>    on the relational model of data and usage of Relational Algebra</a:t>
            </a:r>
          </a:p>
          <a:p>
            <a:endParaRPr lang="en-US" sz="1100" dirty="0" smtClean="0">
              <a:latin typeface="Cambria" pitchFamily="18" charset="0"/>
              <a:ea typeface="Cambria" pitchFamily="18" charset="0"/>
            </a:endParaRPr>
          </a:p>
          <a:p>
            <a:pPr>
              <a:buFont typeface="Wingdings" pitchFamily="2" charset="2"/>
              <a:buChar char="Ø"/>
            </a:pPr>
            <a:r>
              <a:rPr lang="en-US" sz="2000" dirty="0" smtClean="0">
                <a:latin typeface="Cambria" pitchFamily="18" charset="0"/>
                <a:ea typeface="Cambria" pitchFamily="18" charset="0"/>
              </a:rPr>
              <a:t> Introduce the Relational model and the introduction of   entities and attributes</a:t>
            </a:r>
          </a:p>
          <a:p>
            <a:endParaRPr lang="en-US" sz="1050" dirty="0" smtClean="0">
              <a:latin typeface="Cambria" pitchFamily="18" charset="0"/>
              <a:ea typeface="Cambria" pitchFamily="18" charset="0"/>
            </a:endParaRPr>
          </a:p>
          <a:p>
            <a:pPr>
              <a:buFont typeface="Wingdings" pitchFamily="2" charset="2"/>
              <a:buChar char="Ø"/>
            </a:pPr>
            <a:r>
              <a:rPr lang="en-US" sz="2000" dirty="0" smtClean="0">
                <a:latin typeface="Cambria" pitchFamily="18" charset="0"/>
                <a:ea typeface="Cambria" pitchFamily="18" charset="0"/>
              </a:rPr>
              <a:t> Introduce the concepts of basic SQL as a universal Database language</a:t>
            </a:r>
          </a:p>
          <a:p>
            <a:endParaRPr lang="en-US" sz="1050" dirty="0" smtClean="0">
              <a:latin typeface="Cambria" pitchFamily="18" charset="0"/>
              <a:ea typeface="Cambria" pitchFamily="18" charset="0"/>
            </a:endParaRPr>
          </a:p>
          <a:p>
            <a:pPr>
              <a:buFont typeface="Wingdings" pitchFamily="2" charset="2"/>
              <a:buChar char="Ø"/>
            </a:pPr>
            <a:r>
              <a:rPr lang="en-US" sz="2000" dirty="0" smtClean="0">
                <a:latin typeface="Cambria" pitchFamily="18" charset="0"/>
                <a:ea typeface="Cambria" pitchFamily="18" charset="0"/>
              </a:rPr>
              <a:t> Demonstrate the principles behind systematic database design approaches by  </a:t>
            </a:r>
          </a:p>
          <a:p>
            <a:r>
              <a:rPr lang="en-US" sz="2000" dirty="0" smtClean="0">
                <a:latin typeface="Cambria" pitchFamily="18" charset="0"/>
                <a:ea typeface="Cambria" pitchFamily="18" charset="0"/>
              </a:rPr>
              <a:t>    covering conceptual design,  logical design through normalization</a:t>
            </a:r>
          </a:p>
          <a:p>
            <a:endParaRPr lang="en-US" sz="1050" dirty="0" smtClean="0">
              <a:latin typeface="Cambria" pitchFamily="18" charset="0"/>
              <a:ea typeface="Cambria" pitchFamily="18" charset="0"/>
            </a:endParaRPr>
          </a:p>
          <a:p>
            <a:pPr>
              <a:buFont typeface="Wingdings" pitchFamily="2" charset="2"/>
              <a:buChar char="Ø"/>
            </a:pPr>
            <a:r>
              <a:rPr lang="en-US" sz="2000" dirty="0" smtClean="0">
                <a:latin typeface="Cambria" pitchFamily="18" charset="0"/>
                <a:ea typeface="Cambria" pitchFamily="18" charset="0"/>
              </a:rPr>
              <a:t> Provide an overview of physical design of a database  system, by discussing  </a:t>
            </a:r>
          </a:p>
          <a:p>
            <a:r>
              <a:rPr lang="en-US" sz="2000" dirty="0" smtClean="0">
                <a:latin typeface="Cambria" pitchFamily="18" charset="0"/>
                <a:ea typeface="Cambria" pitchFamily="18" charset="0"/>
              </a:rPr>
              <a:t>     Database indexing techniques and storage techniques</a:t>
            </a:r>
            <a:endParaRPr lang="en-US" sz="20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60719"/>
            <a:ext cx="9072594" cy="3793346"/>
          </a:xfrm>
          <a:prstGeom prst="rect">
            <a:avLst/>
          </a:prstGeom>
        </p:spPr>
        <p:txBody>
          <a:bodyPr wrap="square">
            <a:spAutoFit/>
          </a:bodyPr>
          <a:lstStyle/>
          <a:p>
            <a:r>
              <a:rPr lang="en-US" sz="2000" dirty="0" smtClean="0">
                <a:solidFill>
                  <a:srgbClr val="FF0000"/>
                </a:solidFill>
                <a:latin typeface="Cambria" pitchFamily="18" charset="0"/>
                <a:ea typeface="Cambria" pitchFamily="18" charset="0"/>
              </a:rPr>
              <a:t>Course </a:t>
            </a:r>
            <a:r>
              <a:rPr lang="en-US" sz="2000" dirty="0" err="1" smtClean="0">
                <a:solidFill>
                  <a:srgbClr val="FF0000"/>
                </a:solidFill>
                <a:latin typeface="Cambria" pitchFamily="18" charset="0"/>
                <a:ea typeface="Cambria" pitchFamily="18" charset="0"/>
              </a:rPr>
              <a:t>Outcomes:</a:t>
            </a:r>
            <a:r>
              <a:rPr lang="en-US" dirty="0" err="1" smtClean="0">
                <a:solidFill>
                  <a:srgbClr val="FF0000"/>
                </a:solidFill>
                <a:latin typeface="Cambria" pitchFamily="18" charset="0"/>
                <a:ea typeface="Cambria" pitchFamily="18" charset="0"/>
              </a:rPr>
              <a:t>At</a:t>
            </a:r>
            <a:r>
              <a:rPr lang="en-US" dirty="0" smtClean="0">
                <a:solidFill>
                  <a:srgbClr val="FF0000"/>
                </a:solidFill>
                <a:latin typeface="Cambria" pitchFamily="18" charset="0"/>
                <a:ea typeface="Cambria" pitchFamily="18" charset="0"/>
              </a:rPr>
              <a:t> the end of the course, student will be able to</a:t>
            </a:r>
          </a:p>
          <a:p>
            <a:endParaRPr lang="en-US" dirty="0" smtClean="0">
              <a:solidFill>
                <a:srgbClr val="FF0000"/>
              </a:solidFill>
              <a:latin typeface="Cambria" pitchFamily="18" charset="0"/>
              <a:ea typeface="Cambria" pitchFamily="18" charset="0"/>
            </a:endParaRPr>
          </a:p>
          <a:p>
            <a:pPr>
              <a:buFont typeface="Wingdings" pitchFamily="2" charset="2"/>
              <a:buChar char="Ø"/>
            </a:pPr>
            <a:r>
              <a:rPr lang="en-US" dirty="0" smtClean="0">
                <a:latin typeface="Cambria" pitchFamily="18" charset="0"/>
                <a:ea typeface="Cambria" pitchFamily="18" charset="0"/>
              </a:rPr>
              <a:t> </a:t>
            </a:r>
            <a:r>
              <a:rPr lang="en-US" sz="2000" dirty="0" smtClean="0">
                <a:latin typeface="Cambria" pitchFamily="18" charset="0"/>
                <a:ea typeface="Cambria" pitchFamily="18" charset="0"/>
              </a:rPr>
              <a:t>Understand the concepts of relational database and object-oriented database </a:t>
            </a:r>
          </a:p>
          <a:p>
            <a:r>
              <a:rPr lang="en-US" sz="2000" dirty="0" smtClean="0">
                <a:latin typeface="Cambria" pitchFamily="18" charset="0"/>
                <a:ea typeface="Cambria" pitchFamily="18" charset="0"/>
              </a:rPr>
              <a:t>    (L2)</a:t>
            </a:r>
          </a:p>
          <a:p>
            <a:endParaRPr lang="en-US" sz="1050" dirty="0" smtClean="0">
              <a:latin typeface="Cambria" pitchFamily="18" charset="0"/>
              <a:ea typeface="Cambria" pitchFamily="18" charset="0"/>
            </a:endParaRPr>
          </a:p>
          <a:p>
            <a:pPr>
              <a:buFont typeface="Wingdings" pitchFamily="2" charset="2"/>
              <a:buChar char="Ø"/>
            </a:pPr>
            <a:r>
              <a:rPr lang="en-US" sz="2000" dirty="0" smtClean="0">
                <a:latin typeface="Cambria" pitchFamily="18" charset="0"/>
                <a:ea typeface="Cambria" pitchFamily="18" charset="0"/>
              </a:rPr>
              <a:t> Apply Relational model and ER model for database design (L3)</a:t>
            </a:r>
          </a:p>
          <a:p>
            <a:endParaRPr lang="en-US" sz="1100" dirty="0" smtClean="0">
              <a:latin typeface="Cambria" pitchFamily="18" charset="0"/>
              <a:ea typeface="Cambria" pitchFamily="18" charset="0"/>
            </a:endParaRPr>
          </a:p>
          <a:p>
            <a:pPr>
              <a:buFont typeface="Wingdings" pitchFamily="2" charset="2"/>
              <a:buChar char="Ø"/>
            </a:pPr>
            <a:r>
              <a:rPr lang="en-US" sz="2000" dirty="0" smtClean="0">
                <a:latin typeface="Cambria" pitchFamily="18" charset="0"/>
                <a:ea typeface="Cambria" pitchFamily="18" charset="0"/>
              </a:rPr>
              <a:t> Execute SQL commands to create, maintain and manipulate a relational  </a:t>
            </a:r>
          </a:p>
          <a:p>
            <a:r>
              <a:rPr lang="en-US" sz="2000" dirty="0" smtClean="0">
                <a:latin typeface="Cambria" pitchFamily="18" charset="0"/>
                <a:ea typeface="Cambria" pitchFamily="18" charset="0"/>
              </a:rPr>
              <a:t>    database (L3)</a:t>
            </a:r>
          </a:p>
          <a:p>
            <a:endParaRPr lang="en-US" sz="1050" dirty="0" smtClean="0">
              <a:latin typeface="Cambria" pitchFamily="18" charset="0"/>
              <a:ea typeface="Cambria" pitchFamily="18" charset="0"/>
            </a:endParaRPr>
          </a:p>
          <a:p>
            <a:pPr>
              <a:buFont typeface="Wingdings" pitchFamily="2" charset="2"/>
              <a:buChar char="Ø"/>
            </a:pPr>
            <a:r>
              <a:rPr lang="en-US" sz="2000" dirty="0" smtClean="0">
                <a:latin typeface="Cambria" pitchFamily="18" charset="0"/>
                <a:ea typeface="Cambria" pitchFamily="18" charset="0"/>
              </a:rPr>
              <a:t> Interpret and apply schema refinement and normalization concepts for   </a:t>
            </a:r>
          </a:p>
          <a:p>
            <a:r>
              <a:rPr lang="en-US" sz="2000" dirty="0" smtClean="0">
                <a:latin typeface="Cambria" pitchFamily="18" charset="0"/>
                <a:ea typeface="Cambria" pitchFamily="18" charset="0"/>
              </a:rPr>
              <a:t>   database design (L3)</a:t>
            </a:r>
          </a:p>
          <a:p>
            <a:endParaRPr lang="en-US" sz="1050" dirty="0" smtClean="0">
              <a:latin typeface="Cambria" pitchFamily="18" charset="0"/>
              <a:ea typeface="Cambria" pitchFamily="18" charset="0"/>
            </a:endParaRPr>
          </a:p>
          <a:p>
            <a:pPr>
              <a:buFont typeface="Wingdings" pitchFamily="2" charset="2"/>
              <a:buChar char="Ø"/>
            </a:pPr>
            <a:r>
              <a:rPr lang="en-US" sz="2000" dirty="0" smtClean="0">
                <a:latin typeface="Cambria" pitchFamily="18" charset="0"/>
                <a:ea typeface="Cambria" pitchFamily="18" charset="0"/>
              </a:rPr>
              <a:t> Implement indexing and transaction concepts for data base design (L3)</a:t>
            </a:r>
            <a:endParaRPr lang="en-US" sz="20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18"/>
            <a:ext cx="8858312" cy="4832092"/>
          </a:xfrm>
          <a:prstGeom prst="rect">
            <a:avLst/>
          </a:prstGeom>
        </p:spPr>
        <p:txBody>
          <a:bodyPr wrap="square">
            <a:spAutoFit/>
          </a:bodyPr>
          <a:lstStyle/>
          <a:p>
            <a:r>
              <a:rPr lang="en-US" dirty="0" smtClean="0">
                <a:solidFill>
                  <a:srgbClr val="CC00CC"/>
                </a:solidFill>
                <a:latin typeface="Cambria" pitchFamily="18" charset="0"/>
                <a:ea typeface="Cambria" pitchFamily="18" charset="0"/>
                <a:cs typeface="Times New Roman" pitchFamily="18" charset="0"/>
              </a:rPr>
              <a:t>Text Books</a:t>
            </a:r>
            <a:r>
              <a:rPr lang="en-US" dirty="0" smtClean="0">
                <a:latin typeface="Cambria" pitchFamily="18" charset="0"/>
                <a:ea typeface="Cambria" pitchFamily="18" charset="0"/>
                <a:cs typeface="Times New Roman" pitchFamily="18" charset="0"/>
              </a:rPr>
              <a:t>:</a:t>
            </a:r>
          </a:p>
          <a:p>
            <a:pPr>
              <a:buFont typeface="Wingdings" pitchFamily="2" charset="2"/>
              <a:buChar char="ü"/>
            </a:pPr>
            <a:r>
              <a:rPr lang="en-US" dirty="0" smtClean="0">
                <a:latin typeface="Cambria" pitchFamily="18" charset="0"/>
                <a:ea typeface="Cambria" pitchFamily="18" charset="0"/>
                <a:cs typeface="Times New Roman" pitchFamily="18" charset="0"/>
              </a:rPr>
              <a:t>Database Management Systems, 3rd </a:t>
            </a:r>
            <a:r>
              <a:rPr lang="en-US" dirty="0" err="1" smtClean="0">
                <a:latin typeface="Cambria" pitchFamily="18" charset="0"/>
                <a:ea typeface="Cambria" pitchFamily="18" charset="0"/>
                <a:cs typeface="Times New Roman" pitchFamily="18" charset="0"/>
              </a:rPr>
              <a:t>edition,Raghurama</a:t>
            </a:r>
            <a:r>
              <a:rPr lang="en-US" dirty="0" smtClean="0">
                <a:latin typeface="Cambria" pitchFamily="18" charset="0"/>
                <a:ea typeface="Cambria" pitchFamily="18" charset="0"/>
                <a:cs typeface="Times New Roman" pitchFamily="18" charset="0"/>
              </a:rPr>
              <a:t> Krishnan, Johannes </a:t>
            </a:r>
            <a:r>
              <a:rPr lang="en-US" dirty="0" err="1" smtClean="0">
                <a:latin typeface="Cambria" pitchFamily="18" charset="0"/>
                <a:ea typeface="Cambria" pitchFamily="18" charset="0"/>
                <a:cs typeface="Times New Roman" pitchFamily="18" charset="0"/>
              </a:rPr>
              <a:t>Gehrke</a:t>
            </a:r>
            <a:r>
              <a:rPr lang="en-US" dirty="0" smtClean="0">
                <a:latin typeface="Cambria" pitchFamily="18" charset="0"/>
                <a:ea typeface="Cambria" pitchFamily="18" charset="0"/>
                <a:cs typeface="Times New Roman" pitchFamily="18" charset="0"/>
              </a:rPr>
              <a:t>, TMH (For Chapters 2, 3, 4)</a:t>
            </a:r>
          </a:p>
          <a:p>
            <a:endParaRPr lang="en-US" sz="1000" dirty="0" smtClean="0">
              <a:latin typeface="Cambria" pitchFamily="18" charset="0"/>
              <a:ea typeface="Cambria" pitchFamily="18" charset="0"/>
              <a:cs typeface="Times New Roman" pitchFamily="18" charset="0"/>
            </a:endParaRPr>
          </a:p>
          <a:p>
            <a:pPr>
              <a:buFont typeface="Wingdings" pitchFamily="2" charset="2"/>
              <a:buChar char="ü"/>
            </a:pPr>
            <a:r>
              <a:rPr lang="en-US" dirty="0" smtClean="0">
                <a:latin typeface="Cambria" pitchFamily="18" charset="0"/>
                <a:ea typeface="Cambria" pitchFamily="18" charset="0"/>
                <a:cs typeface="Times New Roman" pitchFamily="18" charset="0"/>
              </a:rPr>
              <a:t> Database System Concepts, 5th edition, </a:t>
            </a:r>
            <a:r>
              <a:rPr lang="en-US" dirty="0" err="1" smtClean="0">
                <a:latin typeface="Cambria" pitchFamily="18" charset="0"/>
                <a:ea typeface="Cambria" pitchFamily="18" charset="0"/>
                <a:cs typeface="Times New Roman" pitchFamily="18" charset="0"/>
              </a:rPr>
              <a:t>Silberschatz</a:t>
            </a:r>
            <a:r>
              <a:rPr lang="en-US" dirty="0" smtClean="0">
                <a:latin typeface="Cambria" pitchFamily="18" charset="0"/>
                <a:ea typeface="Cambria" pitchFamily="18" charset="0"/>
                <a:cs typeface="Times New Roman" pitchFamily="18" charset="0"/>
              </a:rPr>
              <a:t>, </a:t>
            </a:r>
            <a:r>
              <a:rPr lang="en-US" dirty="0" err="1" smtClean="0">
                <a:latin typeface="Cambria" pitchFamily="18" charset="0"/>
                <a:ea typeface="Cambria" pitchFamily="18" charset="0"/>
                <a:cs typeface="Times New Roman" pitchFamily="18" charset="0"/>
              </a:rPr>
              <a:t>Korth</a:t>
            </a:r>
            <a:r>
              <a:rPr lang="en-US" dirty="0" smtClean="0">
                <a:latin typeface="Cambria" pitchFamily="18" charset="0"/>
                <a:ea typeface="Cambria" pitchFamily="18" charset="0"/>
                <a:cs typeface="Times New Roman" pitchFamily="18" charset="0"/>
              </a:rPr>
              <a:t>, </a:t>
            </a:r>
            <a:r>
              <a:rPr lang="en-US" dirty="0" err="1" smtClean="0">
                <a:latin typeface="Cambria" pitchFamily="18" charset="0"/>
                <a:ea typeface="Cambria" pitchFamily="18" charset="0"/>
                <a:cs typeface="Times New Roman" pitchFamily="18" charset="0"/>
              </a:rPr>
              <a:t>Sudarsan</a:t>
            </a:r>
            <a:r>
              <a:rPr lang="en-US" dirty="0" smtClean="0">
                <a:latin typeface="Cambria" pitchFamily="18" charset="0"/>
                <a:ea typeface="Cambria" pitchFamily="18" charset="0"/>
                <a:cs typeface="Times New Roman" pitchFamily="18" charset="0"/>
              </a:rPr>
              <a:t>, TMH (For Chapter 1 and Chapter 5) </a:t>
            </a:r>
          </a:p>
          <a:p>
            <a:endParaRPr lang="en-US" sz="800" dirty="0" smtClean="0">
              <a:latin typeface="Cambria" pitchFamily="18" charset="0"/>
              <a:ea typeface="Cambria" pitchFamily="18" charset="0"/>
              <a:cs typeface="Times New Roman" pitchFamily="18" charset="0"/>
            </a:endParaRPr>
          </a:p>
          <a:p>
            <a:r>
              <a:rPr lang="en-US" dirty="0" smtClean="0">
                <a:solidFill>
                  <a:srgbClr val="CC00CC"/>
                </a:solidFill>
                <a:latin typeface="Cambria" pitchFamily="18" charset="0"/>
                <a:ea typeface="Cambria" pitchFamily="18" charset="0"/>
                <a:cs typeface="Times New Roman" pitchFamily="18" charset="0"/>
              </a:rPr>
              <a:t>Reference Books: </a:t>
            </a:r>
          </a:p>
          <a:p>
            <a:pPr>
              <a:buFont typeface="Wingdings" pitchFamily="2" charset="2"/>
              <a:buChar char="ü"/>
            </a:pPr>
            <a:r>
              <a:rPr lang="en-US" dirty="0" smtClean="0">
                <a:latin typeface="Cambria" pitchFamily="18" charset="0"/>
                <a:ea typeface="Cambria" pitchFamily="18" charset="0"/>
                <a:cs typeface="Times New Roman" pitchFamily="18" charset="0"/>
              </a:rPr>
              <a:t>Introduction to Database Systems, 8th edition, C J Date, Pearson.</a:t>
            </a:r>
          </a:p>
          <a:p>
            <a:endParaRPr lang="en-US" sz="800" dirty="0" smtClean="0">
              <a:latin typeface="Cambria" pitchFamily="18" charset="0"/>
              <a:ea typeface="Cambria" pitchFamily="18" charset="0"/>
              <a:cs typeface="Times New Roman" pitchFamily="18" charset="0"/>
            </a:endParaRPr>
          </a:p>
          <a:p>
            <a:pPr>
              <a:buFont typeface="Wingdings" pitchFamily="2" charset="2"/>
              <a:buChar char="ü"/>
            </a:pPr>
            <a:r>
              <a:rPr lang="en-US" dirty="0" smtClean="0">
                <a:latin typeface="Cambria" pitchFamily="18" charset="0"/>
                <a:ea typeface="Cambria" pitchFamily="18" charset="0"/>
                <a:cs typeface="Times New Roman" pitchFamily="18" charset="0"/>
              </a:rPr>
              <a:t> Database Management System, 6th edition, </a:t>
            </a:r>
            <a:r>
              <a:rPr lang="en-US" dirty="0" err="1" smtClean="0">
                <a:latin typeface="Cambria" pitchFamily="18" charset="0"/>
                <a:ea typeface="Cambria" pitchFamily="18" charset="0"/>
                <a:cs typeface="Times New Roman" pitchFamily="18" charset="0"/>
              </a:rPr>
              <a:t>Ramez</a:t>
            </a:r>
            <a:r>
              <a:rPr lang="en-US" dirty="0" smtClean="0">
                <a:latin typeface="Cambria" pitchFamily="18" charset="0"/>
                <a:ea typeface="Cambria" pitchFamily="18" charset="0"/>
                <a:cs typeface="Times New Roman" pitchFamily="18" charset="0"/>
              </a:rPr>
              <a:t> </a:t>
            </a:r>
            <a:r>
              <a:rPr lang="en-US" dirty="0" err="1" smtClean="0">
                <a:latin typeface="Cambria" pitchFamily="18" charset="0"/>
                <a:ea typeface="Cambria" pitchFamily="18" charset="0"/>
                <a:cs typeface="Times New Roman" pitchFamily="18" charset="0"/>
              </a:rPr>
              <a:t>Elmasri</a:t>
            </a:r>
            <a:r>
              <a:rPr lang="en-US" dirty="0" smtClean="0">
                <a:latin typeface="Cambria" pitchFamily="18" charset="0"/>
                <a:ea typeface="Cambria" pitchFamily="18" charset="0"/>
                <a:cs typeface="Times New Roman" pitchFamily="18" charset="0"/>
              </a:rPr>
              <a:t>, </a:t>
            </a:r>
            <a:r>
              <a:rPr lang="en-US" dirty="0" err="1" smtClean="0">
                <a:latin typeface="Cambria" pitchFamily="18" charset="0"/>
                <a:ea typeface="Cambria" pitchFamily="18" charset="0"/>
                <a:cs typeface="Times New Roman" pitchFamily="18" charset="0"/>
              </a:rPr>
              <a:t>Shamkant</a:t>
            </a:r>
            <a:r>
              <a:rPr lang="en-US" dirty="0" smtClean="0">
                <a:latin typeface="Cambria" pitchFamily="18" charset="0"/>
                <a:ea typeface="Cambria" pitchFamily="18" charset="0"/>
                <a:cs typeface="Times New Roman" pitchFamily="18" charset="0"/>
              </a:rPr>
              <a:t> B. </a:t>
            </a:r>
            <a:r>
              <a:rPr lang="en-US" dirty="0" err="1" smtClean="0">
                <a:latin typeface="Cambria" pitchFamily="18" charset="0"/>
                <a:ea typeface="Cambria" pitchFamily="18" charset="0"/>
                <a:cs typeface="Times New Roman" pitchFamily="18" charset="0"/>
              </a:rPr>
              <a:t>Navathe</a:t>
            </a:r>
            <a:r>
              <a:rPr lang="en-US" dirty="0" smtClean="0">
                <a:latin typeface="Cambria" pitchFamily="18" charset="0"/>
                <a:ea typeface="Cambria" pitchFamily="18" charset="0"/>
                <a:cs typeface="Times New Roman" pitchFamily="18" charset="0"/>
              </a:rPr>
              <a:t>, Pearson</a:t>
            </a:r>
          </a:p>
          <a:p>
            <a:endParaRPr lang="en-US" sz="800" dirty="0" smtClean="0">
              <a:latin typeface="Cambria" pitchFamily="18" charset="0"/>
              <a:ea typeface="Cambria" pitchFamily="18" charset="0"/>
              <a:cs typeface="Times New Roman" pitchFamily="18" charset="0"/>
            </a:endParaRPr>
          </a:p>
          <a:p>
            <a:pPr>
              <a:buFont typeface="Wingdings" pitchFamily="2" charset="2"/>
              <a:buChar char="ü"/>
            </a:pPr>
            <a:r>
              <a:rPr lang="en-US" dirty="0" smtClean="0">
                <a:latin typeface="Cambria" pitchFamily="18" charset="0"/>
                <a:ea typeface="Cambria" pitchFamily="18" charset="0"/>
                <a:cs typeface="Times New Roman" pitchFamily="18" charset="0"/>
              </a:rPr>
              <a:t> Database Principles Fundamentals of Design Implementation and Management, </a:t>
            </a:r>
            <a:r>
              <a:rPr lang="en-US" dirty="0" err="1" smtClean="0">
                <a:latin typeface="Cambria" pitchFamily="18" charset="0"/>
                <a:ea typeface="Cambria" pitchFamily="18" charset="0"/>
                <a:cs typeface="Times New Roman" pitchFamily="18" charset="0"/>
              </a:rPr>
              <a:t>Corlos</a:t>
            </a:r>
            <a:r>
              <a:rPr lang="en-US" dirty="0" smtClean="0">
                <a:latin typeface="Cambria" pitchFamily="18" charset="0"/>
                <a:ea typeface="Cambria" pitchFamily="18" charset="0"/>
                <a:cs typeface="Times New Roman" pitchFamily="18" charset="0"/>
              </a:rPr>
              <a:t> Coronel, Steven Morris, Peter Robb, </a:t>
            </a:r>
            <a:r>
              <a:rPr lang="en-US" dirty="0" err="1" smtClean="0">
                <a:latin typeface="Cambria" pitchFamily="18" charset="0"/>
                <a:ea typeface="Cambria" pitchFamily="18" charset="0"/>
                <a:cs typeface="Times New Roman" pitchFamily="18" charset="0"/>
              </a:rPr>
              <a:t>Cengage</a:t>
            </a:r>
            <a:r>
              <a:rPr lang="en-US" dirty="0" smtClean="0">
                <a:latin typeface="Cambria" pitchFamily="18" charset="0"/>
                <a:ea typeface="Cambria" pitchFamily="18" charset="0"/>
                <a:cs typeface="Times New Roman" pitchFamily="18" charset="0"/>
              </a:rPr>
              <a:t> Learning.</a:t>
            </a:r>
          </a:p>
          <a:p>
            <a:endParaRPr lang="en-US" sz="1000" dirty="0" smtClean="0">
              <a:solidFill>
                <a:srgbClr val="CC00CC"/>
              </a:solidFill>
              <a:latin typeface="Cambria" pitchFamily="18" charset="0"/>
              <a:ea typeface="Cambria" pitchFamily="18" charset="0"/>
              <a:cs typeface="Times New Roman" pitchFamily="18" charset="0"/>
            </a:endParaRPr>
          </a:p>
          <a:p>
            <a:r>
              <a:rPr lang="en-US" dirty="0" smtClean="0">
                <a:solidFill>
                  <a:srgbClr val="CC00CC"/>
                </a:solidFill>
                <a:latin typeface="Cambria" pitchFamily="18" charset="0"/>
                <a:ea typeface="Cambria" pitchFamily="18" charset="0"/>
                <a:cs typeface="Times New Roman" pitchFamily="18" charset="0"/>
              </a:rPr>
              <a:t>Web Resources:</a:t>
            </a:r>
          </a:p>
          <a:p>
            <a:pPr>
              <a:buFont typeface="Wingdings" pitchFamily="2" charset="2"/>
              <a:buChar char="ü"/>
            </a:pPr>
            <a:r>
              <a:rPr lang="en-US" dirty="0" smtClean="0">
                <a:latin typeface="Cambria" pitchFamily="18" charset="0"/>
                <a:ea typeface="Cambria" pitchFamily="18" charset="0"/>
                <a:hlinkClick r:id="rId2"/>
              </a:rPr>
              <a:t> </a:t>
            </a:r>
            <a:r>
              <a:rPr lang="en-US" sz="1200" dirty="0" smtClean="0">
                <a:latin typeface="Cambria" pitchFamily="18" charset="0"/>
                <a:ea typeface="Cambria" pitchFamily="18" charset="0"/>
                <a:hlinkClick r:id="rId2"/>
              </a:rPr>
              <a:t>https://nptel.ac.in/courses/106/105/106105175/</a:t>
            </a:r>
          </a:p>
          <a:p>
            <a:pPr>
              <a:buFont typeface="Wingdings" pitchFamily="2" charset="2"/>
              <a:buChar char="ü"/>
            </a:pPr>
            <a:r>
              <a:rPr lang="en-US" sz="1200" dirty="0" smtClean="0">
                <a:latin typeface="Cambria" pitchFamily="18" charset="0"/>
                <a:ea typeface="Cambria" pitchFamily="18" charset="0"/>
                <a:hlinkClick r:id="rId2"/>
              </a:rPr>
              <a:t>https://infyspringboard.onwingspan.com/web/en/app/toc/lex_auth_01275806667282022456_shared/overview</a:t>
            </a:r>
            <a:endParaRPr lang="en-US" sz="2000" dirty="0" smtClean="0">
              <a:latin typeface="Cambria" pitchFamily="18" charset="0"/>
              <a:ea typeface="Cambria" pitchFamily="18" charset="0"/>
              <a:hlinkClick r:id="rId2"/>
            </a:endParaRPr>
          </a:p>
          <a:p>
            <a:endParaRPr lang="en-US" dirty="0" smtClean="0">
              <a:latin typeface="Cambria" pitchFamily="18" charset="0"/>
              <a:ea typeface="Cambria"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5720" y="107140"/>
            <a:ext cx="8643998" cy="3970318"/>
          </a:xfrm>
          <a:prstGeom prst="rect">
            <a:avLst/>
          </a:prstGeom>
        </p:spPr>
        <p:txBody>
          <a:bodyPr wrap="square">
            <a:spAutoFit/>
          </a:bodyPr>
          <a:lstStyle/>
          <a:p>
            <a:r>
              <a:rPr lang="en-US" b="1" dirty="0" smtClean="0">
                <a:solidFill>
                  <a:srgbClr val="FF0000"/>
                </a:solidFill>
                <a:latin typeface="Cambria" pitchFamily="18" charset="0"/>
                <a:ea typeface="Cambria" pitchFamily="18" charset="0"/>
              </a:rPr>
              <a:t>Unit – I </a:t>
            </a:r>
            <a:r>
              <a:rPr lang="en-US" b="1" dirty="0" smtClean="0">
                <a:latin typeface="Cambria" pitchFamily="18" charset="0"/>
                <a:ea typeface="Cambria" pitchFamily="18" charset="0"/>
              </a:rPr>
              <a:t>Introduction: </a:t>
            </a:r>
          </a:p>
          <a:p>
            <a:r>
              <a:rPr lang="en-US" dirty="0" smtClean="0">
                <a:latin typeface="Cambria" pitchFamily="18" charset="0"/>
                <a:ea typeface="Cambria" pitchFamily="18" charset="0"/>
              </a:rPr>
              <a:t>Database system, Characteristics (Database Vs File System), Database </a:t>
            </a:r>
            <a:r>
              <a:rPr lang="en-US" dirty="0" err="1" smtClean="0">
                <a:latin typeface="Cambria" pitchFamily="18" charset="0"/>
                <a:ea typeface="Cambria" pitchFamily="18" charset="0"/>
              </a:rPr>
              <a:t>Users,Advantages</a:t>
            </a:r>
            <a:r>
              <a:rPr lang="en-US" dirty="0" smtClean="0">
                <a:latin typeface="Cambria" pitchFamily="18" charset="0"/>
                <a:ea typeface="Cambria" pitchFamily="18" charset="0"/>
              </a:rPr>
              <a:t> of Database systems, Database applications. Brief introduction of different Data Models; Concepts of Schema, Instance and data independence; Three tier schema architecture for data independence; Database system structure, environment.</a:t>
            </a:r>
          </a:p>
          <a:p>
            <a:endParaRPr lang="en-US" b="1" dirty="0" smtClean="0">
              <a:latin typeface="Cambria" pitchFamily="18" charset="0"/>
              <a:ea typeface="Cambria" pitchFamily="18" charset="0"/>
            </a:endParaRPr>
          </a:p>
          <a:p>
            <a:r>
              <a:rPr lang="en-US" b="1" dirty="0" smtClean="0">
                <a:solidFill>
                  <a:srgbClr val="FF0000"/>
                </a:solidFill>
                <a:latin typeface="Cambria" pitchFamily="18" charset="0"/>
                <a:ea typeface="Cambria" pitchFamily="18" charset="0"/>
              </a:rPr>
              <a:t>Unit – II </a:t>
            </a:r>
            <a:r>
              <a:rPr lang="en-US" b="1" dirty="0" smtClean="0">
                <a:latin typeface="Cambria" pitchFamily="18" charset="0"/>
                <a:ea typeface="Cambria" pitchFamily="18" charset="0"/>
              </a:rPr>
              <a:t>Relational Model: </a:t>
            </a:r>
          </a:p>
          <a:p>
            <a:r>
              <a:rPr lang="en-US" dirty="0" smtClean="0">
                <a:latin typeface="Cambria" pitchFamily="18" charset="0"/>
                <a:ea typeface="Cambria" pitchFamily="18" charset="0"/>
              </a:rPr>
              <a:t>Introduction to relational model, concepts of domain, attribute, </a:t>
            </a:r>
            <a:r>
              <a:rPr lang="en-US" dirty="0" err="1" smtClean="0">
                <a:latin typeface="Cambria" pitchFamily="18" charset="0"/>
                <a:ea typeface="Cambria" pitchFamily="18" charset="0"/>
              </a:rPr>
              <a:t>tuple</a:t>
            </a:r>
            <a:r>
              <a:rPr lang="en-US" dirty="0" smtClean="0">
                <a:latin typeface="Cambria" pitchFamily="18" charset="0"/>
                <a:ea typeface="Cambria" pitchFamily="18" charset="0"/>
              </a:rPr>
              <a:t>, </a:t>
            </a:r>
            <a:r>
              <a:rPr lang="en-US" dirty="0" err="1" smtClean="0">
                <a:latin typeface="Cambria" pitchFamily="18" charset="0"/>
                <a:ea typeface="Cambria" pitchFamily="18" charset="0"/>
              </a:rPr>
              <a:t>relation,importance</a:t>
            </a:r>
            <a:r>
              <a:rPr lang="en-US" dirty="0" smtClean="0">
                <a:latin typeface="Cambria" pitchFamily="18" charset="0"/>
                <a:ea typeface="Cambria" pitchFamily="18" charset="0"/>
              </a:rPr>
              <a:t> of null values, constraints (Domain, Key constraints, integrity constraints) and their importance. Entity Relationship Model: Introduction, Representation of entities, attributes, entity </a:t>
            </a:r>
            <a:r>
              <a:rPr lang="en-US" dirty="0" err="1" smtClean="0">
                <a:latin typeface="Cambria" pitchFamily="18" charset="0"/>
                <a:ea typeface="Cambria" pitchFamily="18" charset="0"/>
              </a:rPr>
              <a:t>set,relationship</a:t>
            </a:r>
            <a:r>
              <a:rPr lang="en-US" dirty="0" smtClean="0">
                <a:latin typeface="Cambria" pitchFamily="18" charset="0"/>
                <a:ea typeface="Cambria" pitchFamily="18" charset="0"/>
              </a:rPr>
              <a:t>, relationship set, constraints, sub classes, super class, inheritance, specialization, generalization using ER Diagrams.</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47699"/>
            <a:ext cx="8429684" cy="4524315"/>
          </a:xfrm>
          <a:prstGeom prst="rect">
            <a:avLst/>
          </a:prstGeom>
        </p:spPr>
        <p:txBody>
          <a:bodyPr wrap="square">
            <a:spAutoFit/>
          </a:bodyPr>
          <a:lstStyle/>
          <a:p>
            <a:r>
              <a:rPr lang="en-US" b="1" dirty="0" smtClean="0">
                <a:solidFill>
                  <a:srgbClr val="FF0000"/>
                </a:solidFill>
                <a:latin typeface="Cambria" pitchFamily="18" charset="0"/>
                <a:ea typeface="Cambria" pitchFamily="18" charset="0"/>
              </a:rPr>
              <a:t>Unit – III </a:t>
            </a:r>
            <a:r>
              <a:rPr lang="en-US" b="1" dirty="0" smtClean="0">
                <a:latin typeface="Cambria" pitchFamily="18" charset="0"/>
                <a:ea typeface="Cambria" pitchFamily="18" charset="0"/>
              </a:rPr>
              <a:t>SQL: </a:t>
            </a:r>
          </a:p>
          <a:p>
            <a:r>
              <a:rPr lang="en-US" dirty="0" smtClean="0">
                <a:latin typeface="Cambria" pitchFamily="18" charset="0"/>
                <a:ea typeface="Cambria" pitchFamily="18" charset="0"/>
              </a:rPr>
              <a:t>Basic SQL querying (select and project) using where clause, arithmetic &amp; logical </a:t>
            </a:r>
            <a:r>
              <a:rPr lang="en-US" dirty="0" err="1" smtClean="0">
                <a:latin typeface="Cambria" pitchFamily="18" charset="0"/>
                <a:ea typeface="Cambria" pitchFamily="18" charset="0"/>
              </a:rPr>
              <a:t>operations,SQL</a:t>
            </a:r>
            <a:r>
              <a:rPr lang="en-US" dirty="0" smtClean="0">
                <a:latin typeface="Cambria" pitchFamily="18" charset="0"/>
                <a:ea typeface="Cambria" pitchFamily="18" charset="0"/>
              </a:rPr>
              <a:t> functions(Date and Time, Numeric, String conversion).Creating tables with relationship, implementation of key and integrity constraints, nested queries, sub queries, grouping, aggregation,</a:t>
            </a:r>
          </a:p>
          <a:p>
            <a:r>
              <a:rPr lang="en-US" dirty="0" smtClean="0">
                <a:latin typeface="Cambria" pitchFamily="18" charset="0"/>
                <a:ea typeface="Cambria" pitchFamily="18" charset="0"/>
              </a:rPr>
              <a:t>ordering, implementation of different types of joins, view (updatable and non-updatable), relational set operations. SQL: Simple Database schema, data types, table definitions (create, alter), different DML</a:t>
            </a:r>
          </a:p>
          <a:p>
            <a:r>
              <a:rPr lang="en-US" dirty="0" smtClean="0">
                <a:latin typeface="Cambria" pitchFamily="18" charset="0"/>
                <a:ea typeface="Cambria" pitchFamily="18" charset="0"/>
              </a:rPr>
              <a:t>operations (insert, delete, update).Relational Algebra, Relational Calculus.</a:t>
            </a:r>
          </a:p>
          <a:p>
            <a:endParaRPr lang="en-US" dirty="0" smtClean="0">
              <a:latin typeface="Cambria" pitchFamily="18" charset="0"/>
              <a:ea typeface="Cambria" pitchFamily="18" charset="0"/>
            </a:endParaRPr>
          </a:p>
          <a:p>
            <a:r>
              <a:rPr lang="en-US" b="1" dirty="0" smtClean="0">
                <a:solidFill>
                  <a:srgbClr val="FF0000"/>
                </a:solidFill>
                <a:latin typeface="Cambria" pitchFamily="18" charset="0"/>
                <a:ea typeface="Cambria" pitchFamily="18" charset="0"/>
              </a:rPr>
              <a:t>Unit – IV  </a:t>
            </a:r>
            <a:r>
              <a:rPr lang="en-US" b="1" dirty="0" smtClean="0">
                <a:latin typeface="Cambria" pitchFamily="18" charset="0"/>
                <a:ea typeface="Cambria" pitchFamily="18" charset="0"/>
              </a:rPr>
              <a:t>Schema Refinement (Normalization): </a:t>
            </a:r>
          </a:p>
          <a:p>
            <a:r>
              <a:rPr lang="en-US" dirty="0" smtClean="0">
                <a:latin typeface="Cambria" pitchFamily="18" charset="0"/>
                <a:ea typeface="Cambria" pitchFamily="18" charset="0"/>
              </a:rPr>
              <a:t>Purpose of Normalization or schema refinement, concept of</a:t>
            </a:r>
          </a:p>
          <a:p>
            <a:r>
              <a:rPr lang="en-US" dirty="0" smtClean="0">
                <a:latin typeface="Cambria" pitchFamily="18" charset="0"/>
                <a:ea typeface="Cambria" pitchFamily="18" charset="0"/>
              </a:rPr>
              <a:t>functional dependency, normal forms based on functional dependency </a:t>
            </a:r>
            <a:r>
              <a:rPr lang="en-US" dirty="0" err="1" smtClean="0">
                <a:latin typeface="Cambria" pitchFamily="18" charset="0"/>
                <a:ea typeface="Cambria" pitchFamily="18" charset="0"/>
              </a:rPr>
              <a:t>Losslessjoin</a:t>
            </a:r>
            <a:r>
              <a:rPr lang="en-US" dirty="0" smtClean="0">
                <a:latin typeface="Cambria" pitchFamily="18" charset="0"/>
                <a:ea typeface="Cambria" pitchFamily="18" charset="0"/>
              </a:rPr>
              <a:t> and dependency preserving decomposition, (1NF, 2NF and 3 NF), concept of surrogate key, Boyce-</a:t>
            </a:r>
            <a:r>
              <a:rPr lang="en-US" dirty="0" err="1" smtClean="0">
                <a:latin typeface="Cambria" pitchFamily="18" charset="0"/>
                <a:ea typeface="Cambria" pitchFamily="18" charset="0"/>
              </a:rPr>
              <a:t>Codd</a:t>
            </a:r>
            <a:r>
              <a:rPr lang="en-US" dirty="0" smtClean="0">
                <a:latin typeface="Cambria" pitchFamily="18" charset="0"/>
                <a:ea typeface="Cambria" pitchFamily="18" charset="0"/>
              </a:rPr>
              <a:t> normal form(BCNF), Fourth normal form(4NF), Fifth Normal Form(5NF).</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95913"/>
            <a:ext cx="8429684" cy="1754326"/>
          </a:xfrm>
          <a:prstGeom prst="rect">
            <a:avLst/>
          </a:prstGeom>
        </p:spPr>
        <p:txBody>
          <a:bodyPr wrap="square">
            <a:spAutoFit/>
          </a:bodyPr>
          <a:lstStyle/>
          <a:p>
            <a:r>
              <a:rPr lang="en-US" b="1" dirty="0" smtClean="0">
                <a:solidFill>
                  <a:srgbClr val="FF0000"/>
                </a:solidFill>
                <a:latin typeface="Cambria" pitchFamily="18" charset="0"/>
                <a:ea typeface="Cambria" pitchFamily="18" charset="0"/>
              </a:rPr>
              <a:t>Unit – V </a:t>
            </a:r>
            <a:r>
              <a:rPr lang="en-US" b="1" dirty="0" smtClean="0">
                <a:latin typeface="Cambria" pitchFamily="18" charset="0"/>
                <a:ea typeface="Cambria" pitchFamily="18" charset="0"/>
              </a:rPr>
              <a:t>Transaction Concept: </a:t>
            </a:r>
          </a:p>
          <a:p>
            <a:r>
              <a:rPr lang="en-US" dirty="0" smtClean="0">
                <a:latin typeface="Cambria" pitchFamily="18" charset="0"/>
                <a:ea typeface="Cambria" pitchFamily="18" charset="0"/>
              </a:rPr>
              <a:t>Transaction State, ACID properties, Concurrent Executions in conflict resolution, </a:t>
            </a:r>
            <a:r>
              <a:rPr lang="en-US" dirty="0" err="1" smtClean="0">
                <a:latin typeface="Cambria" pitchFamily="18" charset="0"/>
                <a:ea typeface="Cambria" pitchFamily="18" charset="0"/>
              </a:rPr>
              <a:t>Serializability</a:t>
            </a:r>
            <a:r>
              <a:rPr lang="en-US" dirty="0" smtClean="0">
                <a:latin typeface="Cambria" pitchFamily="18" charset="0"/>
                <a:ea typeface="Cambria" pitchFamily="18" charset="0"/>
              </a:rPr>
              <a:t>, Recoverability, Implementation of Isolation, Testing for </a:t>
            </a:r>
            <a:r>
              <a:rPr lang="en-US" dirty="0" err="1" smtClean="0">
                <a:latin typeface="Cambria" pitchFamily="18" charset="0"/>
                <a:ea typeface="Cambria" pitchFamily="18" charset="0"/>
              </a:rPr>
              <a:t>Serializability</a:t>
            </a:r>
            <a:r>
              <a:rPr lang="en-US" dirty="0" smtClean="0">
                <a:latin typeface="Cambria" pitchFamily="18" charset="0"/>
                <a:ea typeface="Cambria" pitchFamily="18" charset="0"/>
              </a:rPr>
              <a:t>, lock based, time stamp based, optimistic, concurrency protocols, Deadlocks, Failure Classification, Storage, Recovery and Atomicity, Recovery algorithm. </a:t>
            </a:r>
          </a:p>
          <a:p>
            <a:r>
              <a:rPr lang="en-US" dirty="0" smtClean="0">
                <a:latin typeface="Cambria" pitchFamily="18" charset="0"/>
                <a:ea typeface="Cambria" pitchFamily="18" charset="0"/>
              </a:rPr>
              <a:t>Introduction to indexing: B+ trees, B+ trees operations.</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4282" y="107140"/>
            <a:ext cx="9001188" cy="4247317"/>
          </a:xfrm>
          <a:prstGeom prst="rect">
            <a:avLst/>
          </a:prstGeom>
        </p:spPr>
        <p:txBody>
          <a:bodyPr wrap="square">
            <a:spAutoFit/>
          </a:bodyPr>
          <a:lstStyle/>
          <a:p>
            <a:pPr algn="ctr">
              <a:lnSpc>
                <a:spcPct val="150000"/>
              </a:lnSpc>
            </a:pPr>
            <a:r>
              <a:rPr lang="en-IN" sz="2000" dirty="0" smtClean="0">
                <a:latin typeface="Cambria" pitchFamily="18" charset="0"/>
                <a:ea typeface="Cambria" pitchFamily="18" charset="0"/>
                <a:sym typeface="Wingdings" pitchFamily="2" charset="2"/>
              </a:rPr>
              <a:t>UNIT-I</a:t>
            </a:r>
          </a:p>
          <a:p>
            <a:pPr>
              <a:lnSpc>
                <a:spcPct val="150000"/>
              </a:lnSpc>
            </a:pPr>
            <a:r>
              <a:rPr lang="en-IN" sz="2000" dirty="0" smtClean="0">
                <a:latin typeface="Cambria" pitchFamily="18" charset="0"/>
                <a:ea typeface="Cambria" pitchFamily="18" charset="0"/>
                <a:sym typeface="Wingdings" pitchFamily="2" charset="2"/>
              </a:rPr>
              <a:t></a:t>
            </a:r>
            <a:r>
              <a:rPr lang="en-IN" sz="2000" dirty="0" smtClean="0">
                <a:latin typeface="Cambria" pitchFamily="18" charset="0"/>
                <a:ea typeface="Cambria" pitchFamily="18" charset="0"/>
              </a:rPr>
              <a:t>Introduction to Database system</a:t>
            </a:r>
          </a:p>
          <a:p>
            <a:pPr>
              <a:lnSpc>
                <a:spcPct val="150000"/>
              </a:lnSpc>
            </a:pPr>
            <a:r>
              <a:rPr lang="en-IN" sz="2000" dirty="0" smtClean="0">
                <a:latin typeface="Cambria" pitchFamily="18" charset="0"/>
                <a:ea typeface="Cambria" pitchFamily="18" charset="0"/>
                <a:sym typeface="Wingdings" pitchFamily="2" charset="2"/>
              </a:rPr>
              <a:t></a:t>
            </a:r>
            <a:r>
              <a:rPr lang="en-IN" sz="2000" dirty="0" smtClean="0">
                <a:latin typeface="Cambria" pitchFamily="18" charset="0"/>
                <a:ea typeface="Cambria" pitchFamily="18" charset="0"/>
              </a:rPr>
              <a:t>Characteristics (Database Vs File System)</a:t>
            </a:r>
          </a:p>
          <a:p>
            <a:pPr>
              <a:lnSpc>
                <a:spcPct val="150000"/>
              </a:lnSpc>
            </a:pPr>
            <a:r>
              <a:rPr lang="en-IN" sz="2000" dirty="0" smtClean="0">
                <a:latin typeface="Cambria" pitchFamily="18" charset="0"/>
                <a:ea typeface="Cambria" pitchFamily="18" charset="0"/>
                <a:sym typeface="Wingdings" pitchFamily="2" charset="2"/>
              </a:rPr>
              <a:t></a:t>
            </a:r>
            <a:r>
              <a:rPr lang="en-IN" sz="2000" dirty="0" smtClean="0">
                <a:latin typeface="Cambria" pitchFamily="18" charset="0"/>
                <a:ea typeface="Cambria" pitchFamily="18" charset="0"/>
              </a:rPr>
              <a:t>Database Users</a:t>
            </a:r>
          </a:p>
          <a:p>
            <a:pPr>
              <a:lnSpc>
                <a:spcPct val="150000"/>
              </a:lnSpc>
            </a:pPr>
            <a:r>
              <a:rPr lang="en-IN" sz="2000" dirty="0" smtClean="0">
                <a:latin typeface="Cambria" pitchFamily="18" charset="0"/>
                <a:ea typeface="Cambria" pitchFamily="18" charset="0"/>
                <a:sym typeface="Wingdings" pitchFamily="2" charset="2"/>
              </a:rPr>
              <a:t></a:t>
            </a:r>
            <a:r>
              <a:rPr lang="en-IN" sz="2000" dirty="0" smtClean="0">
                <a:latin typeface="Cambria" pitchFamily="18" charset="0"/>
                <a:ea typeface="Cambria" pitchFamily="18" charset="0"/>
              </a:rPr>
              <a:t>Advantages </a:t>
            </a:r>
            <a:r>
              <a:rPr lang="en-IN" sz="2000" dirty="0">
                <a:latin typeface="Cambria" pitchFamily="18" charset="0"/>
                <a:ea typeface="Cambria" pitchFamily="18" charset="0"/>
              </a:rPr>
              <a:t>of Database systems, Database applications. </a:t>
            </a:r>
            <a:endParaRPr lang="en-IN" sz="2000" dirty="0" smtClean="0">
              <a:latin typeface="Cambria" pitchFamily="18" charset="0"/>
              <a:ea typeface="Cambria" pitchFamily="18" charset="0"/>
            </a:endParaRPr>
          </a:p>
          <a:p>
            <a:pPr>
              <a:lnSpc>
                <a:spcPct val="150000"/>
              </a:lnSpc>
            </a:pPr>
            <a:r>
              <a:rPr lang="en-IN" sz="2000" dirty="0" smtClean="0">
                <a:latin typeface="Cambria" pitchFamily="18" charset="0"/>
                <a:ea typeface="Cambria" pitchFamily="18" charset="0"/>
                <a:sym typeface="Wingdings" pitchFamily="2" charset="2"/>
              </a:rPr>
              <a:t></a:t>
            </a:r>
            <a:r>
              <a:rPr lang="en-IN" sz="2000" dirty="0" smtClean="0">
                <a:latin typeface="Cambria" pitchFamily="18" charset="0"/>
                <a:ea typeface="Cambria" pitchFamily="18" charset="0"/>
              </a:rPr>
              <a:t>Brief </a:t>
            </a:r>
            <a:r>
              <a:rPr lang="en-IN" sz="2000" dirty="0">
                <a:latin typeface="Cambria" pitchFamily="18" charset="0"/>
                <a:ea typeface="Cambria" pitchFamily="18" charset="0"/>
              </a:rPr>
              <a:t>introduction of different Data </a:t>
            </a:r>
            <a:r>
              <a:rPr lang="en-IN" sz="2000" dirty="0" smtClean="0">
                <a:latin typeface="Cambria" pitchFamily="18" charset="0"/>
                <a:ea typeface="Cambria" pitchFamily="18" charset="0"/>
              </a:rPr>
              <a:t>Models</a:t>
            </a:r>
          </a:p>
          <a:p>
            <a:pPr>
              <a:lnSpc>
                <a:spcPct val="150000"/>
              </a:lnSpc>
            </a:pPr>
            <a:r>
              <a:rPr lang="en-IN" sz="2000" dirty="0" smtClean="0">
                <a:latin typeface="Cambria" pitchFamily="18" charset="0"/>
                <a:ea typeface="Cambria" pitchFamily="18" charset="0"/>
                <a:sym typeface="Wingdings" pitchFamily="2" charset="2"/>
              </a:rPr>
              <a:t></a:t>
            </a:r>
            <a:r>
              <a:rPr lang="en-IN" sz="2000" dirty="0" smtClean="0">
                <a:latin typeface="Cambria" pitchFamily="18" charset="0"/>
                <a:ea typeface="Cambria" pitchFamily="18" charset="0"/>
              </a:rPr>
              <a:t>Concepts </a:t>
            </a:r>
            <a:r>
              <a:rPr lang="en-IN" sz="2000" dirty="0">
                <a:latin typeface="Cambria" pitchFamily="18" charset="0"/>
                <a:ea typeface="Cambria" pitchFamily="18" charset="0"/>
              </a:rPr>
              <a:t>of Schema, Instance and data </a:t>
            </a:r>
            <a:r>
              <a:rPr lang="en-IN" sz="2000" dirty="0" smtClean="0">
                <a:latin typeface="Cambria" pitchFamily="18" charset="0"/>
                <a:ea typeface="Cambria" pitchFamily="18" charset="0"/>
              </a:rPr>
              <a:t>independence</a:t>
            </a:r>
          </a:p>
          <a:p>
            <a:pPr>
              <a:lnSpc>
                <a:spcPct val="150000"/>
              </a:lnSpc>
            </a:pPr>
            <a:r>
              <a:rPr lang="en-IN" sz="2000" dirty="0" smtClean="0">
                <a:latin typeface="Cambria" pitchFamily="18" charset="0"/>
                <a:ea typeface="Cambria" pitchFamily="18" charset="0"/>
                <a:sym typeface="Wingdings" pitchFamily="2" charset="2"/>
              </a:rPr>
              <a:t></a:t>
            </a:r>
            <a:r>
              <a:rPr lang="en-IN" sz="2000" dirty="0" smtClean="0">
                <a:latin typeface="Cambria" pitchFamily="18" charset="0"/>
                <a:ea typeface="Cambria" pitchFamily="18" charset="0"/>
              </a:rPr>
              <a:t>Three </a:t>
            </a:r>
            <a:r>
              <a:rPr lang="en-IN" sz="2000" dirty="0">
                <a:latin typeface="Cambria" pitchFamily="18" charset="0"/>
                <a:ea typeface="Cambria" pitchFamily="18" charset="0"/>
              </a:rPr>
              <a:t>tier schema architecture for data </a:t>
            </a:r>
            <a:r>
              <a:rPr lang="en-IN" sz="2000" dirty="0" smtClean="0">
                <a:latin typeface="Cambria" pitchFamily="18" charset="0"/>
                <a:ea typeface="Cambria" pitchFamily="18" charset="0"/>
              </a:rPr>
              <a:t>independence</a:t>
            </a:r>
          </a:p>
          <a:p>
            <a:pPr>
              <a:lnSpc>
                <a:spcPct val="150000"/>
              </a:lnSpc>
            </a:pPr>
            <a:r>
              <a:rPr lang="en-IN" sz="2000" dirty="0" smtClean="0">
                <a:latin typeface="Cambria" pitchFamily="18" charset="0"/>
                <a:ea typeface="Cambria" pitchFamily="18" charset="0"/>
                <a:sym typeface="Wingdings" pitchFamily="2" charset="2"/>
              </a:rPr>
              <a:t></a:t>
            </a:r>
            <a:r>
              <a:rPr lang="en-IN" sz="2000" dirty="0" smtClean="0">
                <a:latin typeface="Cambria" pitchFamily="18" charset="0"/>
                <a:ea typeface="Cambria" pitchFamily="18" charset="0"/>
              </a:rPr>
              <a:t>Database </a:t>
            </a:r>
            <a:r>
              <a:rPr lang="en-IN" sz="2000" dirty="0">
                <a:latin typeface="Cambria" pitchFamily="18" charset="0"/>
                <a:ea typeface="Cambria" pitchFamily="18" charset="0"/>
              </a:rPr>
              <a:t>system structure, environment</a:t>
            </a:r>
            <a:endParaRPr lang="en-US" sz="20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two white cards with black text&#10;&#10;Description automatically generated">
            <a:extLst>
              <a:ext uri="{FF2B5EF4-FFF2-40B4-BE49-F238E27FC236}">
                <a16:creationId xmlns="" xmlns:a16="http://schemas.microsoft.com/office/drawing/2014/main" id="{C7B71A1F-D28B-AD47-C19E-A7024F3657DF}"/>
              </a:ext>
            </a:extLst>
          </p:cNvPr>
          <p:cNvPicPr>
            <a:picLocks noChangeAspect="1"/>
          </p:cNvPicPr>
          <p:nvPr/>
        </p:nvPicPr>
        <p:blipFill rotWithShape="1">
          <a:blip r:embed="rId2">
            <a:extLst>
              <a:ext uri="{28A0092B-C50C-407E-A947-70E740481C1C}">
                <a14:useLocalDpi xmlns="" xmlns:a14="http://schemas.microsoft.com/office/drawing/2010/main" val="0"/>
              </a:ext>
            </a:extLst>
          </a:blip>
          <a:srcRect l="9856" t="8652" r="9718" b="8766"/>
          <a:stretch/>
        </p:blipFill>
        <p:spPr>
          <a:xfrm>
            <a:off x="928662" y="1071553"/>
            <a:ext cx="7358114" cy="3268289"/>
          </a:xfrm>
          <a:prstGeom prst="rect">
            <a:avLst/>
          </a:prstGeom>
          <a:ln>
            <a:noFill/>
          </a:ln>
          <a:effectLst>
            <a:outerShdw blurRad="292100" dist="139700" dir="2700000" algn="tl" rotWithShape="0">
              <a:srgbClr val="333333">
                <a:alpha val="65000"/>
              </a:srgbClr>
            </a:outerShdw>
          </a:effectLst>
        </p:spPr>
      </p:pic>
      <p:sp>
        <p:nvSpPr>
          <p:cNvPr id="3" name="Rectangle 2"/>
          <p:cNvSpPr/>
          <p:nvPr/>
        </p:nvSpPr>
        <p:spPr>
          <a:xfrm>
            <a:off x="1500166" y="267875"/>
            <a:ext cx="6643734" cy="646331"/>
          </a:xfrm>
          <a:prstGeom prst="rect">
            <a:avLst/>
          </a:prstGeom>
        </p:spPr>
        <p:txBody>
          <a:bodyPr wrap="square">
            <a:spAutoFit/>
          </a:bodyPr>
          <a:lstStyle/>
          <a:p>
            <a:r>
              <a:rPr lang="en-IN" sz="3600" dirty="0" smtClean="0">
                <a:latin typeface="Cambria" pitchFamily="18" charset="0"/>
                <a:ea typeface="Cambria" pitchFamily="18" charset="0"/>
              </a:rPr>
              <a:t>Introduction to Database system</a:t>
            </a:r>
            <a:endParaRPr lang="en-US" sz="3600" dirty="0">
              <a:latin typeface="Cambria" pitchFamily="18" charset="0"/>
              <a:ea typeface="Cambria"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160719"/>
            <a:ext cx="8429684" cy="584775"/>
          </a:xfrm>
          <a:prstGeom prst="rect">
            <a:avLst/>
          </a:prstGeom>
        </p:spPr>
        <p:txBody>
          <a:bodyPr wrap="square">
            <a:spAutoFit/>
          </a:bodyPr>
          <a:lstStyle/>
          <a:p>
            <a:r>
              <a:rPr lang="en-IN" sz="3200" dirty="0" smtClean="0">
                <a:latin typeface="Cambria" pitchFamily="18" charset="0"/>
                <a:ea typeface="Cambria" pitchFamily="18" charset="0"/>
              </a:rPr>
              <a:t>Characteristics (Database Vs File System)</a:t>
            </a:r>
            <a:endParaRPr lang="en-US" sz="3200" dirty="0">
              <a:latin typeface="Cambria" pitchFamily="18" charset="0"/>
              <a:ea typeface="Cambria" pitchFamily="18" charset="0"/>
            </a:endParaRPr>
          </a:p>
        </p:txBody>
      </p:sp>
      <p:pic>
        <p:nvPicPr>
          <p:cNvPr id="1026" name="Picture 2" descr="C:\Users\RATHNA SRI\Desktop\Untitled.jpg"/>
          <p:cNvPicPr>
            <a:picLocks noChangeAspect="1" noChangeArrowheads="1"/>
          </p:cNvPicPr>
          <p:nvPr/>
        </p:nvPicPr>
        <p:blipFill>
          <a:blip r:embed="rId2"/>
          <a:srcRect/>
          <a:stretch>
            <a:fillRect/>
          </a:stretch>
        </p:blipFill>
        <p:spPr bwMode="auto">
          <a:xfrm>
            <a:off x="44450" y="1026319"/>
            <a:ext cx="9055100" cy="3090863"/>
          </a:xfrm>
          <a:prstGeom prst="rect">
            <a:avLst/>
          </a:prstGeom>
          <a:noFill/>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015B37-C110-D25A-013D-7581408AAFD4}"/>
              </a:ext>
            </a:extLst>
          </p:cNvPr>
          <p:cNvSpPr txBox="1">
            <a:spLocks/>
          </p:cNvSpPr>
          <p:nvPr/>
        </p:nvSpPr>
        <p:spPr>
          <a:xfrm>
            <a:off x="0" y="107139"/>
            <a:ext cx="9144000" cy="45638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32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Cambria" pitchFamily="18" charset="0"/>
                <a:ea typeface="Cambria" pitchFamily="18" charset="0"/>
                <a:cs typeface="+mj-cs"/>
              </a:rPr>
              <a:t>File Systems</a:t>
            </a:r>
            <a:endParaRPr kumimoji="0" lang="en-IN" sz="32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Cambria" pitchFamily="18" charset="0"/>
              <a:ea typeface="Cambria" pitchFamily="18" charset="0"/>
              <a:cs typeface="+mj-cs"/>
            </a:endParaRPr>
          </a:p>
        </p:txBody>
      </p:sp>
      <p:sp>
        <p:nvSpPr>
          <p:cNvPr id="3" name="Content Placeholder 2">
            <a:extLst>
              <a:ext uri="{FF2B5EF4-FFF2-40B4-BE49-F238E27FC236}">
                <a16:creationId xmlns="" xmlns:a16="http://schemas.microsoft.com/office/drawing/2014/main" id="{AB1122DB-3F00-6BDE-AC08-3D7D0D3B7DF9}"/>
              </a:ext>
            </a:extLst>
          </p:cNvPr>
          <p:cNvSpPr txBox="1">
            <a:spLocks/>
          </p:cNvSpPr>
          <p:nvPr/>
        </p:nvSpPr>
        <p:spPr>
          <a:xfrm>
            <a:off x="1" y="696503"/>
            <a:ext cx="9144000" cy="3857652"/>
          </a:xfrm>
          <a:prstGeom prst="rect">
            <a:avLst/>
          </a:prstGeom>
        </p:spPr>
        <p:txBody>
          <a:bodyPr>
            <a:normAutofit fontScale="85000" lnSpcReduction="20000"/>
          </a:bodyPr>
          <a:lstStyle/>
          <a:p>
            <a:pPr marL="365760" marR="0" lvl="0" indent="-256032" algn="just"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A </a:t>
            </a: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file system </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is a method used by </a:t>
            </a: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operating systems </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to </a:t>
            </a:r>
          </a:p>
          <a:p>
            <a:pPr marL="365760" marR="0" lvl="0" indent="-256032" algn="just"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organize and store files on storage devices such as </a:t>
            </a: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hard drives or solid-state drives</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 </a:t>
            </a:r>
          </a:p>
          <a:p>
            <a:pPr marL="365760" marR="0" lvl="0" indent="-256032" algn="just"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It provides a </a:t>
            </a: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hierarchical structure</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 for </a:t>
            </a: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storing and retrieving files</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 making it easier for users to navigate through their data. </a:t>
            </a:r>
          </a:p>
          <a:p>
            <a:pPr marL="365760" marR="0" lvl="0" indent="-256032" algn="just"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A file system typically </a:t>
            </a: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consists of directories </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(also known as </a:t>
            </a: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folders</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 that </a:t>
            </a: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contain files.</a:t>
            </a:r>
          </a:p>
          <a:p>
            <a:pPr marL="365760" marR="0" lvl="0" indent="-256032" algn="just"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Required special programs to answer user questions.</a:t>
            </a:r>
          </a:p>
          <a:p>
            <a:pPr marL="365760" marR="0" lvl="0" indent="-256032" algn="just"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Basic Operation: </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File Creation, File Reading and Writing, File Renaming, and Deletion.</a:t>
            </a:r>
          </a:p>
          <a:p>
            <a:pPr marL="365760" marR="0" lvl="0" indent="-256032" algn="just"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Functionalities of a file system: </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File organization, File Access, File Storage.</a:t>
            </a:r>
          </a:p>
          <a:p>
            <a:pPr marL="365760" marR="0" lvl="0" indent="-256032" algn="just"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IN" sz="2400" b="1" i="0" u="none" strike="noStrike" kern="1200" cap="none" spc="0" normalizeH="0" baseline="0" noProof="0" dirty="0" smtClean="0">
                <a:ln>
                  <a:noFill/>
                </a:ln>
                <a:solidFill>
                  <a:schemeClr val="tx1"/>
                </a:solidFill>
                <a:effectLst/>
                <a:uLnTx/>
                <a:uFillTx/>
                <a:latin typeface="Cambria" pitchFamily="18" charset="0"/>
                <a:ea typeface="Cambria" pitchFamily="18" charset="0"/>
              </a:rPr>
              <a:t>Use cases: </a:t>
            </a:r>
            <a:r>
              <a:rPr kumimoji="0" lang="en-IN" sz="2400" b="0" i="0" u="none" strike="noStrike" kern="1200" cap="none" spc="0" normalizeH="0" baseline="0" noProof="0" dirty="0" smtClean="0">
                <a:ln>
                  <a:noFill/>
                </a:ln>
                <a:solidFill>
                  <a:schemeClr val="tx1"/>
                </a:solidFill>
                <a:effectLst/>
                <a:uLnTx/>
                <a:uFillTx/>
                <a:latin typeface="Cambria" pitchFamily="18" charset="0"/>
                <a:ea typeface="Cambria" pitchFamily="18" charset="0"/>
              </a:rPr>
              <a:t>Personal Computing, Enterprise File Storage, Multimedia and Content Management</a:t>
            </a:r>
            <a:endParaRPr kumimoji="0" lang="en-IN" sz="2400" b="0" i="0" u="none" strike="noStrike" kern="1200" cap="none" spc="0" normalizeH="0" baseline="0" noProof="0" dirty="0">
              <a:ln>
                <a:noFill/>
              </a:ln>
              <a:solidFill>
                <a:schemeClr val="tx1"/>
              </a:solidFill>
              <a:effectLst/>
              <a:uLnTx/>
              <a:uFillTx/>
              <a:latin typeface="Cambria" pitchFamily="18" charset="0"/>
              <a:ea typeface="Cambria" pitchFamily="18" charset="0"/>
            </a:endParaRPr>
          </a:p>
        </p:txBody>
      </p:sp>
      <p:pic>
        <p:nvPicPr>
          <p:cNvPr id="4" name="Picture 3" descr="A close-up of a folder&#10;&#10;Description automatically generated">
            <a:extLst>
              <a:ext uri="{FF2B5EF4-FFF2-40B4-BE49-F238E27FC236}">
                <a16:creationId xmlns="" xmlns:a16="http://schemas.microsoft.com/office/drawing/2014/main" id="{1881043A-4E03-6AEC-D87F-F4DEF77CC900}"/>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286646" y="71420"/>
            <a:ext cx="1605367" cy="726092"/>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9">
            <a:extLst>
              <a:ext uri="{FF2B5EF4-FFF2-40B4-BE49-F238E27FC236}">
                <a16:creationId xmlns="" xmlns:a16="http://schemas.microsoft.com/office/drawing/2014/main" id="{FB869131-809F-4714-9B05-385CAF009A1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8ECC8A37-B444-B692-F39D-690270AD26EF}"/>
              </a:ext>
            </a:extLst>
          </p:cNvPr>
          <p:cNvSpPr>
            <a:spLocks noGrp="1"/>
          </p:cNvSpPr>
          <p:nvPr>
            <p:ph type="title"/>
          </p:nvPr>
        </p:nvSpPr>
        <p:spPr>
          <a:xfrm>
            <a:off x="2500300" y="71420"/>
            <a:ext cx="6265015" cy="428627"/>
          </a:xfrm>
        </p:spPr>
        <p:txBody>
          <a:bodyPr anchor="b">
            <a:noAutofit/>
          </a:bodyPr>
          <a:lstStyle/>
          <a:p>
            <a:pPr algn="ctr"/>
            <a:r>
              <a:rPr lang="en-IN" sz="3200" dirty="0">
                <a:latin typeface="Cambria" pitchFamily="18" charset="0"/>
                <a:ea typeface="Cambria" pitchFamily="18" charset="0"/>
              </a:rPr>
              <a:t>Identified Issues</a:t>
            </a:r>
          </a:p>
        </p:txBody>
      </p:sp>
      <p:sp>
        <p:nvSpPr>
          <p:cNvPr id="3" name="Content Placeholder 2">
            <a:extLst>
              <a:ext uri="{FF2B5EF4-FFF2-40B4-BE49-F238E27FC236}">
                <a16:creationId xmlns="" xmlns:a16="http://schemas.microsoft.com/office/drawing/2014/main" id="{F6444999-9CC2-A97A-E84A-C119362AAE91}"/>
              </a:ext>
            </a:extLst>
          </p:cNvPr>
          <p:cNvSpPr>
            <a:spLocks noGrp="1"/>
          </p:cNvSpPr>
          <p:nvPr>
            <p:ph idx="1"/>
          </p:nvPr>
        </p:nvSpPr>
        <p:spPr>
          <a:xfrm>
            <a:off x="3714744" y="500049"/>
            <a:ext cx="5357818" cy="2786082"/>
          </a:xfrm>
        </p:spPr>
        <p:txBody>
          <a:bodyPr>
            <a:noAutofit/>
          </a:bodyPr>
          <a:lstStyle/>
          <a:p>
            <a:pPr>
              <a:lnSpc>
                <a:spcPct val="150000"/>
              </a:lnSpc>
            </a:pPr>
            <a:r>
              <a:rPr lang="en-IN" sz="2400" b="1" dirty="0">
                <a:latin typeface="Cambria" pitchFamily="18" charset="0"/>
                <a:ea typeface="Cambria" pitchFamily="18" charset="0"/>
              </a:rPr>
              <a:t>Redundancy: </a:t>
            </a:r>
            <a:r>
              <a:rPr lang="en-IN" sz="2400" dirty="0">
                <a:latin typeface="Cambria" pitchFamily="18" charset="0"/>
                <a:ea typeface="Cambria" pitchFamily="18" charset="0"/>
              </a:rPr>
              <a:t>Company address in all the employee records.</a:t>
            </a:r>
          </a:p>
          <a:p>
            <a:pPr>
              <a:lnSpc>
                <a:spcPct val="150000"/>
              </a:lnSpc>
            </a:pPr>
            <a:r>
              <a:rPr lang="en-IN" sz="2400" b="1" dirty="0">
                <a:latin typeface="Cambria" pitchFamily="18" charset="0"/>
                <a:ea typeface="Cambria" pitchFamily="18" charset="0"/>
              </a:rPr>
              <a:t>Data Integrity &amp; Consistency:  </a:t>
            </a:r>
            <a:r>
              <a:rPr lang="en-IN" sz="2400" dirty="0">
                <a:latin typeface="Cambria" pitchFamily="18" charset="0"/>
                <a:ea typeface="Cambria" pitchFamily="18" charset="0"/>
              </a:rPr>
              <a:t>Duplication of employee IDs.</a:t>
            </a:r>
          </a:p>
          <a:p>
            <a:pPr>
              <a:lnSpc>
                <a:spcPct val="150000"/>
              </a:lnSpc>
            </a:pPr>
            <a:r>
              <a:rPr lang="en-IN" sz="2400" b="1" dirty="0">
                <a:latin typeface="Cambria" pitchFamily="18" charset="0"/>
                <a:ea typeface="Cambria" pitchFamily="18" charset="0"/>
              </a:rPr>
              <a:t>Data Retrieval:  </a:t>
            </a:r>
            <a:r>
              <a:rPr lang="en-IN" sz="2400" dirty="0">
                <a:latin typeface="Cambria" pitchFamily="18" charset="0"/>
                <a:ea typeface="Cambria" pitchFamily="18" charset="0"/>
              </a:rPr>
              <a:t>specific employee information ( Search, Open the file)</a:t>
            </a:r>
          </a:p>
          <a:p>
            <a:pPr>
              <a:lnSpc>
                <a:spcPct val="150000"/>
              </a:lnSpc>
            </a:pPr>
            <a:r>
              <a:rPr lang="en-IN" sz="2400" b="1" dirty="0">
                <a:latin typeface="Cambria" pitchFamily="18" charset="0"/>
                <a:ea typeface="Cambria" pitchFamily="18" charset="0"/>
              </a:rPr>
              <a:t>Data security and access </a:t>
            </a:r>
            <a:r>
              <a:rPr lang="en-IN" sz="2400" b="1" dirty="0" smtClean="0">
                <a:latin typeface="Cambria" pitchFamily="18" charset="0"/>
                <a:ea typeface="Cambria" pitchFamily="18" charset="0"/>
              </a:rPr>
              <a:t>control</a:t>
            </a:r>
          </a:p>
        </p:txBody>
      </p:sp>
      <p:pic>
        <p:nvPicPr>
          <p:cNvPr id="5" name="Picture 4" descr="A cartoon of a knife&#10;&#10;Description automatically generated">
            <a:extLst>
              <a:ext uri="{FF2B5EF4-FFF2-40B4-BE49-F238E27FC236}">
                <a16:creationId xmlns="" xmlns:a16="http://schemas.microsoft.com/office/drawing/2014/main" id="{29DBDAA5-DF7E-6991-205D-7D945717CFAA}"/>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03528" y="850138"/>
            <a:ext cx="3296902" cy="3789426"/>
          </a:xfrm>
          <a:prstGeom prst="rect">
            <a:avLst/>
          </a:prstGeom>
        </p:spPr>
      </p:pic>
      <p:sp>
        <p:nvSpPr>
          <p:cNvPr id="6" name="TextBox 5">
            <a:extLst>
              <a:ext uri="{FF2B5EF4-FFF2-40B4-BE49-F238E27FC236}">
                <a16:creationId xmlns="" xmlns:a16="http://schemas.microsoft.com/office/drawing/2014/main" id="{9F6D6F9C-3BB7-8395-5FCF-D3A3AAA8E707}"/>
              </a:ext>
            </a:extLst>
          </p:cNvPr>
          <p:cNvSpPr txBox="1"/>
          <p:nvPr/>
        </p:nvSpPr>
        <p:spPr>
          <a:xfrm rot="19706048">
            <a:off x="-334797" y="2046143"/>
            <a:ext cx="4582567" cy="1107996"/>
          </a:xfrm>
          <a:prstGeom prst="rect">
            <a:avLst/>
          </a:prstGeom>
          <a:noFill/>
        </p:spPr>
        <p:txBody>
          <a:bodyPr wrap="square" rtlCol="0">
            <a:spAutoFit/>
          </a:bodyPr>
          <a:lstStyle/>
          <a:p>
            <a:r>
              <a:rPr lang="en-IN" sz="6600" b="1" dirty="0">
                <a:solidFill>
                  <a:srgbClr val="FF0000"/>
                </a:solidFill>
              </a:rPr>
              <a:t>SOLUTION</a:t>
            </a:r>
          </a:p>
        </p:txBody>
      </p:sp>
    </p:spTree>
    <p:extLst>
      <p:ext uri="{BB962C8B-B14F-4D97-AF65-F5344CB8AC3E}">
        <p14:creationId xmlns="" xmlns:p14="http://schemas.microsoft.com/office/powerpoint/2010/main" val="37676865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fade">
                                      <p:cBhvr>
                                        <p:cTn id="31" dur="1000"/>
                                        <p:tgtEl>
                                          <p:spTgt spid="6">
                                            <p:txEl>
                                              <p:pRg st="0" end="0"/>
                                            </p:txEl>
                                          </p:spTgt>
                                        </p:tgtEl>
                                      </p:cBhvr>
                                    </p:animEffect>
                                    <p:anim calcmode="lin" valueType="num">
                                      <p:cBhvr>
                                        <p:cTn id="3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8FC261-30CA-C6DC-1D8B-AF5DC36DBE2B}"/>
              </a:ext>
            </a:extLst>
          </p:cNvPr>
          <p:cNvSpPr>
            <a:spLocks noGrp="1"/>
          </p:cNvSpPr>
          <p:nvPr>
            <p:ph type="title"/>
          </p:nvPr>
        </p:nvSpPr>
        <p:spPr>
          <a:xfrm>
            <a:off x="142844" y="107141"/>
            <a:ext cx="7886700" cy="375049"/>
          </a:xfrm>
        </p:spPr>
        <p:txBody>
          <a:bodyPr>
            <a:normAutofit fontScale="90000"/>
          </a:bodyPr>
          <a:lstStyle/>
          <a:p>
            <a:r>
              <a:rPr lang="en-IN" dirty="0"/>
              <a:t>DBMS</a:t>
            </a:r>
          </a:p>
        </p:txBody>
      </p:sp>
      <p:sp>
        <p:nvSpPr>
          <p:cNvPr id="3" name="Content Placeholder 2">
            <a:extLst>
              <a:ext uri="{FF2B5EF4-FFF2-40B4-BE49-F238E27FC236}">
                <a16:creationId xmlns="" xmlns:a16="http://schemas.microsoft.com/office/drawing/2014/main" id="{F3125B58-F51D-28E6-17B9-F8050A283E39}"/>
              </a:ext>
            </a:extLst>
          </p:cNvPr>
          <p:cNvSpPr>
            <a:spLocks noGrp="1"/>
          </p:cNvSpPr>
          <p:nvPr>
            <p:ph idx="1"/>
          </p:nvPr>
        </p:nvSpPr>
        <p:spPr>
          <a:xfrm>
            <a:off x="71406" y="589347"/>
            <a:ext cx="8786874" cy="3750495"/>
          </a:xfrm>
        </p:spPr>
        <p:txBody>
          <a:bodyPr>
            <a:noAutofit/>
          </a:bodyPr>
          <a:lstStyle/>
          <a:p>
            <a:pPr algn="just"/>
            <a:r>
              <a:rPr lang="en-IN" sz="2000" dirty="0">
                <a:latin typeface="Cambria" pitchFamily="18" charset="0"/>
                <a:ea typeface="Cambria" pitchFamily="18" charset="0"/>
              </a:rPr>
              <a:t>A DBMS, or database management system, is </a:t>
            </a:r>
            <a:r>
              <a:rPr lang="en-IN" sz="2000" b="1" dirty="0">
                <a:latin typeface="Cambria" pitchFamily="18" charset="0"/>
                <a:ea typeface="Cambria" pitchFamily="18" charset="0"/>
              </a:rPr>
              <a:t>a software application </a:t>
            </a:r>
            <a:r>
              <a:rPr lang="en-IN" sz="2000" dirty="0">
                <a:latin typeface="Cambria" pitchFamily="18" charset="0"/>
                <a:ea typeface="Cambria" pitchFamily="18" charset="0"/>
              </a:rPr>
              <a:t>that provides an </a:t>
            </a:r>
            <a:r>
              <a:rPr lang="en-IN" sz="2000" b="1" dirty="0">
                <a:latin typeface="Cambria" pitchFamily="18" charset="0"/>
                <a:ea typeface="Cambria" pitchFamily="18" charset="0"/>
              </a:rPr>
              <a:t>interface to manage databases</a:t>
            </a:r>
            <a:r>
              <a:rPr lang="en-IN" sz="2000" dirty="0">
                <a:latin typeface="Cambria" pitchFamily="18" charset="0"/>
                <a:ea typeface="Cambria" pitchFamily="18" charset="0"/>
              </a:rPr>
              <a:t>.</a:t>
            </a:r>
          </a:p>
          <a:p>
            <a:pPr algn="just"/>
            <a:r>
              <a:rPr lang="en-IN" sz="2000" dirty="0">
                <a:latin typeface="Cambria" pitchFamily="18" charset="0"/>
                <a:ea typeface="Cambria" pitchFamily="18" charset="0"/>
              </a:rPr>
              <a:t>It allows users to </a:t>
            </a:r>
            <a:r>
              <a:rPr lang="en-IN" sz="2000" b="1" dirty="0">
                <a:latin typeface="Cambria" pitchFamily="18" charset="0"/>
                <a:ea typeface="Cambria" pitchFamily="18" charset="0"/>
              </a:rPr>
              <a:t>store, retrieve, update, and delete data </a:t>
            </a:r>
            <a:r>
              <a:rPr lang="en-IN" sz="2000" dirty="0">
                <a:latin typeface="Cambria" pitchFamily="18" charset="0"/>
                <a:ea typeface="Cambria" pitchFamily="18" charset="0"/>
              </a:rPr>
              <a:t>in a structured and organized manner. </a:t>
            </a:r>
          </a:p>
          <a:p>
            <a:pPr algn="just"/>
            <a:r>
              <a:rPr lang="en-IN" sz="2000" dirty="0">
                <a:latin typeface="Cambria" pitchFamily="18" charset="0"/>
                <a:ea typeface="Cambria" pitchFamily="18" charset="0"/>
              </a:rPr>
              <a:t>Data is organized in a structured manner </a:t>
            </a:r>
            <a:r>
              <a:rPr lang="en-IN" sz="2000" b="1" dirty="0">
                <a:latin typeface="Cambria" pitchFamily="18" charset="0"/>
                <a:ea typeface="Cambria" pitchFamily="18" charset="0"/>
              </a:rPr>
              <a:t>using tables, rows, and columns. </a:t>
            </a:r>
          </a:p>
          <a:p>
            <a:pPr algn="just"/>
            <a:r>
              <a:rPr lang="en-IN" sz="2000" b="1" dirty="0">
                <a:latin typeface="Cambria" pitchFamily="18" charset="0"/>
                <a:ea typeface="Cambria" pitchFamily="18" charset="0"/>
              </a:rPr>
              <a:t>Basic Operations: </a:t>
            </a:r>
            <a:r>
              <a:rPr lang="en-IN" sz="2000" dirty="0">
                <a:latin typeface="Cambria" pitchFamily="18" charset="0"/>
                <a:ea typeface="Cambria" pitchFamily="18" charset="0"/>
              </a:rPr>
              <a:t>Data Definition, Manipulation and Querying.</a:t>
            </a:r>
          </a:p>
          <a:p>
            <a:pPr algn="just"/>
            <a:r>
              <a:rPr lang="en-IN" sz="2000" b="1" dirty="0">
                <a:latin typeface="Cambria" pitchFamily="18" charset="0"/>
                <a:ea typeface="Cambria" pitchFamily="18" charset="0"/>
              </a:rPr>
              <a:t>Functionality: </a:t>
            </a:r>
            <a:r>
              <a:rPr lang="en-IN" sz="2000" dirty="0">
                <a:latin typeface="Cambria" pitchFamily="18" charset="0"/>
                <a:ea typeface="Cambria" pitchFamily="18" charset="0"/>
              </a:rPr>
              <a:t>Data Integrity and Security, Data Relationships, Data Scalability and Performance.</a:t>
            </a:r>
          </a:p>
          <a:p>
            <a:pPr algn="just"/>
            <a:r>
              <a:rPr lang="en-IN" sz="2000" b="1" dirty="0">
                <a:latin typeface="Cambria" pitchFamily="18" charset="0"/>
                <a:ea typeface="Cambria" pitchFamily="18" charset="0"/>
              </a:rPr>
              <a:t>Use cases</a:t>
            </a:r>
            <a:r>
              <a:rPr lang="en-IN" sz="2000" dirty="0">
                <a:latin typeface="Cambria" pitchFamily="18" charset="0"/>
                <a:ea typeface="Cambria" pitchFamily="18" charset="0"/>
              </a:rPr>
              <a:t>: Business and Finance:, E-commerce and Retail, Healthcare and Research</a:t>
            </a:r>
          </a:p>
        </p:txBody>
      </p:sp>
    </p:spTree>
    <p:extLst>
      <p:ext uri="{BB962C8B-B14F-4D97-AF65-F5344CB8AC3E}">
        <p14:creationId xmlns="" xmlns:p14="http://schemas.microsoft.com/office/powerpoint/2010/main" val="59253795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3500432" y="3753160"/>
            <a:ext cx="1717675" cy="461665"/>
          </a:xfrm>
          <a:prstGeom prst="rect">
            <a:avLst/>
          </a:prstGeom>
          <a:noFill/>
          <a:ln w="9525">
            <a:noFill/>
            <a:miter lim="800000"/>
            <a:headEnd/>
            <a:tailEnd/>
          </a:ln>
        </p:spPr>
        <p:txBody>
          <a:bodyPr>
            <a:spAutoFit/>
          </a:bodyPr>
          <a:lstStyle/>
          <a:p>
            <a:r>
              <a:rPr lang="en-US" sz="2400" b="1" dirty="0">
                <a:solidFill>
                  <a:srgbClr val="000099"/>
                </a:solidFill>
              </a:rPr>
              <a:t>Database</a:t>
            </a:r>
          </a:p>
        </p:txBody>
      </p:sp>
      <p:pic>
        <p:nvPicPr>
          <p:cNvPr id="3" name="Picture 9" descr="1"/>
          <p:cNvPicPr>
            <a:picLocks noChangeAspect="1" noChangeArrowheads="1"/>
          </p:cNvPicPr>
          <p:nvPr/>
        </p:nvPicPr>
        <p:blipFill>
          <a:blip r:embed="rId2"/>
          <a:srcRect/>
          <a:stretch>
            <a:fillRect/>
          </a:stretch>
        </p:blipFill>
        <p:spPr bwMode="auto">
          <a:xfrm>
            <a:off x="1214414" y="1707364"/>
            <a:ext cx="5916612" cy="1935956"/>
          </a:xfrm>
          <a:prstGeom prst="rect">
            <a:avLst/>
          </a:prstGeom>
          <a:noFill/>
          <a:ln w="9525">
            <a:noFill/>
            <a:miter lim="800000"/>
            <a:headEnd/>
            <a:tailEnd/>
          </a:ln>
        </p:spPr>
      </p:pic>
      <p:sp>
        <p:nvSpPr>
          <p:cNvPr id="4" name="Rectangle 3"/>
          <p:cNvSpPr/>
          <p:nvPr/>
        </p:nvSpPr>
        <p:spPr>
          <a:xfrm>
            <a:off x="357158" y="160718"/>
            <a:ext cx="5214974" cy="523220"/>
          </a:xfrm>
          <a:prstGeom prst="rect">
            <a:avLst/>
          </a:prstGeom>
        </p:spPr>
        <p:txBody>
          <a:bodyPr wrap="square">
            <a:spAutoFit/>
          </a:bodyPr>
          <a:lstStyle/>
          <a:p>
            <a:r>
              <a:rPr lang="en-IN" sz="2800" dirty="0" smtClean="0">
                <a:latin typeface="Cambria" pitchFamily="18" charset="0"/>
                <a:ea typeface="Cambria" pitchFamily="18" charset="0"/>
              </a:rPr>
              <a:t>Database Users</a:t>
            </a:r>
            <a:endParaRPr lang="en-US" sz="28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 xmlns:a16="http://schemas.microsoft.com/office/drawing/2014/main" id="{3FCFD5BF-C74C-4B42-9F3B-A677429C0E5C}"/>
              </a:ext>
            </a:extLst>
          </p:cNvPr>
          <p:cNvSpPr>
            <a:spLocks noGrp="1" noChangeArrowheads="1"/>
          </p:cNvSpPr>
          <p:nvPr>
            <p:ph type="title"/>
          </p:nvPr>
        </p:nvSpPr>
        <p:spPr>
          <a:xfrm>
            <a:off x="457200" y="71438"/>
            <a:ext cx="7772400" cy="285734"/>
          </a:xfrm>
        </p:spPr>
        <p:txBody>
          <a:bodyPr>
            <a:normAutofit fontScale="90000"/>
          </a:bodyPr>
          <a:lstStyle/>
          <a:p>
            <a:pPr algn="ctr">
              <a:defRPr/>
            </a:pPr>
            <a:r>
              <a:rPr lang="en-US" sz="3200" dirty="0">
                <a:solidFill>
                  <a:schemeClr val="accent6">
                    <a:lumMod val="75000"/>
                  </a:schemeClr>
                </a:solidFill>
                <a:latin typeface="Cambria" pitchFamily="18" charset="0"/>
                <a:ea typeface="Cambria" pitchFamily="18" charset="0"/>
                <a:cs typeface="Arial" panose="020B0604020202020204" pitchFamily="34" charset="0"/>
              </a:rPr>
              <a:t>Database Users</a:t>
            </a:r>
          </a:p>
        </p:txBody>
      </p:sp>
      <p:sp>
        <p:nvSpPr>
          <p:cNvPr id="19459" name="Rectangle 3">
            <a:extLst>
              <a:ext uri="{FF2B5EF4-FFF2-40B4-BE49-F238E27FC236}">
                <a16:creationId xmlns="" xmlns:a16="http://schemas.microsoft.com/office/drawing/2014/main" id="{7EC14B99-9BD8-4626-8772-EBEC05CE27F2}"/>
              </a:ext>
            </a:extLst>
          </p:cNvPr>
          <p:cNvSpPr>
            <a:spLocks noGrp="1" noChangeArrowheads="1"/>
          </p:cNvSpPr>
          <p:nvPr>
            <p:ph idx="1"/>
          </p:nvPr>
        </p:nvSpPr>
        <p:spPr>
          <a:xfrm>
            <a:off x="0" y="300046"/>
            <a:ext cx="9144000" cy="3486150"/>
          </a:xfrm>
        </p:spPr>
        <p:txBody>
          <a:bodyPr>
            <a:noAutofit/>
          </a:bodyPr>
          <a:lstStyle/>
          <a:p>
            <a:pPr marL="0" indent="0">
              <a:spcBef>
                <a:spcPts val="0"/>
              </a:spcBef>
              <a:spcAft>
                <a:spcPts val="1200"/>
              </a:spcAft>
              <a:buClr>
                <a:srgbClr val="FF0000"/>
              </a:buClr>
              <a:buNone/>
            </a:pPr>
            <a:r>
              <a:rPr lang="en-US" altLang="en-US" sz="2400" dirty="0">
                <a:latin typeface="Cambria" pitchFamily="18" charset="0"/>
                <a:ea typeface="Cambria" pitchFamily="18" charset="0"/>
                <a:cs typeface="Arial" panose="020B0604020202020204" pitchFamily="34" charset="0"/>
              </a:rPr>
              <a:t>Users are differentiated by the way they expect to interact with the system</a:t>
            </a:r>
          </a:p>
          <a:p>
            <a:pPr>
              <a:spcBef>
                <a:spcPts val="0"/>
              </a:spcBef>
              <a:spcAft>
                <a:spcPts val="1200"/>
              </a:spcAft>
              <a:buClr>
                <a:srgbClr val="FF0000"/>
              </a:buClr>
              <a:buFont typeface="Arial" panose="020B0604020202020204" pitchFamily="34" charset="0"/>
              <a:buChar char="•"/>
            </a:pPr>
            <a:r>
              <a:rPr lang="en-US" altLang="en-US" sz="2400" dirty="0">
                <a:solidFill>
                  <a:srgbClr val="FF0000"/>
                </a:solidFill>
                <a:latin typeface="Cambria" pitchFamily="18" charset="0"/>
                <a:ea typeface="Cambria" pitchFamily="18" charset="0"/>
                <a:cs typeface="Arial" panose="020B0604020202020204" pitchFamily="34" charset="0"/>
              </a:rPr>
              <a:t>Application programmers </a:t>
            </a:r>
            <a:r>
              <a:rPr lang="en-US" altLang="en-US" sz="2400" dirty="0">
                <a:latin typeface="Cambria" pitchFamily="18" charset="0"/>
                <a:ea typeface="Cambria" pitchFamily="18" charset="0"/>
                <a:cs typeface="Arial" panose="020B0604020202020204" pitchFamily="34" charset="0"/>
              </a:rPr>
              <a:t>– interact with system through DML calls</a:t>
            </a:r>
          </a:p>
          <a:p>
            <a:pPr>
              <a:spcBef>
                <a:spcPts val="0"/>
              </a:spcBef>
              <a:spcAft>
                <a:spcPts val="1200"/>
              </a:spcAft>
              <a:buClr>
                <a:srgbClr val="FF0000"/>
              </a:buClr>
              <a:buFont typeface="Arial" panose="020B0604020202020204" pitchFamily="34" charset="0"/>
              <a:buChar char="•"/>
            </a:pPr>
            <a:r>
              <a:rPr lang="en-US" altLang="en-US" sz="2400" dirty="0">
                <a:solidFill>
                  <a:srgbClr val="FF0000"/>
                </a:solidFill>
                <a:latin typeface="Cambria" pitchFamily="18" charset="0"/>
                <a:ea typeface="Cambria" pitchFamily="18" charset="0"/>
                <a:cs typeface="Arial" panose="020B0604020202020204" pitchFamily="34" charset="0"/>
              </a:rPr>
              <a:t>Sophisticated users </a:t>
            </a:r>
            <a:r>
              <a:rPr lang="en-US" altLang="en-US" sz="2400" dirty="0">
                <a:latin typeface="Cambria" pitchFamily="18" charset="0"/>
                <a:ea typeface="Cambria" pitchFamily="18" charset="0"/>
                <a:cs typeface="Arial" panose="020B0604020202020204" pitchFamily="34" charset="0"/>
              </a:rPr>
              <a:t>– form requests in a database query language</a:t>
            </a:r>
          </a:p>
          <a:p>
            <a:pPr>
              <a:spcBef>
                <a:spcPts val="0"/>
              </a:spcBef>
              <a:spcAft>
                <a:spcPts val="1200"/>
              </a:spcAft>
              <a:buClr>
                <a:srgbClr val="FF0000"/>
              </a:buClr>
              <a:buFont typeface="Arial" panose="020B0604020202020204" pitchFamily="34" charset="0"/>
              <a:buChar char="•"/>
            </a:pPr>
            <a:r>
              <a:rPr lang="en-US" altLang="en-US" sz="2400" dirty="0">
                <a:solidFill>
                  <a:srgbClr val="FF0000"/>
                </a:solidFill>
                <a:latin typeface="Cambria" pitchFamily="18" charset="0"/>
                <a:ea typeface="Cambria" pitchFamily="18" charset="0"/>
                <a:cs typeface="Arial" panose="020B0604020202020204" pitchFamily="34" charset="0"/>
              </a:rPr>
              <a:t>Specialized users </a:t>
            </a:r>
            <a:r>
              <a:rPr lang="en-US" altLang="en-US" sz="2400" dirty="0">
                <a:latin typeface="Cambria" pitchFamily="18" charset="0"/>
                <a:ea typeface="Cambria" pitchFamily="18" charset="0"/>
                <a:cs typeface="Arial" panose="020B0604020202020204" pitchFamily="34" charset="0"/>
              </a:rPr>
              <a:t>– write specialized database applications that do not fit into the traditional data processing framework</a:t>
            </a:r>
          </a:p>
          <a:p>
            <a:pPr>
              <a:spcBef>
                <a:spcPts val="0"/>
              </a:spcBef>
              <a:spcAft>
                <a:spcPts val="1200"/>
              </a:spcAft>
              <a:buClr>
                <a:srgbClr val="FF0000"/>
              </a:buClr>
              <a:buFont typeface="Arial" panose="020B0604020202020204" pitchFamily="34" charset="0"/>
              <a:buChar char="•"/>
            </a:pPr>
            <a:r>
              <a:rPr lang="en-US" altLang="en-US" sz="2400" dirty="0">
                <a:solidFill>
                  <a:srgbClr val="FF0000"/>
                </a:solidFill>
                <a:latin typeface="Cambria" pitchFamily="18" charset="0"/>
                <a:ea typeface="Cambria" pitchFamily="18" charset="0"/>
                <a:cs typeface="Arial" panose="020B0604020202020204" pitchFamily="34" charset="0"/>
              </a:rPr>
              <a:t>Naïve users </a:t>
            </a:r>
            <a:r>
              <a:rPr lang="en-US" altLang="en-US" sz="2400" dirty="0">
                <a:latin typeface="Cambria" pitchFamily="18" charset="0"/>
                <a:ea typeface="Cambria" pitchFamily="18" charset="0"/>
                <a:cs typeface="Arial" panose="020B0604020202020204" pitchFamily="34" charset="0"/>
              </a:rPr>
              <a:t>– invoke one of the permanent application programs that have been written previously</a:t>
            </a:r>
          </a:p>
          <a:p>
            <a:pPr lvl="6">
              <a:spcBef>
                <a:spcPts val="0"/>
              </a:spcBef>
              <a:spcAft>
                <a:spcPts val="1200"/>
              </a:spcAft>
              <a:buClr>
                <a:srgbClr val="FF0000"/>
              </a:buClr>
              <a:buFont typeface="Wingdings" panose="05000000000000000000" pitchFamily="2" charset="2"/>
              <a:buChar char="ü"/>
            </a:pPr>
            <a:r>
              <a:rPr lang="en-US" altLang="en-US" sz="1800" dirty="0">
                <a:latin typeface="Cambria" pitchFamily="18" charset="0"/>
                <a:ea typeface="Cambria" pitchFamily="18" charset="0"/>
                <a:cs typeface="Arial" panose="020B0604020202020204" pitchFamily="34" charset="0"/>
              </a:rPr>
              <a:t>E.g. people accessing database over the web, bank tellers, clerical staff</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D612404-5202-65A8-220B-0D10E52B6C26}"/>
              </a:ext>
            </a:extLst>
          </p:cNvPr>
          <p:cNvSpPr>
            <a:spLocks noGrp="1"/>
          </p:cNvSpPr>
          <p:nvPr>
            <p:ph idx="1"/>
          </p:nvPr>
        </p:nvSpPr>
        <p:spPr>
          <a:xfrm>
            <a:off x="214282" y="160719"/>
            <a:ext cx="8786874" cy="3321867"/>
          </a:xfrm>
        </p:spPr>
        <p:txBody>
          <a:bodyPr>
            <a:normAutofit fontScale="62500" lnSpcReduction="20000"/>
          </a:bodyPr>
          <a:lstStyle/>
          <a:p>
            <a:pPr algn="just">
              <a:lnSpc>
                <a:spcPct val="170000"/>
              </a:lnSpc>
            </a:pPr>
            <a:r>
              <a:rPr lang="en-IN" sz="2400" b="1" dirty="0">
                <a:solidFill>
                  <a:schemeClr val="accent6">
                    <a:lumMod val="75000"/>
                  </a:schemeClr>
                </a:solidFill>
                <a:latin typeface="Cambria" pitchFamily="18" charset="0"/>
                <a:ea typeface="Cambria" pitchFamily="18" charset="0"/>
              </a:rPr>
              <a:t>Database Administrators (DBA): </a:t>
            </a:r>
          </a:p>
          <a:p>
            <a:pPr lvl="1" algn="just">
              <a:lnSpc>
                <a:spcPct val="170000"/>
              </a:lnSpc>
            </a:pPr>
            <a:r>
              <a:rPr lang="en-IN" sz="2400" dirty="0">
                <a:latin typeface="Cambria" pitchFamily="18" charset="0"/>
                <a:ea typeface="Cambria" pitchFamily="18" charset="0"/>
              </a:rPr>
              <a:t>The DBA is responsible </a:t>
            </a:r>
            <a:endParaRPr lang="en-IN" sz="2400" dirty="0" smtClean="0">
              <a:latin typeface="Cambria" pitchFamily="18" charset="0"/>
              <a:ea typeface="Cambria" pitchFamily="18" charset="0"/>
            </a:endParaRPr>
          </a:p>
          <a:p>
            <a:pPr lvl="1" algn="just">
              <a:lnSpc>
                <a:spcPct val="170000"/>
              </a:lnSpc>
            </a:pPr>
            <a:r>
              <a:rPr lang="en-IN" sz="2400" dirty="0" smtClean="0">
                <a:latin typeface="Cambria" pitchFamily="18" charset="0"/>
                <a:ea typeface="Cambria" pitchFamily="18" charset="0"/>
              </a:rPr>
              <a:t>-</a:t>
            </a:r>
            <a:r>
              <a:rPr lang="en-IN" sz="2400" b="1" dirty="0" smtClean="0">
                <a:latin typeface="Cambria" pitchFamily="18" charset="0"/>
                <a:ea typeface="Cambria" pitchFamily="18" charset="0"/>
              </a:rPr>
              <a:t>authorizing access</a:t>
            </a:r>
          </a:p>
          <a:p>
            <a:pPr lvl="1" algn="just">
              <a:lnSpc>
                <a:spcPct val="170000"/>
              </a:lnSpc>
            </a:pPr>
            <a:r>
              <a:rPr lang="en-IN" sz="2400" dirty="0" smtClean="0">
                <a:latin typeface="Cambria" pitchFamily="18" charset="0"/>
                <a:ea typeface="Cambria" pitchFamily="18" charset="0"/>
              </a:rPr>
              <a:t>-</a:t>
            </a:r>
            <a:r>
              <a:rPr lang="en-IN" sz="2400" b="1" dirty="0" smtClean="0">
                <a:latin typeface="Cambria" pitchFamily="18" charset="0"/>
                <a:ea typeface="Cambria" pitchFamily="18" charset="0"/>
              </a:rPr>
              <a:t>coordinating </a:t>
            </a:r>
            <a:r>
              <a:rPr lang="en-IN" sz="2400" b="1" dirty="0">
                <a:latin typeface="Cambria" pitchFamily="18" charset="0"/>
                <a:ea typeface="Cambria" pitchFamily="18" charset="0"/>
              </a:rPr>
              <a:t>and monitoring </a:t>
            </a:r>
            <a:endParaRPr lang="en-IN" sz="2400" b="1" dirty="0" smtClean="0">
              <a:latin typeface="Cambria" pitchFamily="18" charset="0"/>
              <a:ea typeface="Cambria" pitchFamily="18" charset="0"/>
            </a:endParaRPr>
          </a:p>
          <a:p>
            <a:pPr lvl="1" algn="just">
              <a:lnSpc>
                <a:spcPct val="170000"/>
              </a:lnSpc>
            </a:pPr>
            <a:r>
              <a:rPr lang="en-IN" sz="2400" dirty="0" smtClean="0">
                <a:latin typeface="Cambria" pitchFamily="18" charset="0"/>
                <a:ea typeface="Cambria" pitchFamily="18" charset="0"/>
              </a:rPr>
              <a:t>-</a:t>
            </a:r>
            <a:r>
              <a:rPr lang="en-IN" sz="2400" b="1" dirty="0" smtClean="0">
                <a:latin typeface="Cambria" pitchFamily="18" charset="0"/>
                <a:ea typeface="Cambria" pitchFamily="18" charset="0"/>
              </a:rPr>
              <a:t>acquiring </a:t>
            </a:r>
            <a:r>
              <a:rPr lang="en-IN" sz="2400" b="1" dirty="0">
                <a:latin typeface="Cambria" pitchFamily="18" charset="0"/>
                <a:ea typeface="Cambria" pitchFamily="18" charset="0"/>
              </a:rPr>
              <a:t>software and </a:t>
            </a:r>
            <a:r>
              <a:rPr lang="en-IN" sz="2400" b="1" dirty="0" smtClean="0">
                <a:latin typeface="Cambria" pitchFamily="18" charset="0"/>
                <a:ea typeface="Cambria" pitchFamily="18" charset="0"/>
              </a:rPr>
              <a:t>hardware</a:t>
            </a:r>
            <a:r>
              <a:rPr lang="en-IN" sz="2400" dirty="0" smtClean="0">
                <a:latin typeface="Cambria" pitchFamily="18" charset="0"/>
                <a:ea typeface="Cambria" pitchFamily="18" charset="0"/>
              </a:rPr>
              <a:t> resources as needed </a:t>
            </a:r>
            <a:endParaRPr lang="en-IN" sz="2400" b="1" dirty="0" smtClean="0">
              <a:latin typeface="Cambria" pitchFamily="18" charset="0"/>
              <a:ea typeface="Cambria" pitchFamily="18" charset="0"/>
            </a:endParaRPr>
          </a:p>
          <a:p>
            <a:pPr lvl="1" algn="just">
              <a:lnSpc>
                <a:spcPct val="170000"/>
              </a:lnSpc>
            </a:pPr>
            <a:r>
              <a:rPr lang="en-IN" sz="2400" b="1" dirty="0" smtClean="0">
                <a:latin typeface="Cambria" pitchFamily="18" charset="0"/>
                <a:ea typeface="Cambria" pitchFamily="18" charset="0"/>
              </a:rPr>
              <a:t>-accountable(security breaches </a:t>
            </a:r>
            <a:r>
              <a:rPr lang="en-IN" sz="2400" dirty="0" smtClean="0">
                <a:latin typeface="Cambria" pitchFamily="18" charset="0"/>
                <a:ea typeface="Cambria" pitchFamily="18" charset="0"/>
              </a:rPr>
              <a:t>and </a:t>
            </a:r>
            <a:r>
              <a:rPr lang="en-IN" sz="2400" b="1" dirty="0" smtClean="0">
                <a:latin typeface="Cambria" pitchFamily="18" charset="0"/>
                <a:ea typeface="Cambria" pitchFamily="18" charset="0"/>
              </a:rPr>
              <a:t>poor system response time</a:t>
            </a:r>
            <a:r>
              <a:rPr lang="en-IN" sz="2400" dirty="0" smtClean="0">
                <a:latin typeface="Cambria" pitchFamily="18" charset="0"/>
                <a:ea typeface="Cambria" pitchFamily="18" charset="0"/>
              </a:rPr>
              <a:t>.</a:t>
            </a:r>
            <a:r>
              <a:rPr lang="en-IN" sz="2400" b="1" dirty="0" smtClean="0">
                <a:latin typeface="Cambria" pitchFamily="18" charset="0"/>
                <a:ea typeface="Cambria" pitchFamily="18" charset="0"/>
              </a:rPr>
              <a:t>)</a:t>
            </a:r>
            <a:r>
              <a:rPr lang="en-IN" sz="2400" dirty="0" smtClean="0">
                <a:latin typeface="Cambria" pitchFamily="18" charset="0"/>
                <a:ea typeface="Cambria" pitchFamily="18" charset="0"/>
              </a:rPr>
              <a:t>. </a:t>
            </a:r>
            <a:endParaRPr lang="en-IN" sz="2400" dirty="0">
              <a:latin typeface="Cambria" pitchFamily="18" charset="0"/>
              <a:ea typeface="Cambria" pitchFamily="18" charset="0"/>
            </a:endParaRPr>
          </a:p>
          <a:p>
            <a:pPr algn="just">
              <a:lnSpc>
                <a:spcPct val="170000"/>
              </a:lnSpc>
            </a:pPr>
            <a:r>
              <a:rPr lang="en-IN" sz="2400" b="1" dirty="0" smtClean="0">
                <a:solidFill>
                  <a:schemeClr val="accent2">
                    <a:lumMod val="75000"/>
                  </a:schemeClr>
                </a:solidFill>
                <a:latin typeface="Cambria" pitchFamily="18" charset="0"/>
                <a:ea typeface="Cambria" pitchFamily="18" charset="0"/>
              </a:rPr>
              <a:t>Database </a:t>
            </a:r>
            <a:r>
              <a:rPr lang="en-IN" sz="2400" b="1" dirty="0">
                <a:solidFill>
                  <a:schemeClr val="accent2">
                    <a:lumMod val="75000"/>
                  </a:schemeClr>
                </a:solidFill>
                <a:latin typeface="Cambria" pitchFamily="18" charset="0"/>
                <a:ea typeface="Cambria" pitchFamily="18" charset="0"/>
              </a:rPr>
              <a:t>Designers: </a:t>
            </a:r>
          </a:p>
          <a:p>
            <a:pPr lvl="1" algn="just">
              <a:lnSpc>
                <a:spcPct val="170000"/>
              </a:lnSpc>
            </a:pPr>
            <a:r>
              <a:rPr lang="en-IN" sz="2400" b="1" dirty="0" smtClean="0">
                <a:latin typeface="Cambria" pitchFamily="18" charset="0"/>
                <a:ea typeface="Cambria" pitchFamily="18" charset="0"/>
              </a:rPr>
              <a:t>identifying </a:t>
            </a:r>
            <a:r>
              <a:rPr lang="en-IN" sz="2400" b="1" dirty="0">
                <a:latin typeface="Cambria" pitchFamily="18" charset="0"/>
                <a:ea typeface="Cambria" pitchFamily="18" charset="0"/>
              </a:rPr>
              <a:t>the data</a:t>
            </a:r>
            <a:r>
              <a:rPr lang="en-IN" sz="2400" dirty="0">
                <a:latin typeface="Cambria" pitchFamily="18" charset="0"/>
                <a:ea typeface="Cambria" pitchFamily="18" charset="0"/>
              </a:rPr>
              <a:t> to be stored in the </a:t>
            </a:r>
            <a:r>
              <a:rPr lang="en-IN" sz="2400" b="1" dirty="0">
                <a:latin typeface="Cambria" pitchFamily="18" charset="0"/>
                <a:ea typeface="Cambria" pitchFamily="18" charset="0"/>
              </a:rPr>
              <a:t>data-base</a:t>
            </a:r>
            <a:r>
              <a:rPr lang="en-IN" sz="2400" dirty="0">
                <a:latin typeface="Cambria" pitchFamily="18" charset="0"/>
                <a:ea typeface="Cambria" pitchFamily="18" charset="0"/>
              </a:rPr>
              <a:t> and </a:t>
            </a:r>
            <a:r>
              <a:rPr lang="en-IN" sz="2400" b="1" dirty="0" smtClean="0">
                <a:latin typeface="Cambria" pitchFamily="18" charset="0"/>
                <a:ea typeface="Cambria" pitchFamily="18" charset="0"/>
              </a:rPr>
              <a:t>appropriate structures</a:t>
            </a:r>
            <a:endParaRPr lang="en-IN" sz="2400" dirty="0">
              <a:latin typeface="Cambria" pitchFamily="18" charset="0"/>
              <a:ea typeface="Cambria" pitchFamily="18" charset="0"/>
            </a:endParaRPr>
          </a:p>
          <a:p>
            <a:pPr>
              <a:lnSpc>
                <a:spcPct val="170000"/>
              </a:lnSpc>
            </a:pPr>
            <a:endParaRPr lang="en-IN" dirty="0">
              <a:latin typeface="Cambria" pitchFamily="18" charset="0"/>
              <a:ea typeface="Cambria" pitchFamily="18" charset="0"/>
            </a:endParaRPr>
          </a:p>
        </p:txBody>
      </p:sp>
    </p:spTree>
    <p:extLst>
      <p:ext uri="{BB962C8B-B14F-4D97-AF65-F5344CB8AC3E}">
        <p14:creationId xmlns="" xmlns:p14="http://schemas.microsoft.com/office/powerpoint/2010/main" val="2224373681"/>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BBE3D9-130B-2662-C6C6-CB7B08EB8D22}"/>
              </a:ext>
            </a:extLst>
          </p:cNvPr>
          <p:cNvSpPr>
            <a:spLocks noGrp="1"/>
          </p:cNvSpPr>
          <p:nvPr>
            <p:ph type="title"/>
          </p:nvPr>
        </p:nvSpPr>
        <p:spPr>
          <a:xfrm>
            <a:off x="457200" y="205980"/>
            <a:ext cx="8229600" cy="365507"/>
          </a:xfrm>
        </p:spPr>
        <p:txBody>
          <a:bodyPr>
            <a:noAutofit/>
          </a:bodyPr>
          <a:lstStyle/>
          <a:p>
            <a:pPr algn="ctr"/>
            <a:r>
              <a:rPr lang="en-IN" sz="2800" dirty="0">
                <a:latin typeface="Cambria" pitchFamily="18" charset="0"/>
                <a:ea typeface="Cambria" pitchFamily="18" charset="0"/>
              </a:rPr>
              <a:t>Advantages of DBMS</a:t>
            </a:r>
          </a:p>
        </p:txBody>
      </p:sp>
      <p:graphicFrame>
        <p:nvGraphicFramePr>
          <p:cNvPr id="5" name="Content Placeholder 4">
            <a:extLst>
              <a:ext uri="{FF2B5EF4-FFF2-40B4-BE49-F238E27FC236}">
                <a16:creationId xmlns="" xmlns:a16="http://schemas.microsoft.com/office/drawing/2014/main" id="{5654AA55-E107-2C37-0895-512B1A394BBB}"/>
              </a:ext>
            </a:extLst>
          </p:cNvPr>
          <p:cNvGraphicFramePr>
            <a:graphicFrameLocks noGrp="1"/>
          </p:cNvGraphicFramePr>
          <p:nvPr>
            <p:ph idx="1"/>
            <p:extLst>
              <p:ext uri="{D42A27DB-BD31-4B8C-83A1-F6EECF244321}">
                <p14:modId xmlns="" xmlns:p14="http://schemas.microsoft.com/office/powerpoint/2010/main" val="1408803368"/>
              </p:ext>
            </p:extLst>
          </p:nvPr>
        </p:nvGraphicFramePr>
        <p:xfrm>
          <a:off x="357158" y="1017974"/>
          <a:ext cx="8143932" cy="32147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3018003023"/>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srcRect/>
          <a:stretch>
            <a:fillRect/>
          </a:stretch>
        </p:blipFill>
        <p:spPr bwMode="auto">
          <a:xfrm>
            <a:off x="642910" y="946536"/>
            <a:ext cx="8001056" cy="3482603"/>
          </a:xfrm>
          <a:prstGeom prst="rect">
            <a:avLst/>
          </a:prstGeom>
          <a:noFill/>
          <a:ln w="9525">
            <a:noFill/>
            <a:miter lim="800000"/>
            <a:headEnd/>
            <a:tailEnd/>
          </a:ln>
          <a:effectLst/>
        </p:spPr>
      </p:pic>
      <p:sp>
        <p:nvSpPr>
          <p:cNvPr id="11" name="Rectangle 10"/>
          <p:cNvSpPr/>
          <p:nvPr/>
        </p:nvSpPr>
        <p:spPr>
          <a:xfrm>
            <a:off x="571472" y="160718"/>
            <a:ext cx="7572428" cy="461665"/>
          </a:xfrm>
          <a:prstGeom prst="rect">
            <a:avLst/>
          </a:prstGeom>
        </p:spPr>
        <p:txBody>
          <a:bodyPr wrap="square">
            <a:spAutoFit/>
          </a:bodyPr>
          <a:lstStyle/>
          <a:p>
            <a:pPr algn="ctr"/>
            <a:r>
              <a:rPr lang="en-IN" sz="2400" dirty="0" smtClean="0">
                <a:latin typeface="Cambria" pitchFamily="18" charset="0"/>
                <a:ea typeface="Cambria" pitchFamily="18" charset="0"/>
              </a:rPr>
              <a:t>Database applications </a:t>
            </a:r>
            <a:endParaRPr lang="en-US" sz="24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714483" y="428610"/>
            <a:ext cx="6043613" cy="2143140"/>
          </a:xfrm>
          <a:prstGeom prst="rect">
            <a:avLst/>
          </a:prstGeom>
          <a:noFill/>
          <a:ln w="9525">
            <a:noFill/>
            <a:miter lim="800000"/>
            <a:headEnd/>
            <a:tailEnd/>
          </a:ln>
          <a:effectLst/>
        </p:spPr>
      </p:pic>
      <p:sp>
        <p:nvSpPr>
          <p:cNvPr id="5" name="Rectangle 4"/>
          <p:cNvSpPr/>
          <p:nvPr/>
        </p:nvSpPr>
        <p:spPr>
          <a:xfrm>
            <a:off x="2214546" y="68031"/>
            <a:ext cx="4786346" cy="646331"/>
          </a:xfrm>
          <a:prstGeom prst="rect">
            <a:avLst/>
          </a:prstGeom>
        </p:spPr>
        <p:txBody>
          <a:bodyPr wrap="square">
            <a:spAutoFit/>
          </a:bodyPr>
          <a:lstStyle/>
          <a:p>
            <a:r>
              <a:rPr lang="en-IN" sz="3600" dirty="0" smtClean="0">
                <a:latin typeface="Cambria" pitchFamily="18" charset="0"/>
                <a:ea typeface="Cambria" pitchFamily="18" charset="0"/>
              </a:rPr>
              <a:t>Different Data Models</a:t>
            </a:r>
            <a:endParaRPr lang="en-US" sz="3600" dirty="0">
              <a:latin typeface="Cambria" pitchFamily="18" charset="0"/>
              <a:ea typeface="Cambria" pitchFamily="18" charset="0"/>
            </a:endParaRPr>
          </a:p>
        </p:txBody>
      </p:sp>
      <p:sp>
        <p:nvSpPr>
          <p:cNvPr id="6" name="Rectangle 5"/>
          <p:cNvSpPr/>
          <p:nvPr/>
        </p:nvSpPr>
        <p:spPr>
          <a:xfrm>
            <a:off x="857224" y="2500312"/>
            <a:ext cx="7786742" cy="2308324"/>
          </a:xfrm>
          <a:prstGeom prst="rect">
            <a:avLst/>
          </a:prstGeom>
        </p:spPr>
        <p:txBody>
          <a:bodyPr wrap="square">
            <a:spAutoFit/>
          </a:bodyPr>
          <a:lstStyle/>
          <a:p>
            <a:pPr>
              <a:buFont typeface="Wingdings" pitchFamily="2" charset="2"/>
              <a:buChar char="Ø"/>
            </a:pPr>
            <a:r>
              <a:rPr lang="en-US" sz="2400" dirty="0" smtClean="0">
                <a:latin typeface="Cambria" pitchFamily="18" charset="0"/>
                <a:ea typeface="Cambria" pitchFamily="18" charset="0"/>
              </a:rPr>
              <a:t> Relational model</a:t>
            </a:r>
          </a:p>
          <a:p>
            <a:pPr>
              <a:buFont typeface="Wingdings" pitchFamily="2" charset="2"/>
              <a:buChar char="Ø"/>
            </a:pPr>
            <a:r>
              <a:rPr lang="en-US" sz="2400" dirty="0" smtClean="0">
                <a:latin typeface="Cambria" pitchFamily="18" charset="0"/>
                <a:ea typeface="Cambria" pitchFamily="18" charset="0"/>
              </a:rPr>
              <a:t> Semi structured Data model </a:t>
            </a:r>
          </a:p>
          <a:p>
            <a:pPr>
              <a:buFont typeface="Wingdings" pitchFamily="2" charset="2"/>
              <a:buChar char="Ø"/>
            </a:pPr>
            <a:r>
              <a:rPr lang="en-US" sz="2400" dirty="0" smtClean="0">
                <a:latin typeface="Cambria" pitchFamily="18" charset="0"/>
                <a:ea typeface="Cambria" pitchFamily="18" charset="0"/>
              </a:rPr>
              <a:t>Entity-relationship model</a:t>
            </a:r>
          </a:p>
          <a:p>
            <a:pPr>
              <a:buFont typeface="Wingdings" pitchFamily="2" charset="2"/>
              <a:buChar char="Ø"/>
            </a:pPr>
            <a:r>
              <a:rPr lang="en-US" sz="2400" dirty="0" smtClean="0">
                <a:latin typeface="Cambria" pitchFamily="18" charset="0"/>
                <a:ea typeface="Cambria" pitchFamily="18" charset="0"/>
              </a:rPr>
              <a:t> Object-oriented database model</a:t>
            </a:r>
          </a:p>
          <a:p>
            <a:pPr>
              <a:buFont typeface="Wingdings" pitchFamily="2" charset="2"/>
              <a:buChar char="Ø"/>
            </a:pPr>
            <a:r>
              <a:rPr lang="en-US" sz="2400" dirty="0" smtClean="0">
                <a:latin typeface="Cambria" pitchFamily="18" charset="0"/>
                <a:ea typeface="Cambria" pitchFamily="18" charset="0"/>
              </a:rPr>
              <a:t> Network model</a:t>
            </a:r>
          </a:p>
          <a:p>
            <a:pPr>
              <a:buFont typeface="Wingdings" pitchFamily="2" charset="2"/>
              <a:buChar char="Ø"/>
            </a:pPr>
            <a:r>
              <a:rPr lang="en-US" sz="2400" dirty="0" smtClean="0">
                <a:latin typeface="Cambria" pitchFamily="18" charset="0"/>
                <a:ea typeface="Cambria" pitchFamily="18" charset="0"/>
              </a:rPr>
              <a:t>Hierarchical database model</a:t>
            </a:r>
            <a:endParaRPr lang="en-US" sz="24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C:\Users\RATHNA SRI\Desktop\a.jpg"/>
          <p:cNvPicPr>
            <a:picLocks noChangeAspect="1" noChangeArrowheads="1"/>
          </p:cNvPicPr>
          <p:nvPr/>
        </p:nvPicPr>
        <p:blipFill>
          <a:blip r:embed="rId2"/>
          <a:srcRect/>
          <a:stretch>
            <a:fillRect/>
          </a:stretch>
        </p:blipFill>
        <p:spPr bwMode="auto">
          <a:xfrm>
            <a:off x="71408" y="71420"/>
            <a:ext cx="5717019" cy="2786082"/>
          </a:xfrm>
          <a:prstGeom prst="rect">
            <a:avLst/>
          </a:prstGeom>
          <a:noFill/>
        </p:spPr>
      </p:pic>
      <p:sp>
        <p:nvSpPr>
          <p:cNvPr id="4" name="Rectangle 3"/>
          <p:cNvSpPr/>
          <p:nvPr/>
        </p:nvSpPr>
        <p:spPr>
          <a:xfrm>
            <a:off x="71406" y="2418708"/>
            <a:ext cx="8929750" cy="1938992"/>
          </a:xfrm>
          <a:prstGeom prst="rect">
            <a:avLst/>
          </a:prstGeom>
        </p:spPr>
        <p:txBody>
          <a:bodyPr wrap="square">
            <a:spAutoFit/>
          </a:bodyPr>
          <a:lstStyle/>
          <a:p>
            <a:r>
              <a:rPr lang="en-US" sz="2400" dirty="0" smtClean="0">
                <a:latin typeface="Cambria" pitchFamily="18" charset="0"/>
                <a:ea typeface="Cambria" pitchFamily="18" charset="0"/>
              </a:rPr>
              <a:t>Tree based data structure format. there is a single root node and other data is linked to the same and expands like a tree. </a:t>
            </a:r>
          </a:p>
          <a:p>
            <a:r>
              <a:rPr lang="en-US" sz="2400" dirty="0" smtClean="0">
                <a:latin typeface="Cambria" pitchFamily="18" charset="0"/>
                <a:ea typeface="Cambria" pitchFamily="18" charset="0"/>
              </a:rPr>
              <a:t>1. A child node data may only have a single parent node </a:t>
            </a:r>
          </a:p>
          <a:p>
            <a:r>
              <a:rPr lang="en-US" sz="2400" dirty="0" smtClean="0">
                <a:latin typeface="Cambria" pitchFamily="18" charset="0"/>
                <a:ea typeface="Cambria" pitchFamily="18" charset="0"/>
              </a:rPr>
              <a:t>2. For any parent node one to many relationship must be maintained. </a:t>
            </a:r>
            <a:endParaRPr lang="en-US" sz="24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6248" y="71420"/>
            <a:ext cx="4572000" cy="1569660"/>
          </a:xfrm>
          <a:prstGeom prst="rect">
            <a:avLst/>
          </a:prstGeom>
        </p:spPr>
        <p:txBody>
          <a:bodyPr wrap="square">
            <a:spAutoFit/>
          </a:bodyPr>
          <a:lstStyle/>
          <a:p>
            <a:r>
              <a:rPr lang="en-US" sz="2400" dirty="0" smtClean="0">
                <a:latin typeface="Cambria" pitchFamily="18" charset="0"/>
                <a:ea typeface="Cambria" pitchFamily="18" charset="0"/>
              </a:rPr>
              <a:t>A child node may have more than one parent</a:t>
            </a:r>
            <a:endParaRPr lang="en-US" sz="2400" dirty="0">
              <a:latin typeface="Cambria" pitchFamily="18" charset="0"/>
              <a:ea typeface="Cambria" pitchFamily="18" charset="0"/>
            </a:endParaRPr>
          </a:p>
          <a:p>
            <a:r>
              <a:rPr lang="en-US" sz="2400" dirty="0" smtClean="0">
                <a:latin typeface="Cambria" pitchFamily="18" charset="0"/>
                <a:ea typeface="Cambria" pitchFamily="18" charset="0"/>
              </a:rPr>
              <a:t>There can be many to many relationships between data.</a:t>
            </a:r>
            <a:endParaRPr lang="en-US" sz="2400" dirty="0">
              <a:latin typeface="Cambria" pitchFamily="18" charset="0"/>
              <a:ea typeface="Cambria" pitchFamily="18" charset="0"/>
            </a:endParaRPr>
          </a:p>
        </p:txBody>
      </p:sp>
      <p:pic>
        <p:nvPicPr>
          <p:cNvPr id="5122" name="Picture 2"/>
          <p:cNvPicPr>
            <a:picLocks noChangeAspect="1" noChangeArrowheads="1"/>
          </p:cNvPicPr>
          <p:nvPr/>
        </p:nvPicPr>
        <p:blipFill>
          <a:blip r:embed="rId2"/>
          <a:srcRect/>
          <a:stretch>
            <a:fillRect/>
          </a:stretch>
        </p:blipFill>
        <p:spPr bwMode="auto">
          <a:xfrm>
            <a:off x="26983" y="30952"/>
            <a:ext cx="3902075" cy="1897856"/>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32" y="2250281"/>
            <a:ext cx="4122779" cy="2196719"/>
          </a:xfrm>
          <a:prstGeom prst="rect">
            <a:avLst/>
          </a:prstGeom>
          <a:noFill/>
          <a:ln w="9525">
            <a:noFill/>
            <a:miter lim="800000"/>
            <a:headEnd/>
            <a:tailEnd/>
          </a:ln>
          <a:effectLst/>
        </p:spPr>
      </p:pic>
      <p:sp>
        <p:nvSpPr>
          <p:cNvPr id="5" name="Rectangle 4"/>
          <p:cNvSpPr/>
          <p:nvPr/>
        </p:nvSpPr>
        <p:spPr>
          <a:xfrm>
            <a:off x="4214810" y="2357436"/>
            <a:ext cx="4929190" cy="1938992"/>
          </a:xfrm>
          <a:prstGeom prst="rect">
            <a:avLst/>
          </a:prstGeom>
        </p:spPr>
        <p:txBody>
          <a:bodyPr wrap="square">
            <a:spAutoFit/>
          </a:bodyPr>
          <a:lstStyle/>
          <a:p>
            <a:r>
              <a:rPr lang="en-US" sz="2400" dirty="0" smtClean="0">
                <a:latin typeface="Cambria" pitchFamily="18" charset="0"/>
                <a:ea typeface="Cambria" pitchFamily="18" charset="0"/>
              </a:rPr>
              <a:t>This is modeled about break and related model, i.e. we break data into different components based on characteristics, in terms of entity and attributes.</a:t>
            </a:r>
            <a:endParaRPr lang="en-US" sz="24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5" y="59278"/>
            <a:ext cx="8358245" cy="369332"/>
          </a:xfrm>
          <a:prstGeom prst="rect">
            <a:avLst/>
          </a:prstGeom>
        </p:spPr>
        <p:txBody>
          <a:bodyPr wrap="square">
            <a:spAutoFit/>
          </a:bodyPr>
          <a:lstStyle/>
          <a:p>
            <a:pPr algn="ctr"/>
            <a:r>
              <a:rPr lang="en-US" dirty="0" smtClean="0">
                <a:latin typeface="Cambria" pitchFamily="18" charset="0"/>
                <a:ea typeface="Cambria" pitchFamily="18" charset="0"/>
              </a:rPr>
              <a:t>Relational model </a:t>
            </a:r>
            <a:endParaRPr lang="en-US" dirty="0">
              <a:latin typeface="Cambria" pitchFamily="18" charset="0"/>
              <a:ea typeface="Cambria" pitchFamily="18" charset="0"/>
            </a:endParaRPr>
          </a:p>
        </p:txBody>
      </p:sp>
      <p:sp>
        <p:nvSpPr>
          <p:cNvPr id="3" name="Rectangle 2"/>
          <p:cNvSpPr/>
          <p:nvPr/>
        </p:nvSpPr>
        <p:spPr>
          <a:xfrm>
            <a:off x="142844" y="435104"/>
            <a:ext cx="8858312" cy="707886"/>
          </a:xfrm>
          <a:prstGeom prst="rect">
            <a:avLst/>
          </a:prstGeom>
        </p:spPr>
        <p:txBody>
          <a:bodyPr wrap="square">
            <a:spAutoFit/>
          </a:bodyPr>
          <a:lstStyle/>
          <a:p>
            <a:r>
              <a:rPr lang="en-US" sz="2000" dirty="0" smtClean="0">
                <a:latin typeface="Cambria" pitchFamily="18" charset="0"/>
                <a:ea typeface="Cambria" pitchFamily="18" charset="0"/>
              </a:rPr>
              <a:t>This is the most used model and even with DBMS that we will studying in future posts it will be based upon the same</a:t>
            </a:r>
            <a:endParaRPr lang="en-US" sz="2000" dirty="0">
              <a:latin typeface="Cambria" pitchFamily="18" charset="0"/>
              <a:ea typeface="Cambria" pitchFamily="18" charset="0"/>
            </a:endParaRPr>
          </a:p>
        </p:txBody>
      </p:sp>
      <p:sp>
        <p:nvSpPr>
          <p:cNvPr id="4" name="Rectangle 3"/>
          <p:cNvSpPr/>
          <p:nvPr/>
        </p:nvSpPr>
        <p:spPr>
          <a:xfrm>
            <a:off x="5072098" y="1835062"/>
            <a:ext cx="4000496" cy="2308324"/>
          </a:xfrm>
          <a:prstGeom prst="rect">
            <a:avLst/>
          </a:prstGeom>
        </p:spPr>
        <p:txBody>
          <a:bodyPr wrap="square">
            <a:spAutoFit/>
          </a:bodyPr>
          <a:lstStyle/>
          <a:p>
            <a:r>
              <a:rPr lang="en-US" sz="2400" dirty="0" smtClean="0">
                <a:latin typeface="Cambria" pitchFamily="18" charset="0"/>
                <a:ea typeface="Cambria" pitchFamily="18" charset="0"/>
              </a:rPr>
              <a:t>This works around</a:t>
            </a:r>
          </a:p>
          <a:p>
            <a:pPr>
              <a:buFont typeface="Wingdings"/>
              <a:buChar char="à"/>
            </a:pPr>
            <a:r>
              <a:rPr lang="en-US" sz="2400" dirty="0" smtClean="0">
                <a:latin typeface="Cambria" pitchFamily="18" charset="0"/>
                <a:ea typeface="Cambria" pitchFamily="18" charset="0"/>
              </a:rPr>
              <a:t>Rows</a:t>
            </a:r>
          </a:p>
          <a:p>
            <a:pPr>
              <a:buFont typeface="Wingdings"/>
              <a:buChar char="à"/>
            </a:pPr>
            <a:r>
              <a:rPr lang="en-US" sz="2400" dirty="0" smtClean="0">
                <a:latin typeface="Cambria" pitchFamily="18" charset="0"/>
                <a:ea typeface="Cambria" pitchFamily="18" charset="0"/>
              </a:rPr>
              <a:t> Entities</a:t>
            </a:r>
          </a:p>
          <a:p>
            <a:pPr>
              <a:buFont typeface="Wingdings"/>
              <a:buChar char="à"/>
            </a:pPr>
            <a:r>
              <a:rPr lang="en-US" sz="2400" dirty="0" err="1" smtClean="0">
                <a:latin typeface="Cambria" pitchFamily="18" charset="0"/>
                <a:ea typeface="Cambria" pitchFamily="18" charset="0"/>
              </a:rPr>
              <a:t>Tuples</a:t>
            </a:r>
            <a:endParaRPr lang="en-US" sz="2400" dirty="0" smtClean="0">
              <a:latin typeface="Cambria" pitchFamily="18" charset="0"/>
              <a:ea typeface="Cambria" pitchFamily="18" charset="0"/>
            </a:endParaRPr>
          </a:p>
          <a:p>
            <a:pPr>
              <a:buFont typeface="Wingdings"/>
              <a:buChar char="à"/>
            </a:pPr>
            <a:r>
              <a:rPr lang="en-US" sz="2400" dirty="0" smtClean="0">
                <a:latin typeface="Cambria" pitchFamily="18" charset="0"/>
                <a:ea typeface="Cambria" pitchFamily="18" charset="0"/>
              </a:rPr>
              <a:t>Columns</a:t>
            </a:r>
          </a:p>
          <a:p>
            <a:pPr>
              <a:buFont typeface="Wingdings"/>
              <a:buChar char="à"/>
            </a:pPr>
            <a:r>
              <a:rPr lang="en-US" sz="2400" dirty="0" smtClean="0">
                <a:latin typeface="Cambria" pitchFamily="18" charset="0"/>
                <a:ea typeface="Cambria" pitchFamily="18" charset="0"/>
              </a:rPr>
              <a:t>Table </a:t>
            </a:r>
            <a:endParaRPr lang="en-US" sz="2400" dirty="0">
              <a:latin typeface="Cambria" pitchFamily="18" charset="0"/>
              <a:ea typeface="Cambria" pitchFamily="18" charset="0"/>
            </a:endParaRPr>
          </a:p>
        </p:txBody>
      </p:sp>
      <p:pic>
        <p:nvPicPr>
          <p:cNvPr id="6146" name="Picture 2"/>
          <p:cNvPicPr>
            <a:picLocks noChangeAspect="1" noChangeArrowheads="1"/>
          </p:cNvPicPr>
          <p:nvPr/>
        </p:nvPicPr>
        <p:blipFill>
          <a:blip r:embed="rId2"/>
          <a:srcRect/>
          <a:stretch>
            <a:fillRect/>
          </a:stretch>
        </p:blipFill>
        <p:spPr bwMode="auto">
          <a:xfrm>
            <a:off x="77785" y="1285867"/>
            <a:ext cx="3779837" cy="269795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descr="A diagram of a medical procedure&#10;&#10;Description automatically generated">
            <a:extLst>
              <a:ext uri="{FF2B5EF4-FFF2-40B4-BE49-F238E27FC236}">
                <a16:creationId xmlns="" xmlns:a16="http://schemas.microsoft.com/office/drawing/2014/main" id="{D259185E-3887-AA07-6E5D-9B9DD4591E4E}"/>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436942" y="887708"/>
            <a:ext cx="8207024" cy="3255679"/>
          </a:xfrm>
          <a:prstGeom prst="rect">
            <a:avLst/>
          </a:prstGeom>
        </p:spPr>
      </p:pic>
      <p:sp>
        <p:nvSpPr>
          <p:cNvPr id="3" name="Rectangle 2"/>
          <p:cNvSpPr/>
          <p:nvPr/>
        </p:nvSpPr>
        <p:spPr>
          <a:xfrm>
            <a:off x="428596" y="48266"/>
            <a:ext cx="8143932" cy="523220"/>
          </a:xfrm>
          <a:prstGeom prst="rect">
            <a:avLst/>
          </a:prstGeom>
        </p:spPr>
        <p:txBody>
          <a:bodyPr wrap="square">
            <a:spAutoFit/>
          </a:bodyPr>
          <a:lstStyle/>
          <a:p>
            <a:pPr algn="ctr"/>
            <a:r>
              <a:rPr lang="en-US" sz="2800" dirty="0" smtClean="0">
                <a:latin typeface="Cambria" pitchFamily="18" charset="0"/>
                <a:ea typeface="Cambria" pitchFamily="18" charset="0"/>
              </a:rPr>
              <a:t>Object-oriented database model</a:t>
            </a:r>
            <a:endParaRPr lang="en-US" sz="28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DBMS Schema - TAE"/>
          <p:cNvPicPr>
            <a:picLocks noChangeAspect="1" noChangeArrowheads="1"/>
          </p:cNvPicPr>
          <p:nvPr/>
        </p:nvPicPr>
        <p:blipFill>
          <a:blip r:embed="rId2"/>
          <a:srcRect/>
          <a:stretch>
            <a:fillRect/>
          </a:stretch>
        </p:blipFill>
        <p:spPr bwMode="auto">
          <a:xfrm>
            <a:off x="1500166" y="428611"/>
            <a:ext cx="5929354" cy="2035983"/>
          </a:xfrm>
          <a:prstGeom prst="rect">
            <a:avLst/>
          </a:prstGeom>
          <a:noFill/>
        </p:spPr>
      </p:pic>
      <p:sp>
        <p:nvSpPr>
          <p:cNvPr id="3" name="Rectangle 2"/>
          <p:cNvSpPr/>
          <p:nvPr/>
        </p:nvSpPr>
        <p:spPr>
          <a:xfrm>
            <a:off x="857224" y="53564"/>
            <a:ext cx="7643866" cy="461665"/>
          </a:xfrm>
          <a:prstGeom prst="rect">
            <a:avLst/>
          </a:prstGeom>
        </p:spPr>
        <p:txBody>
          <a:bodyPr wrap="square">
            <a:spAutoFit/>
          </a:bodyPr>
          <a:lstStyle/>
          <a:p>
            <a:pPr algn="ctr"/>
            <a:r>
              <a:rPr lang="en-IN" sz="2400" dirty="0" smtClean="0">
                <a:latin typeface="Bahnschrift Light Condensed" pitchFamily="34" charset="0"/>
              </a:rPr>
              <a:t>Schema, Instance and </a:t>
            </a:r>
            <a:r>
              <a:rPr lang="en-IN" sz="2400" dirty="0" err="1" smtClean="0">
                <a:latin typeface="Bahnschrift Light Condensed" pitchFamily="34" charset="0"/>
              </a:rPr>
              <a:t>Indepandance</a:t>
            </a:r>
            <a:endParaRPr lang="en-US" sz="2400" dirty="0"/>
          </a:p>
        </p:txBody>
      </p:sp>
      <p:sp>
        <p:nvSpPr>
          <p:cNvPr id="4" name="Rectangle 3"/>
          <p:cNvSpPr/>
          <p:nvPr/>
        </p:nvSpPr>
        <p:spPr>
          <a:xfrm>
            <a:off x="214282" y="2655046"/>
            <a:ext cx="8929718" cy="1631216"/>
          </a:xfrm>
          <a:prstGeom prst="rect">
            <a:avLst/>
          </a:prstGeom>
        </p:spPr>
        <p:txBody>
          <a:bodyPr wrap="square">
            <a:spAutoFit/>
          </a:bodyPr>
          <a:lstStyle/>
          <a:p>
            <a:r>
              <a:rPr lang="en-US" sz="2000" dirty="0" smtClean="0">
                <a:latin typeface="Cambria" pitchFamily="18" charset="0"/>
                <a:ea typeface="Cambria" pitchFamily="18" charset="0"/>
              </a:rPr>
              <a:t>A very important advantage of using a DBMS is that it offers data independence. That is, application programs are insulated from changes in the way the data is structured and stored. Data independence is achieved through use of the three levels of data abstraction; in particular, the conceptual schema and the external schema provide distinct benefits in this area. </a:t>
            </a:r>
            <a:endParaRPr lang="en-US" sz="20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What Is Database Independence"/>
          <p:cNvPicPr>
            <a:picLocks noChangeAspect="1" noChangeArrowheads="1"/>
          </p:cNvPicPr>
          <p:nvPr/>
        </p:nvPicPr>
        <p:blipFill>
          <a:blip r:embed="rId2"/>
          <a:srcRect/>
          <a:stretch>
            <a:fillRect/>
          </a:stretch>
        </p:blipFill>
        <p:spPr bwMode="auto">
          <a:xfrm>
            <a:off x="928662" y="750082"/>
            <a:ext cx="6934200" cy="3536180"/>
          </a:xfrm>
          <a:prstGeom prst="rect">
            <a:avLst/>
          </a:prstGeom>
          <a:noFill/>
        </p:spPr>
      </p:pic>
      <p:sp>
        <p:nvSpPr>
          <p:cNvPr id="3" name="Rectangle 2"/>
          <p:cNvSpPr/>
          <p:nvPr/>
        </p:nvSpPr>
        <p:spPr>
          <a:xfrm>
            <a:off x="71406" y="160718"/>
            <a:ext cx="8929750" cy="523220"/>
          </a:xfrm>
          <a:prstGeom prst="rect">
            <a:avLst/>
          </a:prstGeom>
        </p:spPr>
        <p:txBody>
          <a:bodyPr wrap="square">
            <a:spAutoFit/>
          </a:bodyPr>
          <a:lstStyle/>
          <a:p>
            <a:pPr algn="ctr"/>
            <a:r>
              <a:rPr lang="en-IN" sz="2800" dirty="0" smtClean="0">
                <a:latin typeface="Cambria" pitchFamily="18" charset="0"/>
                <a:ea typeface="Cambria" pitchFamily="18" charset="0"/>
              </a:rPr>
              <a:t>Three tier schema architecture for data independence</a:t>
            </a:r>
            <a:endParaRPr lang="en-US" sz="2800" dirty="0">
              <a:latin typeface="Cambria" pitchFamily="18" charset="0"/>
              <a:ea typeface="Cambria" pitchFamily="18"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1605" y="107141"/>
            <a:ext cx="6407511" cy="646331"/>
          </a:xfrm>
          <a:prstGeom prst="rect">
            <a:avLst/>
          </a:prstGeom>
        </p:spPr>
        <p:txBody>
          <a:bodyPr wrap="square">
            <a:spAutoFit/>
          </a:bodyPr>
          <a:lstStyle/>
          <a:p>
            <a:pPr algn="ctr"/>
            <a:r>
              <a:rPr lang="en-IN" sz="3600" dirty="0" smtClean="0">
                <a:latin typeface="Cambria" pitchFamily="18" charset="0"/>
                <a:ea typeface="Cambria" pitchFamily="18" charset="0"/>
              </a:rPr>
              <a:t>Database system structure</a:t>
            </a:r>
            <a:endParaRPr lang="en-US" sz="3600" dirty="0">
              <a:latin typeface="Cambria" pitchFamily="18" charset="0"/>
              <a:ea typeface="Cambria" pitchFamily="18" charset="0"/>
            </a:endParaRPr>
          </a:p>
        </p:txBody>
      </p:sp>
      <p:sp>
        <p:nvSpPr>
          <p:cNvPr id="3" name="Rectangle 2"/>
          <p:cNvSpPr/>
          <p:nvPr/>
        </p:nvSpPr>
        <p:spPr>
          <a:xfrm>
            <a:off x="214282" y="714363"/>
            <a:ext cx="8215370" cy="2769989"/>
          </a:xfrm>
          <a:prstGeom prst="rect">
            <a:avLst/>
          </a:prstGeom>
        </p:spPr>
        <p:txBody>
          <a:bodyPr wrap="square">
            <a:spAutoFit/>
          </a:bodyPr>
          <a:lstStyle/>
          <a:p>
            <a:pPr>
              <a:lnSpc>
                <a:spcPct val="150000"/>
              </a:lnSpc>
            </a:pPr>
            <a:endParaRPr lang="en-US" sz="400" dirty="0" smtClean="0">
              <a:latin typeface="Cambria" pitchFamily="18" charset="0"/>
              <a:ea typeface="Cambria" pitchFamily="18" charset="0"/>
            </a:endParaRPr>
          </a:p>
          <a:p>
            <a:pPr>
              <a:lnSpc>
                <a:spcPct val="150000"/>
              </a:lnSpc>
            </a:pPr>
            <a:r>
              <a:rPr lang="en-US" sz="2800" dirty="0" smtClean="0">
                <a:latin typeface="Cambria" pitchFamily="18" charset="0"/>
                <a:ea typeface="Cambria" pitchFamily="18" charset="0"/>
              </a:rPr>
              <a:t>Centralized</a:t>
            </a:r>
          </a:p>
          <a:p>
            <a:pPr>
              <a:lnSpc>
                <a:spcPct val="150000"/>
              </a:lnSpc>
            </a:pPr>
            <a:r>
              <a:rPr lang="en-US" sz="2800" dirty="0" smtClean="0">
                <a:latin typeface="Cambria" pitchFamily="18" charset="0"/>
                <a:ea typeface="Cambria" pitchFamily="18" charset="0"/>
              </a:rPr>
              <a:t>Client-server</a:t>
            </a:r>
          </a:p>
          <a:p>
            <a:pPr>
              <a:lnSpc>
                <a:spcPct val="150000"/>
              </a:lnSpc>
            </a:pPr>
            <a:r>
              <a:rPr lang="en-US" sz="2800" dirty="0" smtClean="0">
                <a:latin typeface="Cambria" pitchFamily="18" charset="0"/>
                <a:ea typeface="Cambria" pitchFamily="18" charset="0"/>
              </a:rPr>
              <a:t>Parallel (multi-processor)</a:t>
            </a:r>
          </a:p>
          <a:p>
            <a:pPr>
              <a:lnSpc>
                <a:spcPct val="150000"/>
              </a:lnSpc>
            </a:pPr>
            <a:r>
              <a:rPr lang="en-US" sz="2800" dirty="0" smtClean="0">
                <a:latin typeface="Cambria" pitchFamily="18" charset="0"/>
                <a:ea typeface="Cambria" pitchFamily="18" charset="0"/>
              </a:rPr>
              <a:t>Distributed</a:t>
            </a:r>
            <a:r>
              <a:rPr lang="en-US" sz="2800" dirty="0" smtClean="0">
                <a:latin typeface="Cambria" pitchFamily="18" charset="0"/>
                <a:ea typeface="Cambria" pitchFamily="18" charset="0"/>
                <a:sym typeface="Symbol" pitchFamily="18" charset="2"/>
              </a:rPr>
              <a:t>     </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4"/>
          <p:cNvPicPr>
            <a:picLocks noChangeAspect="1" noChangeArrowheads="1"/>
          </p:cNvPicPr>
          <p:nvPr/>
        </p:nvPicPr>
        <p:blipFill>
          <a:blip r:embed="rId2"/>
          <a:srcRect/>
          <a:stretch>
            <a:fillRect/>
          </a:stretch>
        </p:blipFill>
        <p:spPr bwMode="auto">
          <a:xfrm>
            <a:off x="1571607" y="714363"/>
            <a:ext cx="6000791" cy="4101703"/>
          </a:xfrm>
          <a:prstGeom prst="rect">
            <a:avLst/>
          </a:prstGeom>
          <a:noFill/>
          <a:ln w="9525">
            <a:noFill/>
            <a:miter lim="800000"/>
            <a:headEnd/>
            <a:tailEnd/>
          </a:ln>
        </p:spPr>
      </p:pic>
      <p:sp>
        <p:nvSpPr>
          <p:cNvPr id="5" name="Rectangle 4"/>
          <p:cNvSpPr/>
          <p:nvPr/>
        </p:nvSpPr>
        <p:spPr>
          <a:xfrm>
            <a:off x="3571868" y="53561"/>
            <a:ext cx="1935402" cy="523220"/>
          </a:xfrm>
          <a:prstGeom prst="rect">
            <a:avLst/>
          </a:prstGeom>
        </p:spPr>
        <p:txBody>
          <a:bodyPr wrap="none">
            <a:spAutoFit/>
          </a:bodyPr>
          <a:lstStyle/>
          <a:p>
            <a:r>
              <a:rPr lang="en-US" sz="2800" dirty="0" smtClean="0">
                <a:latin typeface="Cambria" pitchFamily="18" charset="0"/>
                <a:ea typeface="Cambria" pitchFamily="18" charset="0"/>
              </a:rPr>
              <a:t>Centralized</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omponents of Database System"/>
          <p:cNvPicPr>
            <a:picLocks noChangeAspect="1" noChangeArrowheads="1"/>
          </p:cNvPicPr>
          <p:nvPr/>
        </p:nvPicPr>
        <p:blipFill>
          <a:blip r:embed="rId2"/>
          <a:srcRect/>
          <a:stretch>
            <a:fillRect/>
          </a:stretch>
        </p:blipFill>
        <p:spPr bwMode="auto">
          <a:xfrm>
            <a:off x="714348" y="71439"/>
            <a:ext cx="8215372" cy="4377042"/>
          </a:xfrm>
          <a:prstGeom prst="rect">
            <a:avLst/>
          </a:prstGeom>
          <a:noFill/>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p:cNvPicPr>
            <a:picLocks noChangeAspect="1" noChangeArrowheads="1"/>
          </p:cNvPicPr>
          <p:nvPr/>
        </p:nvPicPr>
        <p:blipFill>
          <a:blip r:embed="rId2"/>
          <a:srcRect/>
          <a:stretch>
            <a:fillRect/>
          </a:stretch>
        </p:blipFill>
        <p:spPr bwMode="auto">
          <a:xfrm>
            <a:off x="1077915" y="590551"/>
            <a:ext cx="6988175" cy="39624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3042" y="48266"/>
            <a:ext cx="3643338" cy="523220"/>
          </a:xfrm>
          <a:prstGeom prst="rect">
            <a:avLst/>
          </a:prstGeom>
        </p:spPr>
        <p:txBody>
          <a:bodyPr wrap="square">
            <a:spAutoFit/>
          </a:bodyPr>
          <a:lstStyle/>
          <a:p>
            <a:pPr algn="ctr"/>
            <a:r>
              <a:rPr lang="en-US" sz="2800" dirty="0" smtClean="0">
                <a:latin typeface="Cambria" pitchFamily="18" charset="0"/>
                <a:ea typeface="Cambria" pitchFamily="18" charset="0"/>
              </a:rPr>
              <a:t>Client-server</a:t>
            </a:r>
          </a:p>
        </p:txBody>
      </p:sp>
      <p:pic>
        <p:nvPicPr>
          <p:cNvPr id="3" name="Picture 4">
            <a:extLst>
              <a:ext uri="{FF2B5EF4-FFF2-40B4-BE49-F238E27FC236}">
                <a16:creationId xmlns="" xmlns:a16="http://schemas.microsoft.com/office/drawing/2014/main" id="{0147673C-E8B3-40B3-AA08-DD582B66CF21}"/>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l="1027" t="13150" r="1439" b="13425"/>
          <a:stretch>
            <a:fillRect/>
          </a:stretch>
        </p:blipFill>
        <p:spPr bwMode="auto">
          <a:xfrm>
            <a:off x="1357292" y="642924"/>
            <a:ext cx="6027737" cy="2552700"/>
          </a:xfrm>
          <a:prstGeom prst="rect">
            <a:avLst/>
          </a:prstGeom>
          <a:noFill/>
          <a:ln w="76200" cmpd="tri">
            <a:solidFill>
              <a:schemeClr val="tx2"/>
            </a:solidFill>
            <a:miter lim="800000"/>
            <a:headEnd/>
            <a:tailEnd/>
          </a:ln>
          <a:extLst>
            <a:ext uri="{909E8E84-426E-40DD-AFC4-6F175D3DCCD1}">
              <a14:hiddenFill xmlns="" xmlns:a14="http://schemas.microsoft.com/office/drawing/2010/main">
                <a:solidFill>
                  <a:srgbClr val="FFFFFF"/>
                </a:solidFill>
              </a14:hiddenFill>
            </a:ext>
          </a:extLst>
        </p:spPr>
      </p:pic>
      <p:sp>
        <p:nvSpPr>
          <p:cNvPr id="4" name="Rectangle 3"/>
          <p:cNvSpPr/>
          <p:nvPr/>
        </p:nvSpPr>
        <p:spPr>
          <a:xfrm>
            <a:off x="428596" y="3391452"/>
            <a:ext cx="8572560" cy="1323439"/>
          </a:xfrm>
          <a:prstGeom prst="rect">
            <a:avLst/>
          </a:prstGeom>
        </p:spPr>
        <p:txBody>
          <a:bodyPr wrap="square">
            <a:spAutoFit/>
          </a:bodyPr>
          <a:lstStyle/>
          <a:p>
            <a:pPr lvl="0" defTabSz="457200">
              <a:buFont typeface="Wingdings" panose="05000000000000000000" pitchFamily="2" charset="2"/>
              <a:buChar char="§"/>
              <a:defRPr/>
            </a:pPr>
            <a:r>
              <a:rPr lang="en-US" altLang="en-US" sz="2000" b="1" dirty="0">
                <a:solidFill>
                  <a:srgbClr val="FF0000"/>
                </a:solidFill>
                <a:latin typeface="Cambria" pitchFamily="18" charset="0"/>
                <a:ea typeface="Cambria" pitchFamily="18" charset="0"/>
                <a:cs typeface="Arial" panose="020B0604020202020204" pitchFamily="34" charset="0"/>
              </a:rPr>
              <a:t>Two-tier architecture</a:t>
            </a:r>
            <a:r>
              <a:rPr lang="en-US" altLang="en-US" sz="2000" dirty="0">
                <a:solidFill>
                  <a:srgbClr val="FF0000"/>
                </a:solidFill>
                <a:latin typeface="Cambria" pitchFamily="18" charset="0"/>
                <a:ea typeface="Cambria" pitchFamily="18" charset="0"/>
                <a:cs typeface="Arial" panose="020B0604020202020204" pitchFamily="34" charset="0"/>
              </a:rPr>
              <a:t>:  </a:t>
            </a:r>
            <a:r>
              <a:rPr lang="en-US" altLang="en-US" sz="2000" dirty="0">
                <a:solidFill>
                  <a:prstClr val="black"/>
                </a:solidFill>
                <a:latin typeface="Cambria" pitchFamily="18" charset="0"/>
                <a:ea typeface="Cambria" pitchFamily="18" charset="0"/>
                <a:cs typeface="Arial" panose="020B0604020202020204" pitchFamily="34" charset="0"/>
              </a:rPr>
              <a:t>E.g. client programs using ODBC/JDBC to  communicate with a database</a:t>
            </a:r>
          </a:p>
          <a:p>
            <a:pPr lvl="0" defTabSz="457200">
              <a:buFont typeface="Wingdings" panose="05000000000000000000" pitchFamily="2" charset="2"/>
              <a:buChar char="§"/>
              <a:defRPr/>
            </a:pPr>
            <a:r>
              <a:rPr lang="en-US" altLang="en-US" sz="2000" b="1" dirty="0" smtClean="0">
                <a:solidFill>
                  <a:srgbClr val="FF0000"/>
                </a:solidFill>
                <a:latin typeface="Cambria" pitchFamily="18" charset="0"/>
                <a:ea typeface="Cambria" pitchFamily="18" charset="0"/>
                <a:cs typeface="Arial" panose="020B0604020202020204" pitchFamily="34" charset="0"/>
              </a:rPr>
              <a:t>Three-tier </a:t>
            </a:r>
            <a:r>
              <a:rPr lang="en-US" altLang="en-US" sz="2000" b="1" dirty="0">
                <a:solidFill>
                  <a:srgbClr val="FF0000"/>
                </a:solidFill>
                <a:latin typeface="Cambria" pitchFamily="18" charset="0"/>
                <a:ea typeface="Cambria" pitchFamily="18" charset="0"/>
                <a:cs typeface="Arial" panose="020B0604020202020204" pitchFamily="34" charset="0"/>
              </a:rPr>
              <a:t>architecture</a:t>
            </a:r>
            <a:r>
              <a:rPr lang="en-US" altLang="en-US" sz="2000" dirty="0">
                <a:solidFill>
                  <a:prstClr val="black"/>
                </a:solidFill>
                <a:latin typeface="Cambria" pitchFamily="18" charset="0"/>
                <a:ea typeface="Cambria" pitchFamily="18" charset="0"/>
                <a:cs typeface="Arial" panose="020B0604020202020204" pitchFamily="34" charset="0"/>
              </a:rPr>
              <a:t>: E.g. web-based applications, and </a:t>
            </a:r>
            <a:br>
              <a:rPr lang="en-US" altLang="en-US" sz="2000" dirty="0">
                <a:solidFill>
                  <a:prstClr val="black"/>
                </a:solidFill>
                <a:latin typeface="Cambria" pitchFamily="18" charset="0"/>
                <a:ea typeface="Cambria" pitchFamily="18" charset="0"/>
                <a:cs typeface="Arial" panose="020B0604020202020204" pitchFamily="34" charset="0"/>
              </a:rPr>
            </a:br>
            <a:r>
              <a:rPr lang="en-US" altLang="en-US" sz="2000" dirty="0">
                <a:solidFill>
                  <a:prstClr val="black"/>
                </a:solidFill>
                <a:latin typeface="Cambria" pitchFamily="18" charset="0"/>
                <a:ea typeface="Cambria" pitchFamily="18" charset="0"/>
                <a:cs typeface="Arial" panose="020B0604020202020204" pitchFamily="34" charset="0"/>
              </a:rPr>
              <a:t>  applications built using “middleware”</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a:srcRect/>
          <a:stretch>
            <a:fillRect/>
          </a:stretch>
        </p:blipFill>
        <p:spPr bwMode="auto">
          <a:xfrm>
            <a:off x="1214414" y="214297"/>
            <a:ext cx="7143800" cy="371477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788" y="571487"/>
            <a:ext cx="7398179" cy="3108543"/>
          </a:xfrm>
          <a:prstGeom prst="rect">
            <a:avLst/>
          </a:prstGeom>
        </p:spPr>
        <p:txBody>
          <a:bodyPr wrap="square">
            <a:spAutoFit/>
          </a:bodyPr>
          <a:lstStyle/>
          <a:p>
            <a:r>
              <a:rPr lang="en-US" sz="2800" dirty="0" smtClean="0">
                <a:hlinkClick r:id="rId2"/>
              </a:rPr>
              <a:t>https://www.mentimeter.com/</a:t>
            </a:r>
            <a:endParaRPr lang="en-US" sz="2800" dirty="0" smtClean="0"/>
          </a:p>
          <a:p>
            <a:endParaRPr lang="en-US" sz="2800" dirty="0" smtClean="0"/>
          </a:p>
          <a:p>
            <a:endParaRPr lang="en-US" sz="2800" dirty="0" smtClean="0"/>
          </a:p>
          <a:p>
            <a:r>
              <a:rPr lang="en-IN" sz="2800" dirty="0" smtClean="0"/>
              <a:t>Creation, altering and </a:t>
            </a:r>
            <a:r>
              <a:rPr lang="en-IN" sz="2800" dirty="0" err="1" smtClean="0"/>
              <a:t>droping</a:t>
            </a:r>
            <a:r>
              <a:rPr lang="en-IN" sz="2800" dirty="0" smtClean="0"/>
              <a:t> of tables and inserting rows into a table</a:t>
            </a:r>
          </a:p>
          <a:p>
            <a:r>
              <a:rPr lang="en-IN" sz="2800" dirty="0" smtClean="0"/>
              <a:t> (use constraints while creating tables) examples using SELECT command.</a:t>
            </a:r>
            <a:endParaRPr lang="en-US" sz="2800" dirty="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2"/>
          <a:srcRect/>
          <a:stretch>
            <a:fillRect/>
          </a:stretch>
        </p:blipFill>
        <p:spPr bwMode="auto">
          <a:xfrm>
            <a:off x="642910" y="141302"/>
            <a:ext cx="7353300" cy="43592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3" name="Picture 3"/>
          <p:cNvPicPr>
            <a:picLocks noChangeAspect="1" noChangeArrowheads="1"/>
          </p:cNvPicPr>
          <p:nvPr/>
        </p:nvPicPr>
        <p:blipFill>
          <a:blip r:embed="rId2"/>
          <a:srcRect/>
          <a:stretch>
            <a:fillRect/>
          </a:stretch>
        </p:blipFill>
        <p:spPr bwMode="auto">
          <a:xfrm>
            <a:off x="1019376" y="71420"/>
            <a:ext cx="7124523" cy="435771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ChangeArrowheads="1"/>
          </p:cNvSpPr>
          <p:nvPr/>
        </p:nvSpPr>
        <p:spPr bwMode="auto">
          <a:xfrm>
            <a:off x="571472" y="107140"/>
            <a:ext cx="821537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Cambria" pitchFamily="18" charset="0"/>
                <a:ea typeface="Cambria" pitchFamily="18" charset="0"/>
                <a:cs typeface="Times New Roman" pitchFamily="18" charset="0"/>
              </a:rPr>
              <a:t>UNIT II:</a:t>
            </a:r>
          </a:p>
          <a:p>
            <a:pPr lvl="0" fontAlgn="base">
              <a:spcBef>
                <a:spcPct val="0"/>
              </a:spcBef>
              <a:spcAft>
                <a:spcPct val="0"/>
              </a:spcAft>
            </a:pPr>
            <a:r>
              <a:rPr lang="en-US" sz="2800" dirty="0" smtClean="0">
                <a:latin typeface="Cambria" pitchFamily="18" charset="0"/>
                <a:ea typeface="Cambria" pitchFamily="18" charset="0"/>
              </a:rPr>
              <a:t>PART-I: Relational Model</a:t>
            </a:r>
          </a:p>
          <a:p>
            <a:pPr lvl="0" fontAlgn="base">
              <a:spcBef>
                <a:spcPct val="0"/>
              </a:spcBef>
              <a:spcAft>
                <a:spcPct val="0"/>
              </a:spcAft>
            </a:pPr>
            <a:r>
              <a:rPr lang="en-US" sz="2800" dirty="0" smtClean="0">
                <a:latin typeface="Cambria" pitchFamily="18" charset="0"/>
                <a:ea typeface="Cambria" pitchFamily="18" charset="0"/>
              </a:rPr>
              <a:t>PART-II: Entity Relationship Model</a:t>
            </a:r>
            <a:endParaRPr kumimoji="0" lang="en-US" sz="2800" b="0" i="0" u="none" strike="noStrike" cap="none" normalizeH="0" baseline="0" dirty="0" smtClean="0">
              <a:ln>
                <a:noFill/>
              </a:ln>
              <a:solidFill>
                <a:schemeClr val="tx1"/>
              </a:solidFill>
              <a:effectLst/>
              <a:latin typeface="Cambria" pitchFamily="18" charset="0"/>
              <a:ea typeface="Cambria" pitchFamily="18" charset="0"/>
              <a:cs typeface="Times New Roman" pitchFamily="18" charset="0"/>
            </a:endParaRPr>
          </a:p>
        </p:txBody>
      </p:sp>
      <p:sp>
        <p:nvSpPr>
          <p:cNvPr id="4" name="Rectangle 3"/>
          <p:cNvSpPr/>
          <p:nvPr/>
        </p:nvSpPr>
        <p:spPr>
          <a:xfrm>
            <a:off x="0" y="1875229"/>
            <a:ext cx="9001156" cy="2677656"/>
          </a:xfrm>
          <a:prstGeom prst="rect">
            <a:avLst/>
          </a:prstGeom>
        </p:spPr>
        <p:txBody>
          <a:bodyPr wrap="square">
            <a:spAutoFit/>
          </a:bodyPr>
          <a:lstStyle/>
          <a:p>
            <a:pPr marL="342900" indent="-342900">
              <a:buAutoNum type="arabicPeriod"/>
            </a:pPr>
            <a:r>
              <a:rPr lang="en-US" sz="2400" dirty="0" smtClean="0">
                <a:latin typeface="Cambria" pitchFamily="18" charset="0"/>
                <a:ea typeface="Cambria" pitchFamily="18" charset="0"/>
              </a:rPr>
              <a:t>Introduction to relational model </a:t>
            </a:r>
          </a:p>
          <a:p>
            <a:pPr marL="342900" indent="-342900"/>
            <a:r>
              <a:rPr lang="en-US" sz="2400" dirty="0" smtClean="0">
                <a:latin typeface="Cambria" pitchFamily="18" charset="0"/>
                <a:ea typeface="Cambria" pitchFamily="18" charset="0"/>
              </a:rPr>
              <a:t>2. Concepts of domain attribute </a:t>
            </a:r>
            <a:r>
              <a:rPr lang="en-US" sz="2400" dirty="0" err="1" smtClean="0">
                <a:latin typeface="Cambria" pitchFamily="18" charset="0"/>
                <a:ea typeface="Cambria" pitchFamily="18" charset="0"/>
              </a:rPr>
              <a:t>tupple</a:t>
            </a:r>
            <a:r>
              <a:rPr lang="en-US" sz="2400" dirty="0" smtClean="0">
                <a:latin typeface="Cambria" pitchFamily="18" charset="0"/>
                <a:ea typeface="Cambria" pitchFamily="18" charset="0"/>
              </a:rPr>
              <a:t> relation </a:t>
            </a:r>
          </a:p>
          <a:p>
            <a:pPr marL="342900" indent="-342900"/>
            <a:r>
              <a:rPr lang="en-US" sz="2400" dirty="0" smtClean="0">
                <a:latin typeface="Cambria" pitchFamily="18" charset="0"/>
                <a:ea typeface="Cambria" pitchFamily="18" charset="0"/>
              </a:rPr>
              <a:t>3. Importance of null values </a:t>
            </a:r>
          </a:p>
          <a:p>
            <a:pPr marL="342900" indent="-342900"/>
            <a:r>
              <a:rPr lang="en-US" sz="2400" dirty="0" smtClean="0">
                <a:latin typeface="Cambria" pitchFamily="18" charset="0"/>
                <a:ea typeface="Cambria" pitchFamily="18" charset="0"/>
              </a:rPr>
              <a:t>4. Constraints:</a:t>
            </a:r>
          </a:p>
          <a:p>
            <a:pPr marL="342900" indent="-342900"/>
            <a:r>
              <a:rPr lang="en-US" sz="2400" dirty="0" smtClean="0">
                <a:latin typeface="Cambria" pitchFamily="18" charset="0"/>
                <a:ea typeface="Cambria" pitchFamily="18" charset="0"/>
                <a:sym typeface="Wingdings" pitchFamily="2" charset="2"/>
              </a:rPr>
              <a:t>                           </a:t>
            </a:r>
            <a:r>
              <a:rPr lang="en-US" sz="2400" dirty="0" smtClean="0">
                <a:latin typeface="Cambria" pitchFamily="18" charset="0"/>
                <a:ea typeface="Cambria" pitchFamily="18" charset="0"/>
              </a:rPr>
              <a:t>domain constraints </a:t>
            </a:r>
          </a:p>
          <a:p>
            <a:pPr marL="342900" indent="-342900"/>
            <a:r>
              <a:rPr lang="en-US" sz="2400" dirty="0" smtClean="0">
                <a:latin typeface="Cambria" pitchFamily="18" charset="0"/>
                <a:ea typeface="Cambria" pitchFamily="18" charset="0"/>
                <a:sym typeface="Wingdings" pitchFamily="2" charset="2"/>
              </a:rPr>
              <a:t>                           </a:t>
            </a:r>
            <a:r>
              <a:rPr lang="en-US" sz="2400" dirty="0" smtClean="0">
                <a:latin typeface="Cambria" pitchFamily="18" charset="0"/>
                <a:ea typeface="Cambria" pitchFamily="18" charset="0"/>
              </a:rPr>
              <a:t>key constraints</a:t>
            </a:r>
          </a:p>
          <a:p>
            <a:pPr marL="342900" indent="-342900"/>
            <a:r>
              <a:rPr lang="en-US" sz="2400" dirty="0" smtClean="0">
                <a:latin typeface="Cambria" pitchFamily="18" charset="0"/>
                <a:ea typeface="Cambria" pitchFamily="18" charset="0"/>
                <a:sym typeface="Wingdings" pitchFamily="2" charset="2"/>
              </a:rPr>
              <a:t>                           </a:t>
            </a:r>
            <a:r>
              <a:rPr lang="en-US" sz="2400" dirty="0" smtClean="0">
                <a:latin typeface="Cambria" pitchFamily="18" charset="0"/>
                <a:ea typeface="Cambria" pitchFamily="18" charset="0"/>
              </a:rPr>
              <a:t>integrity constraints and their importance. </a:t>
            </a:r>
            <a:endParaRPr lang="en-US" sz="2400" dirty="0">
              <a:latin typeface="Cambria" pitchFamily="18" charset="0"/>
              <a:ea typeface="Cambria" pitchFamily="18" charset="0"/>
            </a:endParaRPr>
          </a:p>
        </p:txBody>
      </p:sp>
      <p:sp>
        <p:nvSpPr>
          <p:cNvPr id="5" name="Rectangle 4"/>
          <p:cNvSpPr/>
          <p:nvPr/>
        </p:nvSpPr>
        <p:spPr>
          <a:xfrm>
            <a:off x="2643174" y="1446602"/>
            <a:ext cx="4003532" cy="523220"/>
          </a:xfrm>
          <a:prstGeom prst="rect">
            <a:avLst/>
          </a:prstGeom>
        </p:spPr>
        <p:txBody>
          <a:bodyPr wrap="none">
            <a:spAutoFit/>
          </a:bodyPr>
          <a:lstStyle/>
          <a:p>
            <a:pPr lvl="0" fontAlgn="base">
              <a:spcBef>
                <a:spcPct val="0"/>
              </a:spcBef>
              <a:spcAft>
                <a:spcPct val="0"/>
              </a:spcAft>
            </a:pPr>
            <a:r>
              <a:rPr lang="en-US" sz="2800" dirty="0" smtClean="0">
                <a:solidFill>
                  <a:srgbClr val="FFC000"/>
                </a:solidFill>
                <a:latin typeface="Cambria" pitchFamily="18" charset="0"/>
                <a:ea typeface="Cambria" pitchFamily="18" charset="0"/>
              </a:rPr>
              <a:t>PART-I: Relational Model</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642924"/>
            <a:ext cx="8501122" cy="3416320"/>
          </a:xfrm>
          <a:prstGeom prst="rect">
            <a:avLst/>
          </a:prstGeom>
        </p:spPr>
        <p:txBody>
          <a:bodyPr wrap="square">
            <a:spAutoFit/>
          </a:bodyPr>
          <a:lstStyle/>
          <a:p>
            <a:pPr marL="342900" indent="-342900">
              <a:buAutoNum type="arabicPeriod"/>
            </a:pPr>
            <a:r>
              <a:rPr lang="en-US" sz="2400" dirty="0" smtClean="0">
                <a:latin typeface="Cambria" pitchFamily="18" charset="0"/>
                <a:ea typeface="Cambria" pitchFamily="18" charset="0"/>
              </a:rPr>
              <a:t>Introduction </a:t>
            </a:r>
          </a:p>
          <a:p>
            <a:pPr marL="342900" indent="-342900">
              <a:buAutoNum type="arabicPeriod"/>
            </a:pPr>
            <a:r>
              <a:rPr lang="en-US" sz="2400" dirty="0" smtClean="0">
                <a:latin typeface="Cambria" pitchFamily="18" charset="0"/>
                <a:ea typeface="Cambria" pitchFamily="18" charset="0"/>
              </a:rPr>
              <a:t>Representation of Entities Attributes Entity set Relationship Relation ship Set </a:t>
            </a:r>
          </a:p>
          <a:p>
            <a:pPr marL="342900" indent="-342900"/>
            <a:r>
              <a:rPr lang="en-US" sz="2400" dirty="0" smtClean="0">
                <a:latin typeface="Cambria" pitchFamily="18" charset="0"/>
                <a:ea typeface="Cambria" pitchFamily="18" charset="0"/>
              </a:rPr>
              <a:t>3. Constraints on ER Model</a:t>
            </a:r>
          </a:p>
          <a:p>
            <a:pPr marL="342900" indent="-342900"/>
            <a:r>
              <a:rPr lang="en-US" sz="2400" dirty="0">
                <a:latin typeface="Cambria" pitchFamily="18" charset="0"/>
                <a:ea typeface="Cambria" pitchFamily="18" charset="0"/>
              </a:rPr>
              <a:t> </a:t>
            </a:r>
            <a:r>
              <a:rPr lang="en-US" sz="2400" dirty="0" smtClean="0">
                <a:latin typeface="Cambria" pitchFamily="18" charset="0"/>
                <a:ea typeface="Cambria" pitchFamily="18" charset="0"/>
              </a:rPr>
              <a:t>                                       Sub classes </a:t>
            </a:r>
          </a:p>
          <a:p>
            <a:pPr marL="342900" indent="-342900"/>
            <a:r>
              <a:rPr lang="en-US" sz="2400" dirty="0">
                <a:latin typeface="Cambria" pitchFamily="18" charset="0"/>
                <a:ea typeface="Cambria" pitchFamily="18" charset="0"/>
              </a:rPr>
              <a:t> </a:t>
            </a:r>
            <a:r>
              <a:rPr lang="en-US" sz="2400" dirty="0" smtClean="0">
                <a:latin typeface="Cambria" pitchFamily="18" charset="0"/>
                <a:ea typeface="Cambria" pitchFamily="18" charset="0"/>
              </a:rPr>
              <a:t>                                       Super classes </a:t>
            </a:r>
          </a:p>
          <a:p>
            <a:pPr marL="342900" indent="-342900"/>
            <a:r>
              <a:rPr lang="en-US" sz="2400" dirty="0">
                <a:latin typeface="Cambria" pitchFamily="18" charset="0"/>
                <a:ea typeface="Cambria" pitchFamily="18" charset="0"/>
              </a:rPr>
              <a:t> </a:t>
            </a:r>
            <a:r>
              <a:rPr lang="en-US" sz="2400" dirty="0" smtClean="0">
                <a:latin typeface="Cambria" pitchFamily="18" charset="0"/>
                <a:ea typeface="Cambria" pitchFamily="18" charset="0"/>
              </a:rPr>
              <a:t>                                       Inheritance               </a:t>
            </a:r>
          </a:p>
          <a:p>
            <a:pPr marL="342900" indent="-342900"/>
            <a:r>
              <a:rPr lang="en-US" sz="2400" dirty="0" smtClean="0">
                <a:latin typeface="Cambria" pitchFamily="18" charset="0"/>
                <a:ea typeface="Cambria" pitchFamily="18" charset="0"/>
              </a:rPr>
              <a:t>4. Specialization, generalization using  </a:t>
            </a:r>
          </a:p>
          <a:p>
            <a:pPr marL="342900" indent="-342900"/>
            <a:r>
              <a:rPr lang="en-US" sz="2400" dirty="0">
                <a:latin typeface="Cambria" pitchFamily="18" charset="0"/>
                <a:ea typeface="Cambria" pitchFamily="18" charset="0"/>
              </a:rPr>
              <a:t> </a:t>
            </a:r>
            <a:r>
              <a:rPr lang="en-US" sz="2400" dirty="0" smtClean="0">
                <a:latin typeface="Cambria" pitchFamily="18" charset="0"/>
                <a:ea typeface="Cambria" pitchFamily="18" charset="0"/>
              </a:rPr>
              <a:t>                                       ER Diagrams.</a:t>
            </a:r>
            <a:endParaRPr lang="en-US" sz="2400" dirty="0">
              <a:latin typeface="Cambria" pitchFamily="18" charset="0"/>
              <a:ea typeface="Cambria" pitchFamily="18" charset="0"/>
            </a:endParaRPr>
          </a:p>
        </p:txBody>
      </p:sp>
      <p:sp>
        <p:nvSpPr>
          <p:cNvPr id="3" name="Rectangle 2"/>
          <p:cNvSpPr/>
          <p:nvPr/>
        </p:nvSpPr>
        <p:spPr>
          <a:xfrm>
            <a:off x="928662" y="71420"/>
            <a:ext cx="6143668" cy="523220"/>
          </a:xfrm>
          <a:prstGeom prst="rect">
            <a:avLst/>
          </a:prstGeom>
        </p:spPr>
        <p:txBody>
          <a:bodyPr wrap="square">
            <a:spAutoFit/>
          </a:bodyPr>
          <a:lstStyle/>
          <a:p>
            <a:pPr lvl="0" fontAlgn="base">
              <a:spcBef>
                <a:spcPct val="0"/>
              </a:spcBef>
              <a:spcAft>
                <a:spcPct val="0"/>
              </a:spcAft>
            </a:pPr>
            <a:r>
              <a:rPr lang="en-US" sz="2800" dirty="0" smtClean="0">
                <a:solidFill>
                  <a:srgbClr val="FFC000"/>
                </a:solidFill>
                <a:latin typeface="Cambria" pitchFamily="18" charset="0"/>
                <a:ea typeface="Cambria" pitchFamily="18" charset="0"/>
              </a:rPr>
              <a:t>PART-II: Entity Relationship Model</a:t>
            </a:r>
            <a:endParaRPr kumimoji="0" lang="en-US" sz="2800" b="0" i="0" u="none" strike="noStrike" cap="none" normalizeH="0" baseline="0" dirty="0" smtClean="0">
              <a:ln>
                <a:noFill/>
              </a:ln>
              <a:solidFill>
                <a:srgbClr val="FFC000"/>
              </a:solidFill>
              <a:effectLst/>
              <a:latin typeface="Cambria" pitchFamily="18" charset="0"/>
              <a:ea typeface="Cambria"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44" y="107140"/>
            <a:ext cx="7860182" cy="741945"/>
          </a:xfrm>
        </p:spPr>
        <p:txBody>
          <a:bodyPr>
            <a:normAutofit/>
          </a:bodyPr>
          <a:lstStyle/>
          <a:p>
            <a:pPr algn="ctr"/>
            <a:r>
              <a:rPr lang="en-US" sz="2800" b="1" dirty="0">
                <a:solidFill>
                  <a:srgbClr val="7030A0"/>
                </a:solidFill>
                <a:latin typeface="Cambria" pitchFamily="18" charset="0"/>
                <a:ea typeface="Cambria" pitchFamily="18" charset="0"/>
              </a:rPr>
              <a:t>RELATIONAL MODEL</a:t>
            </a:r>
          </a:p>
        </p:txBody>
      </p:sp>
      <p:sp>
        <p:nvSpPr>
          <p:cNvPr id="3" name="Content Placeholder 2"/>
          <p:cNvSpPr>
            <a:spLocks noGrp="1"/>
          </p:cNvSpPr>
          <p:nvPr>
            <p:ph idx="1"/>
          </p:nvPr>
        </p:nvSpPr>
        <p:spPr>
          <a:xfrm>
            <a:off x="142844" y="696503"/>
            <a:ext cx="8858312" cy="2232438"/>
          </a:xfrm>
        </p:spPr>
        <p:txBody>
          <a:bodyPr>
            <a:noAutofit/>
          </a:bodyPr>
          <a:lstStyle/>
          <a:p>
            <a:pPr>
              <a:lnSpc>
                <a:spcPct val="150000"/>
              </a:lnSpc>
              <a:buNone/>
            </a:pPr>
            <a:r>
              <a:rPr lang="en-US" sz="2400" dirty="0" smtClean="0">
                <a:latin typeface="Cambria" pitchFamily="18" charset="0"/>
                <a:ea typeface="Cambria" pitchFamily="18" charset="0"/>
                <a:sym typeface="Wingdings" pitchFamily="2" charset="2"/>
              </a:rPr>
              <a:t></a:t>
            </a:r>
            <a:r>
              <a:rPr lang="en-US" sz="2400" dirty="0" smtClean="0">
                <a:latin typeface="Cambria" pitchFamily="18" charset="0"/>
                <a:ea typeface="Cambria" pitchFamily="18" charset="0"/>
              </a:rPr>
              <a:t>It is </a:t>
            </a:r>
            <a:r>
              <a:rPr lang="en-US" sz="2400" dirty="0">
                <a:latin typeface="Cambria" pitchFamily="18" charset="0"/>
                <a:ea typeface="Cambria" pitchFamily="18" charset="0"/>
              </a:rPr>
              <a:t>the most </a:t>
            </a:r>
            <a:r>
              <a:rPr lang="en-US" sz="2400" b="1" dirty="0">
                <a:latin typeface="Cambria" pitchFamily="18" charset="0"/>
                <a:ea typeface="Cambria" pitchFamily="18" charset="0"/>
              </a:rPr>
              <a:t>widely used </a:t>
            </a:r>
            <a:r>
              <a:rPr lang="en-US" sz="2400" b="1" dirty="0" smtClean="0">
                <a:latin typeface="Cambria" pitchFamily="18" charset="0"/>
                <a:ea typeface="Cambria" pitchFamily="18" charset="0"/>
              </a:rPr>
              <a:t>model</a:t>
            </a:r>
            <a:endParaRPr lang="en-US" sz="2400" b="1" dirty="0">
              <a:latin typeface="Cambria" pitchFamily="18" charset="0"/>
              <a:ea typeface="Cambria" pitchFamily="18" charset="0"/>
            </a:endParaRPr>
          </a:p>
          <a:p>
            <a:pPr>
              <a:lnSpc>
                <a:spcPct val="150000"/>
              </a:lnSpc>
              <a:buNone/>
            </a:pPr>
            <a:r>
              <a:rPr lang="en-US" sz="2400" b="1" dirty="0" smtClean="0">
                <a:latin typeface="Cambria" pitchFamily="18" charset="0"/>
                <a:ea typeface="Cambria" pitchFamily="18" charset="0"/>
                <a:sym typeface="Wingdings" pitchFamily="2" charset="2"/>
              </a:rPr>
              <a:t></a:t>
            </a:r>
            <a:r>
              <a:rPr lang="en-US" sz="2400" dirty="0" smtClean="0">
                <a:latin typeface="Cambria" pitchFamily="18" charset="0"/>
                <a:ea typeface="Cambria" pitchFamily="18" charset="0"/>
              </a:rPr>
              <a:t>In </a:t>
            </a:r>
            <a:r>
              <a:rPr lang="en-US" sz="2400" dirty="0">
                <a:latin typeface="Cambria" pitchFamily="18" charset="0"/>
                <a:ea typeface="Cambria" pitchFamily="18" charset="0"/>
              </a:rPr>
              <a:t>this model the data is </a:t>
            </a:r>
            <a:r>
              <a:rPr lang="en-US" sz="2400" dirty="0" smtClean="0">
                <a:latin typeface="Cambria" pitchFamily="18" charset="0"/>
                <a:ea typeface="Cambria" pitchFamily="18" charset="0"/>
              </a:rPr>
              <a:t>organized </a:t>
            </a:r>
            <a:r>
              <a:rPr lang="en-US" sz="2400" dirty="0">
                <a:latin typeface="Cambria" pitchFamily="18" charset="0"/>
                <a:ea typeface="Cambria" pitchFamily="18" charset="0"/>
              </a:rPr>
              <a:t>in the form of </a:t>
            </a:r>
            <a:r>
              <a:rPr lang="en-US" sz="2400" b="1" dirty="0" smtClean="0">
                <a:latin typeface="Cambria" pitchFamily="18" charset="0"/>
                <a:ea typeface="Cambria" pitchFamily="18" charset="0"/>
              </a:rPr>
              <a:t>table</a:t>
            </a:r>
            <a:r>
              <a:rPr lang="en-US" sz="2400" dirty="0">
                <a:latin typeface="Cambria" pitchFamily="18" charset="0"/>
                <a:ea typeface="Cambria" pitchFamily="18" charset="0"/>
              </a:rPr>
              <a:t>.</a:t>
            </a:r>
          </a:p>
          <a:p>
            <a:pPr>
              <a:lnSpc>
                <a:spcPct val="150000"/>
              </a:lnSpc>
              <a:spcBef>
                <a:spcPts val="0"/>
              </a:spcBef>
              <a:spcAft>
                <a:spcPts val="600"/>
              </a:spcAft>
              <a:buNone/>
            </a:pPr>
            <a:r>
              <a:rPr lang="en-US" sz="2400" dirty="0" smtClean="0">
                <a:latin typeface="Cambria" pitchFamily="18" charset="0"/>
                <a:ea typeface="Cambria" pitchFamily="18" charset="0"/>
                <a:sym typeface="Wingdings" pitchFamily="2" charset="2"/>
              </a:rPr>
              <a:t></a:t>
            </a:r>
            <a:r>
              <a:rPr lang="en-US" sz="2400" dirty="0" smtClean="0">
                <a:latin typeface="Cambria" pitchFamily="18" charset="0"/>
                <a:ea typeface="Cambria" pitchFamily="18" charset="0"/>
              </a:rPr>
              <a:t>All </a:t>
            </a:r>
            <a:r>
              <a:rPr lang="en-US" sz="2400" dirty="0">
                <a:latin typeface="Cambria" pitchFamily="18" charset="0"/>
                <a:ea typeface="Cambria" pitchFamily="18" charset="0"/>
              </a:rPr>
              <a:t>the information is stored in the form of </a:t>
            </a:r>
            <a:r>
              <a:rPr lang="en-US" sz="2400" b="1" i="1" dirty="0">
                <a:latin typeface="Cambria" pitchFamily="18" charset="0"/>
                <a:ea typeface="Cambria" pitchFamily="18" charset="0"/>
              </a:rPr>
              <a:t>rows and columns</a:t>
            </a:r>
            <a:r>
              <a:rPr lang="en-US" sz="2400" dirty="0">
                <a:latin typeface="Cambria" pitchFamily="18" charset="0"/>
                <a:ea typeface="Cambria" pitchFamily="18" charset="0"/>
              </a:rPr>
              <a:t>.</a:t>
            </a:r>
          </a:p>
          <a:p>
            <a:pPr>
              <a:lnSpc>
                <a:spcPct val="150000"/>
              </a:lnSpc>
              <a:buNone/>
            </a:pPr>
            <a:r>
              <a:rPr lang="en-US" sz="2400" dirty="0" smtClean="0">
                <a:latin typeface="Cambria" pitchFamily="18" charset="0"/>
                <a:ea typeface="Cambria" pitchFamily="18" charset="0"/>
                <a:sym typeface="Wingdings" pitchFamily="2" charset="2"/>
              </a:rPr>
              <a:t></a:t>
            </a:r>
            <a:r>
              <a:rPr lang="en-US" sz="2400" dirty="0" smtClean="0">
                <a:latin typeface="Cambria" pitchFamily="18" charset="0"/>
                <a:ea typeface="Cambria" pitchFamily="18" charset="0"/>
              </a:rPr>
              <a:t>The </a:t>
            </a:r>
            <a:r>
              <a:rPr lang="en-US" sz="2400" dirty="0">
                <a:latin typeface="Cambria" pitchFamily="18" charset="0"/>
                <a:ea typeface="Cambria" pitchFamily="18" charset="0"/>
              </a:rPr>
              <a:t>basic structure of </a:t>
            </a:r>
            <a:r>
              <a:rPr lang="en-US" sz="2400" dirty="0" smtClean="0">
                <a:latin typeface="Cambria" pitchFamily="18" charset="0"/>
                <a:ea typeface="Cambria" pitchFamily="18" charset="0"/>
              </a:rPr>
              <a:t>a </a:t>
            </a:r>
            <a:r>
              <a:rPr lang="en-US" sz="2400" dirty="0">
                <a:latin typeface="Cambria" pitchFamily="18" charset="0"/>
                <a:ea typeface="Cambria" pitchFamily="18" charset="0"/>
              </a:rPr>
              <a:t>relational model is a </a:t>
            </a:r>
            <a:r>
              <a:rPr lang="en-US" sz="2400" b="1" dirty="0">
                <a:latin typeface="Cambria" pitchFamily="18" charset="0"/>
                <a:ea typeface="Cambria" pitchFamily="18" charset="0"/>
              </a:rPr>
              <a:t>table. </a:t>
            </a:r>
            <a:endParaRPr lang="en-US" sz="2400" dirty="0">
              <a:latin typeface="Cambria" pitchFamily="18" charset="0"/>
              <a:ea typeface="Cambria" pitchFamily="18" charset="0"/>
            </a:endParaRPr>
          </a:p>
          <a:p>
            <a:pPr>
              <a:lnSpc>
                <a:spcPct val="150000"/>
              </a:lnSpc>
              <a:buNone/>
            </a:pPr>
            <a:r>
              <a:rPr lang="en-US" sz="2400" dirty="0" smtClean="0">
                <a:latin typeface="Cambria" pitchFamily="18" charset="0"/>
                <a:ea typeface="Cambria" pitchFamily="18" charset="0"/>
                <a:sym typeface="Wingdings" pitchFamily="2" charset="2"/>
              </a:rPr>
              <a:t></a:t>
            </a:r>
            <a:r>
              <a:rPr lang="en-US" sz="2400" dirty="0" smtClean="0">
                <a:latin typeface="Cambria" pitchFamily="18" charset="0"/>
                <a:ea typeface="Cambria" pitchFamily="18" charset="0"/>
              </a:rPr>
              <a:t>Tables </a:t>
            </a:r>
            <a:r>
              <a:rPr lang="en-US" sz="2400" dirty="0">
                <a:latin typeface="Cambria" pitchFamily="18" charset="0"/>
                <a:ea typeface="Cambria" pitchFamily="18" charset="0"/>
              </a:rPr>
              <a:t>are also called </a:t>
            </a:r>
            <a:r>
              <a:rPr lang="en-US" sz="2400" b="1" i="1" dirty="0">
                <a:latin typeface="Cambria" pitchFamily="18" charset="0"/>
                <a:ea typeface="Cambria" pitchFamily="18" charset="0"/>
              </a:rPr>
              <a:t>relations</a:t>
            </a:r>
            <a:r>
              <a:rPr lang="en-US" sz="2400" dirty="0">
                <a:latin typeface="Cambria" pitchFamily="18" charset="0"/>
                <a:ea typeface="Cambria" pitchFamily="18" charset="0"/>
              </a:rPr>
              <a:t> in the relational model.</a:t>
            </a:r>
          </a:p>
          <a:p>
            <a:pPr>
              <a:lnSpc>
                <a:spcPct val="150000"/>
              </a:lnSpc>
              <a:buNone/>
            </a:pPr>
            <a:endParaRPr lang="en-US" sz="2400" dirty="0">
              <a:latin typeface="Cambria" pitchFamily="18" charset="0"/>
              <a:ea typeface="Cambria" pitchFamily="18" charset="0"/>
            </a:endParaRPr>
          </a:p>
        </p:txBody>
      </p:sp>
    </p:spTree>
    <p:extLst>
      <p:ext uri="{BB962C8B-B14F-4D97-AF65-F5344CB8AC3E}">
        <p14:creationId xmlns="" xmlns:p14="http://schemas.microsoft.com/office/powerpoint/2010/main" val="3488315427"/>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5720" y="750082"/>
            <a:ext cx="8429684" cy="3053975"/>
          </a:xfrm>
          <a:prstGeom prst="rect">
            <a:avLst/>
          </a:prstGeom>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descr="A diagram of a diagram&#10;&#10;Description automatically generated">
            <a:extLst>
              <a:ext uri="{FF2B5EF4-FFF2-40B4-BE49-F238E27FC236}">
                <a16:creationId xmlns="" xmlns:a16="http://schemas.microsoft.com/office/drawing/2014/main" id="{0DCCFC0F-5620-A0AF-B70E-73550971AFCF}"/>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14284" y="-17"/>
            <a:ext cx="8429683" cy="4393437"/>
          </a:xfrm>
          <a:prstGeom prst="rect">
            <a:avLst/>
          </a:prstGeom>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NULL VALUES and NULL FUNCTIONS in SQL"/>
          <p:cNvPicPr>
            <a:picLocks noChangeAspect="1" noChangeArrowheads="1"/>
          </p:cNvPicPr>
          <p:nvPr/>
        </p:nvPicPr>
        <p:blipFill>
          <a:blip r:embed="rId2"/>
          <a:srcRect/>
          <a:stretch>
            <a:fillRect/>
          </a:stretch>
        </p:blipFill>
        <p:spPr bwMode="auto">
          <a:xfrm>
            <a:off x="1071538" y="1071553"/>
            <a:ext cx="7258050" cy="2457451"/>
          </a:xfrm>
          <a:prstGeom prst="rect">
            <a:avLst/>
          </a:prstGeom>
          <a:noFill/>
        </p:spPr>
      </p:pic>
      <p:sp>
        <p:nvSpPr>
          <p:cNvPr id="4" name="Rectangle 3"/>
          <p:cNvSpPr/>
          <p:nvPr/>
        </p:nvSpPr>
        <p:spPr>
          <a:xfrm>
            <a:off x="1000100" y="160719"/>
            <a:ext cx="6286544" cy="646331"/>
          </a:xfrm>
          <a:prstGeom prst="rect">
            <a:avLst/>
          </a:prstGeom>
        </p:spPr>
        <p:txBody>
          <a:bodyPr wrap="square">
            <a:spAutoFit/>
          </a:bodyPr>
          <a:lstStyle/>
          <a:p>
            <a:pPr algn="ctr"/>
            <a:r>
              <a:rPr lang="en-US" sz="3600" dirty="0" smtClean="0"/>
              <a:t>null values </a:t>
            </a:r>
            <a:endParaRPr lang="en-US" sz="3600" dirty="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00100" y="321455"/>
            <a:ext cx="6143668" cy="584775"/>
          </a:xfrm>
          <a:prstGeom prst="rect">
            <a:avLst/>
          </a:prstGeom>
        </p:spPr>
        <p:txBody>
          <a:bodyPr wrap="square">
            <a:spAutoFit/>
          </a:bodyPr>
          <a:lstStyle/>
          <a:p>
            <a:r>
              <a:rPr lang="en-US" sz="3200" dirty="0" smtClean="0">
                <a:solidFill>
                  <a:srgbClr val="FFC000"/>
                </a:solidFill>
              </a:rPr>
              <a:t>Constraints</a:t>
            </a:r>
            <a:endParaRPr lang="en-US" sz="3200" dirty="0">
              <a:solidFill>
                <a:srgbClr val="FFC000"/>
              </a:solidFill>
            </a:endParaRPr>
          </a:p>
        </p:txBody>
      </p:sp>
      <p:pic>
        <p:nvPicPr>
          <p:cNvPr id="2050" name="Picture 2" descr="Constraints in DBMS - DBMS"/>
          <p:cNvPicPr>
            <a:picLocks noChangeAspect="1" noChangeArrowheads="1"/>
          </p:cNvPicPr>
          <p:nvPr/>
        </p:nvPicPr>
        <p:blipFill>
          <a:blip r:embed="rId2"/>
          <a:srcRect/>
          <a:stretch>
            <a:fillRect/>
          </a:stretch>
        </p:blipFill>
        <p:spPr bwMode="auto">
          <a:xfrm>
            <a:off x="1285852" y="1285867"/>
            <a:ext cx="6429420" cy="2196719"/>
          </a:xfrm>
          <a:prstGeom prst="rect">
            <a:avLst/>
          </a:prstGeom>
          <a:noFill/>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Types of Constraints in DBMS | Prepinsta"/>
          <p:cNvSpPr>
            <a:spLocks noChangeAspect="1" noChangeArrowheads="1"/>
          </p:cNvSpPr>
          <p:nvPr/>
        </p:nvSpPr>
        <p:spPr bwMode="auto">
          <a:xfrm>
            <a:off x="155575" y="-108346"/>
            <a:ext cx="304800" cy="2286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Types of Constraints in DBMS | Prepinsta"/>
          <p:cNvSpPr>
            <a:spLocks noChangeAspect="1" noChangeArrowheads="1"/>
          </p:cNvSpPr>
          <p:nvPr/>
        </p:nvSpPr>
        <p:spPr bwMode="auto">
          <a:xfrm>
            <a:off x="155575" y="-108346"/>
            <a:ext cx="304800" cy="2286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Types of Constraints in DBMS | Prepinsta"/>
          <p:cNvSpPr>
            <a:spLocks noChangeAspect="1" noChangeArrowheads="1"/>
          </p:cNvSpPr>
          <p:nvPr/>
        </p:nvSpPr>
        <p:spPr bwMode="auto">
          <a:xfrm>
            <a:off x="155575" y="-108346"/>
            <a:ext cx="304800" cy="2286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Types of Constraints in DBMS | Prepinsta"/>
          <p:cNvSpPr>
            <a:spLocks noChangeAspect="1" noChangeArrowheads="1"/>
          </p:cNvSpPr>
          <p:nvPr/>
        </p:nvSpPr>
        <p:spPr bwMode="auto">
          <a:xfrm>
            <a:off x="155575" y="-108346"/>
            <a:ext cx="304800" cy="2286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4" name="AutoShape 10" descr="C:\Users\RATHNA~1\AppData\Local\Temp\{58669048-AD3E-4296-BAFB-06F6D44277BC}.tmp"/>
          <p:cNvSpPr>
            <a:spLocks noChangeAspect="1" noChangeArrowheads="1"/>
          </p:cNvSpPr>
          <p:nvPr/>
        </p:nvSpPr>
        <p:spPr bwMode="auto">
          <a:xfrm>
            <a:off x="63500" y="-102394"/>
            <a:ext cx="304800" cy="2286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2"/>
          <p:cNvPicPr>
            <a:picLocks noChangeAspect="1" noChangeArrowheads="1"/>
          </p:cNvPicPr>
          <p:nvPr/>
        </p:nvPicPr>
        <p:blipFill>
          <a:blip r:embed="rId2"/>
          <a:srcRect/>
          <a:stretch>
            <a:fillRect/>
          </a:stretch>
        </p:blipFill>
        <p:spPr bwMode="auto">
          <a:xfrm>
            <a:off x="428596" y="482188"/>
            <a:ext cx="3857652" cy="174162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139470"/>
            <a:ext cx="8501122" cy="646331"/>
          </a:xfrm>
          <a:prstGeom prst="rect">
            <a:avLst/>
          </a:prstGeom>
        </p:spPr>
        <p:txBody>
          <a:bodyPr wrap="square">
            <a:spAutoFit/>
          </a:bodyPr>
          <a:lstStyle/>
          <a:p>
            <a:r>
              <a:rPr lang="en-US" b="1" dirty="0" smtClean="0">
                <a:solidFill>
                  <a:srgbClr val="FF0000"/>
                </a:solidFill>
              </a:rPr>
              <a:t>1. Domain Constraint : </a:t>
            </a:r>
            <a:r>
              <a:rPr lang="en-US" dirty="0" smtClean="0">
                <a:solidFill>
                  <a:srgbClr val="92D050"/>
                </a:solidFill>
              </a:rPr>
              <a:t>Specifies the </a:t>
            </a:r>
            <a:r>
              <a:rPr lang="en-US" b="1" dirty="0" smtClean="0">
                <a:solidFill>
                  <a:srgbClr val="92D050"/>
                </a:solidFill>
              </a:rPr>
              <a:t>type and range of values</a:t>
            </a:r>
            <a:r>
              <a:rPr lang="en-US" dirty="0" smtClean="0">
                <a:solidFill>
                  <a:srgbClr val="92D050"/>
                </a:solidFill>
              </a:rPr>
              <a:t> allowed.</a:t>
            </a:r>
          </a:p>
          <a:p>
            <a:pPr algn="ctr"/>
            <a:r>
              <a:rPr lang="en-US" b="1" dirty="0" smtClean="0"/>
              <a:t>Ex: Age INT CHECK (Age &gt;= 18)</a:t>
            </a:r>
            <a:endParaRPr lang="en-US" b="1" dirty="0"/>
          </a:p>
        </p:txBody>
      </p:sp>
      <p:sp>
        <p:nvSpPr>
          <p:cNvPr id="3" name="Rectangle 2"/>
          <p:cNvSpPr/>
          <p:nvPr/>
        </p:nvSpPr>
        <p:spPr>
          <a:xfrm>
            <a:off x="214282" y="928677"/>
            <a:ext cx="7858180" cy="646331"/>
          </a:xfrm>
          <a:prstGeom prst="rect">
            <a:avLst/>
          </a:prstGeom>
        </p:spPr>
        <p:txBody>
          <a:bodyPr wrap="square">
            <a:spAutoFit/>
          </a:bodyPr>
          <a:lstStyle/>
          <a:p>
            <a:r>
              <a:rPr lang="en-US" b="1" dirty="0" smtClean="0">
                <a:solidFill>
                  <a:srgbClr val="FF0000"/>
                </a:solidFill>
              </a:rPr>
              <a:t>2. Key Constraint:  </a:t>
            </a:r>
            <a:r>
              <a:rPr lang="en-US" dirty="0" smtClean="0">
                <a:solidFill>
                  <a:srgbClr val="92D050"/>
                </a:solidFill>
              </a:rPr>
              <a:t>Ensures that a key value is unique.</a:t>
            </a:r>
          </a:p>
          <a:p>
            <a:pPr algn="ctr"/>
            <a:r>
              <a:rPr lang="en-US" b="1" dirty="0" smtClean="0"/>
              <a:t>Ex: </a:t>
            </a:r>
            <a:r>
              <a:rPr lang="en-US" b="1" dirty="0" err="1" smtClean="0"/>
              <a:t>Student_ID</a:t>
            </a:r>
            <a:r>
              <a:rPr lang="en-US" b="1" dirty="0" smtClean="0"/>
              <a:t> INT PRIMARY KEY</a:t>
            </a:r>
            <a:endParaRPr lang="en-US" b="1" dirty="0"/>
          </a:p>
        </p:txBody>
      </p:sp>
      <p:sp>
        <p:nvSpPr>
          <p:cNvPr id="4" name="Rectangle 3"/>
          <p:cNvSpPr/>
          <p:nvPr/>
        </p:nvSpPr>
        <p:spPr>
          <a:xfrm>
            <a:off x="214282" y="1643056"/>
            <a:ext cx="8001056" cy="1754326"/>
          </a:xfrm>
          <a:prstGeom prst="rect">
            <a:avLst/>
          </a:prstGeom>
        </p:spPr>
        <p:txBody>
          <a:bodyPr wrap="square">
            <a:spAutoFit/>
          </a:bodyPr>
          <a:lstStyle/>
          <a:p>
            <a:r>
              <a:rPr lang="en-US" b="1" dirty="0" smtClean="0">
                <a:solidFill>
                  <a:srgbClr val="FF0000"/>
                </a:solidFill>
              </a:rPr>
              <a:t>3. Entity Integrity Constraint : </a:t>
            </a:r>
            <a:r>
              <a:rPr lang="en-US" dirty="0" smtClean="0">
                <a:solidFill>
                  <a:srgbClr val="92D050"/>
                </a:solidFill>
              </a:rPr>
              <a:t>The </a:t>
            </a:r>
            <a:r>
              <a:rPr lang="en-US" b="1" dirty="0" smtClean="0">
                <a:solidFill>
                  <a:srgbClr val="92D050"/>
                </a:solidFill>
              </a:rPr>
              <a:t>Primary Key cannot be NULL</a:t>
            </a:r>
            <a:r>
              <a:rPr lang="en-US" dirty="0" smtClean="0">
                <a:solidFill>
                  <a:srgbClr val="92D050"/>
                </a:solidFill>
              </a:rPr>
              <a:t>.</a:t>
            </a:r>
          </a:p>
          <a:p>
            <a:pPr algn="ctr"/>
            <a:r>
              <a:rPr lang="en-US" b="1" dirty="0" err="1" smtClean="0"/>
              <a:t>Ex:Student_ID</a:t>
            </a:r>
            <a:r>
              <a:rPr lang="en-US" b="1" dirty="0" smtClean="0"/>
              <a:t> INT PRIMARY KEY</a:t>
            </a:r>
          </a:p>
          <a:p>
            <a:r>
              <a:rPr lang="en-US" dirty="0" err="1" smtClean="0"/>
              <a:t>Student_ID</a:t>
            </a:r>
            <a:r>
              <a:rPr lang="en-US" dirty="0" smtClean="0"/>
              <a:t>    Name</a:t>
            </a:r>
          </a:p>
          <a:p>
            <a:r>
              <a:rPr lang="en-US" dirty="0" smtClean="0"/>
              <a:t>101            Ravi</a:t>
            </a:r>
          </a:p>
          <a:p>
            <a:r>
              <a:rPr lang="en-US" dirty="0" smtClean="0"/>
              <a:t>102            </a:t>
            </a:r>
            <a:r>
              <a:rPr lang="en-US" dirty="0" err="1" smtClean="0"/>
              <a:t>Sita</a:t>
            </a:r>
            <a:endParaRPr lang="en-US" dirty="0" smtClean="0"/>
          </a:p>
          <a:p>
            <a:r>
              <a:rPr lang="en-US" dirty="0" smtClean="0"/>
              <a:t>NULL          </a:t>
            </a:r>
            <a:r>
              <a:rPr lang="en-US" dirty="0" err="1" smtClean="0"/>
              <a:t>Raju</a:t>
            </a:r>
            <a:r>
              <a:rPr lang="en-US" dirty="0" smtClean="0"/>
              <a:t>   ❌ Not allowed</a:t>
            </a:r>
            <a:endParaRPr lang="en-US" dirty="0"/>
          </a:p>
        </p:txBody>
      </p:sp>
      <p:sp>
        <p:nvSpPr>
          <p:cNvPr id="5" name="Rectangle 4"/>
          <p:cNvSpPr/>
          <p:nvPr/>
        </p:nvSpPr>
        <p:spPr>
          <a:xfrm>
            <a:off x="214282" y="3500444"/>
            <a:ext cx="8572560" cy="923330"/>
          </a:xfrm>
          <a:prstGeom prst="rect">
            <a:avLst/>
          </a:prstGeom>
        </p:spPr>
        <p:txBody>
          <a:bodyPr wrap="square">
            <a:spAutoFit/>
          </a:bodyPr>
          <a:lstStyle/>
          <a:p>
            <a:r>
              <a:rPr lang="en-US" b="1" dirty="0" smtClean="0">
                <a:solidFill>
                  <a:srgbClr val="FF0000"/>
                </a:solidFill>
              </a:rPr>
              <a:t>4. Referential Integrity Constraint : </a:t>
            </a:r>
            <a:r>
              <a:rPr lang="en-US" dirty="0" smtClean="0">
                <a:solidFill>
                  <a:srgbClr val="92D050"/>
                </a:solidFill>
              </a:rPr>
              <a:t>A </a:t>
            </a:r>
            <a:r>
              <a:rPr lang="en-US" b="1" dirty="0" smtClean="0">
                <a:solidFill>
                  <a:srgbClr val="92D050"/>
                </a:solidFill>
              </a:rPr>
              <a:t>Foreign Key value must match an    </a:t>
            </a:r>
          </a:p>
          <a:p>
            <a:pPr algn="ctr"/>
            <a:r>
              <a:rPr lang="en-US" b="1" dirty="0" smtClean="0">
                <a:solidFill>
                  <a:srgbClr val="92D050"/>
                </a:solidFill>
              </a:rPr>
              <a:t>                                                existing Primary Key value</a:t>
            </a:r>
            <a:r>
              <a:rPr lang="en-US" dirty="0" smtClean="0">
                <a:solidFill>
                  <a:srgbClr val="92D050"/>
                </a:solidFill>
              </a:rPr>
              <a:t> in another table. </a:t>
            </a:r>
            <a:r>
              <a:rPr lang="en-US" b="1" dirty="0" smtClean="0"/>
              <a:t>Ex: FOREIGN KEY (</a:t>
            </a:r>
            <a:r>
              <a:rPr lang="en-US" b="1" dirty="0" err="1" smtClean="0"/>
              <a:t>Dept_ID</a:t>
            </a:r>
            <a:r>
              <a:rPr lang="en-US" b="1" dirty="0" smtClean="0"/>
              <a:t>) REFERENCES Department(</a:t>
            </a:r>
            <a:r>
              <a:rPr lang="en-US" b="1" dirty="0" err="1" smtClean="0"/>
              <a:t>Dept_ID)</a:t>
            </a:r>
          </a:p>
        </p:txBody>
      </p:sp>
    </p:spTree>
  </p:cSld>
  <p:clrMapOvr>
    <a:masterClrMapping/>
  </p:clrMapOvr>
  <p:transition>
    <p:pull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214296"/>
            <a:ext cx="8643998" cy="1477328"/>
          </a:xfrm>
          <a:prstGeom prst="rect">
            <a:avLst/>
          </a:prstGeom>
        </p:spPr>
        <p:txBody>
          <a:bodyPr wrap="square">
            <a:spAutoFit/>
          </a:bodyPr>
          <a:lstStyle/>
          <a:p>
            <a:r>
              <a:rPr lang="en-US" b="1" dirty="0" smtClean="0"/>
              <a:t>In simple words: Constraints = Rules on data</a:t>
            </a:r>
            <a:endParaRPr lang="en-US" dirty="0" smtClean="0"/>
          </a:p>
          <a:p>
            <a:r>
              <a:rPr lang="en-US" b="1" dirty="0" smtClean="0">
                <a:solidFill>
                  <a:srgbClr val="92D050"/>
                </a:solidFill>
              </a:rPr>
              <a:t>Domain</a:t>
            </a:r>
            <a:r>
              <a:rPr lang="en-US" dirty="0" smtClean="0">
                <a:solidFill>
                  <a:srgbClr val="92D050"/>
                </a:solidFill>
              </a:rPr>
              <a:t> →</a:t>
            </a:r>
            <a:r>
              <a:rPr lang="en-US" dirty="0" smtClean="0"/>
              <a:t> What values are allowed? </a:t>
            </a:r>
          </a:p>
          <a:p>
            <a:r>
              <a:rPr lang="en-US" b="1" dirty="0" smtClean="0">
                <a:solidFill>
                  <a:srgbClr val="92D050"/>
                </a:solidFill>
              </a:rPr>
              <a:t>Key</a:t>
            </a:r>
            <a:r>
              <a:rPr lang="en-US" dirty="0" smtClean="0">
                <a:solidFill>
                  <a:srgbClr val="92D050"/>
                </a:solidFill>
              </a:rPr>
              <a:t> →</a:t>
            </a:r>
            <a:r>
              <a:rPr lang="en-US" dirty="0" smtClean="0"/>
              <a:t> Is the value unique? </a:t>
            </a:r>
          </a:p>
          <a:p>
            <a:r>
              <a:rPr lang="en-US" b="1" dirty="0" smtClean="0">
                <a:solidFill>
                  <a:srgbClr val="92D050"/>
                </a:solidFill>
              </a:rPr>
              <a:t>Entity Integrity</a:t>
            </a:r>
            <a:r>
              <a:rPr lang="en-US" dirty="0" smtClean="0">
                <a:solidFill>
                  <a:srgbClr val="92D050"/>
                </a:solidFill>
              </a:rPr>
              <a:t> → </a:t>
            </a:r>
            <a:r>
              <a:rPr lang="en-US" dirty="0" smtClean="0"/>
              <a:t>Primary key cannot be NULL. </a:t>
            </a:r>
          </a:p>
          <a:p>
            <a:r>
              <a:rPr lang="en-US" b="1" dirty="0" smtClean="0">
                <a:solidFill>
                  <a:srgbClr val="92D050"/>
                </a:solidFill>
              </a:rPr>
              <a:t>Referential Integrity</a:t>
            </a:r>
            <a:r>
              <a:rPr lang="en-US" dirty="0" smtClean="0">
                <a:solidFill>
                  <a:srgbClr val="92D050"/>
                </a:solidFill>
              </a:rPr>
              <a:t> → </a:t>
            </a:r>
            <a:r>
              <a:rPr lang="en-US" dirty="0" smtClean="0"/>
              <a:t>Foreign key must refer to a valid record.</a:t>
            </a:r>
            <a:endParaRPr lang="en-US" dirty="0"/>
          </a:p>
        </p:txBody>
      </p:sp>
      <p:sp>
        <p:nvSpPr>
          <p:cNvPr id="3" name="Rectangle 2"/>
          <p:cNvSpPr/>
          <p:nvPr/>
        </p:nvSpPr>
        <p:spPr>
          <a:xfrm>
            <a:off x="142844" y="1857371"/>
            <a:ext cx="8429684" cy="646331"/>
          </a:xfrm>
          <a:prstGeom prst="rect">
            <a:avLst/>
          </a:prstGeom>
        </p:spPr>
        <p:txBody>
          <a:bodyPr wrap="square">
            <a:spAutoFit/>
          </a:bodyPr>
          <a:lstStyle/>
          <a:p>
            <a:r>
              <a:rPr lang="en-US" b="1" dirty="0" smtClean="0"/>
              <a:t>Ex: </a:t>
            </a:r>
            <a:r>
              <a:rPr lang="en-US" b="1" dirty="0" smtClean="0">
                <a:solidFill>
                  <a:srgbClr val="FFC000"/>
                </a:solidFill>
              </a:rPr>
              <a:t>CREATE TABLE Student (</a:t>
            </a:r>
            <a:r>
              <a:rPr lang="en-US" b="1" dirty="0" err="1" smtClean="0">
                <a:solidFill>
                  <a:srgbClr val="FFC000"/>
                </a:solidFill>
              </a:rPr>
              <a:t>Student_ID</a:t>
            </a:r>
            <a:r>
              <a:rPr lang="en-US" b="1" dirty="0" smtClean="0">
                <a:solidFill>
                  <a:srgbClr val="FFC000"/>
                </a:solidFill>
              </a:rPr>
              <a:t> INT PRIMARY </a:t>
            </a:r>
            <a:r>
              <a:rPr lang="en-US" b="1" dirty="0" err="1" smtClean="0">
                <a:solidFill>
                  <a:srgbClr val="FFC000"/>
                </a:solidFill>
              </a:rPr>
              <a:t>KEY,Name</a:t>
            </a:r>
            <a:r>
              <a:rPr lang="en-US" b="1" dirty="0" smtClean="0">
                <a:solidFill>
                  <a:srgbClr val="FFC000"/>
                </a:solidFill>
              </a:rPr>
              <a:t> VARCHAR(50),Age INT CHECK (Age &gt;= 18));</a:t>
            </a:r>
            <a:endParaRPr lang="en-US" b="1" dirty="0">
              <a:solidFill>
                <a:srgbClr val="FFC000"/>
              </a:solidFill>
            </a:endParaRPr>
          </a:p>
        </p:txBody>
      </p:sp>
      <p:sp>
        <p:nvSpPr>
          <p:cNvPr id="4" name="Rectangle 3"/>
          <p:cNvSpPr/>
          <p:nvPr/>
        </p:nvSpPr>
        <p:spPr>
          <a:xfrm>
            <a:off x="285720" y="2571750"/>
            <a:ext cx="8358246" cy="646331"/>
          </a:xfrm>
          <a:prstGeom prst="rect">
            <a:avLst/>
          </a:prstGeom>
        </p:spPr>
        <p:txBody>
          <a:bodyPr wrap="square">
            <a:spAutoFit/>
          </a:bodyPr>
          <a:lstStyle/>
          <a:p>
            <a:r>
              <a:rPr lang="en-US" dirty="0" smtClean="0"/>
              <a:t>Ex: </a:t>
            </a:r>
            <a:r>
              <a:rPr lang="en-US" b="1" dirty="0" smtClean="0">
                <a:solidFill>
                  <a:srgbClr val="FFC000"/>
                </a:solidFill>
              </a:rPr>
              <a:t>CREATE TABLE Student (</a:t>
            </a:r>
            <a:r>
              <a:rPr lang="en-US" b="1" dirty="0" err="1" smtClean="0">
                <a:solidFill>
                  <a:srgbClr val="FFC000"/>
                </a:solidFill>
              </a:rPr>
              <a:t>Student_ID</a:t>
            </a:r>
            <a:r>
              <a:rPr lang="en-US" b="1" dirty="0" smtClean="0">
                <a:solidFill>
                  <a:srgbClr val="FFC000"/>
                </a:solidFill>
              </a:rPr>
              <a:t> INT PRIMARY </a:t>
            </a:r>
            <a:r>
              <a:rPr lang="en-US" b="1" dirty="0" err="1" smtClean="0">
                <a:solidFill>
                  <a:srgbClr val="FFC000"/>
                </a:solidFill>
              </a:rPr>
              <a:t>KEY,Name</a:t>
            </a:r>
            <a:r>
              <a:rPr lang="en-US" b="1" dirty="0" smtClean="0">
                <a:solidFill>
                  <a:srgbClr val="FFC000"/>
                </a:solidFill>
              </a:rPr>
              <a:t> VARCHAR(50),City VARCHAR(50) DEFAULT 'Hyderabad’);</a:t>
            </a:r>
            <a:endParaRPr lang="en-US" b="1" dirty="0">
              <a:solidFill>
                <a:srgbClr val="FFC000"/>
              </a:solidFill>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1"/>
          <p:cNvSpPr>
            <a:spLocks noChangeArrowheads="1"/>
          </p:cNvSpPr>
          <p:nvPr/>
        </p:nvSpPr>
        <p:spPr bwMode="auto">
          <a:xfrm>
            <a:off x="285720" y="285734"/>
            <a:ext cx="8072494" cy="23698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1" fontAlgn="base" latinLnBrk="0" hangingPunct="1">
              <a:lnSpc>
                <a:spcPct val="100000"/>
              </a:lnSpc>
              <a:spcBef>
                <a:spcPct val="0"/>
              </a:spcBef>
              <a:spcAft>
                <a:spcPct val="0"/>
              </a:spcAft>
              <a:buClrTx/>
              <a:buSzTx/>
              <a:tabLst/>
            </a:pPr>
            <a:r>
              <a:rPr lang="en-US" sz="2000" b="1" dirty="0" smtClean="0">
                <a:latin typeface="Times New Roman" pitchFamily="18" charset="0"/>
                <a:cs typeface="Times New Roman" pitchFamily="18" charset="0"/>
              </a:rPr>
              <a:t>ADDING CONSTRAINTS USING ALTER:</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p>
            <a:pPr marL="228600" lvl="0" indent="-228600" fontAlgn="base">
              <a:spcBef>
                <a:spcPct val="0"/>
              </a:spcBef>
              <a:spcAft>
                <a:spcPct val="0"/>
              </a:spcAft>
              <a:buFontTx/>
              <a:buAutoNum type="arabicPeriod"/>
            </a:pPr>
            <a:r>
              <a:rPr lang="en-US" sz="2000" dirty="0" smtClean="0">
                <a:latin typeface="Times New Roman" pitchFamily="18" charset="0"/>
                <a:cs typeface="Times New Roman" pitchFamily="18" charset="0"/>
              </a:rPr>
              <a:t>Add NOT NULL</a:t>
            </a:r>
          </a:p>
          <a:p>
            <a:pPr marL="228600" lvl="0" indent="-228600" fontAlgn="base">
              <a:spcBef>
                <a:spcPct val="0"/>
              </a:spcBef>
              <a:spcAft>
                <a:spcPct val="0"/>
              </a:spcAft>
              <a:buFontTx/>
              <a:buAutoNum type="arabicPeriod"/>
            </a:pPr>
            <a:r>
              <a:rPr lang="en-US" sz="2000" dirty="0" smtClean="0">
                <a:latin typeface="Times New Roman" pitchFamily="18" charset="0"/>
                <a:cs typeface="Times New Roman" pitchFamily="18" charset="0"/>
              </a:rPr>
              <a:t>Add DEFAULT</a:t>
            </a:r>
          </a:p>
          <a:p>
            <a:pPr marL="228600" lvl="0" indent="-228600" fontAlgn="base">
              <a:spcBef>
                <a:spcPct val="0"/>
              </a:spcBef>
              <a:spcAft>
                <a:spcPct val="0"/>
              </a:spcAft>
              <a:buFontTx/>
              <a:buAutoNum type="arabicPeriod"/>
            </a:pPr>
            <a:r>
              <a:rPr lang="en-US" sz="2000" dirty="0" smtClean="0">
                <a:latin typeface="Times New Roman" pitchFamily="18" charset="0"/>
                <a:cs typeface="Times New Roman" pitchFamily="18" charset="0"/>
              </a:rPr>
              <a:t>Add UNIQUE Constraint</a:t>
            </a:r>
            <a:endParaRPr lang="en-US" sz="2000" b="1" dirty="0" smtClean="0">
              <a:latin typeface="Times New Roman" pitchFamily="18" charset="0"/>
              <a:cs typeface="Times New Roman" pitchFamily="18" charset="0"/>
            </a:endParaRPr>
          </a:p>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Add PRIMARY KEY</a:t>
            </a:r>
          </a:p>
          <a:p>
            <a:pPr marL="228600" lvl="0" indent="-228600" fontAlgn="base">
              <a:spcBef>
                <a:spcPct val="0"/>
              </a:spcBef>
              <a:spcAft>
                <a:spcPct val="0"/>
              </a:spcAft>
              <a:buFontTx/>
              <a:buAutoNum type="arabicPeriod"/>
            </a:pPr>
            <a:r>
              <a:rPr lang="en-US" sz="2400" dirty="0" smtClean="0">
                <a:latin typeface="Times New Roman" pitchFamily="18" charset="0"/>
                <a:cs typeface="Times New Roman" pitchFamily="18" charset="0"/>
              </a:rPr>
              <a:t>Add CHECK Constraint</a:t>
            </a:r>
          </a:p>
          <a:p>
            <a:pPr marL="228600" lvl="0" indent="-228600" fontAlgn="base">
              <a:spcBef>
                <a:spcPct val="0"/>
              </a:spcBef>
              <a:spcAft>
                <a:spcPct val="0"/>
              </a:spcAft>
              <a:buFontTx/>
              <a:buAutoNum type="arabicPeriod"/>
            </a:pPr>
            <a:r>
              <a:rPr lang="en-US" sz="2400" dirty="0" smtClean="0">
                <a:latin typeface="Times New Roman" pitchFamily="18" charset="0"/>
                <a:cs typeface="Times New Roman" pitchFamily="18" charset="0"/>
              </a:rPr>
              <a:t>Add FOREIGN KEY</a:t>
            </a:r>
            <a:endParaRPr kumimoji="0" lang="en-US" sz="6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Rectangle 2"/>
          <p:cNvSpPr/>
          <p:nvPr/>
        </p:nvSpPr>
        <p:spPr>
          <a:xfrm>
            <a:off x="285720" y="2714626"/>
            <a:ext cx="8643998" cy="677108"/>
          </a:xfrm>
          <a:prstGeom prst="rect">
            <a:avLst/>
          </a:prstGeom>
        </p:spPr>
        <p:txBody>
          <a:bodyPr wrap="square">
            <a:spAutoFit/>
          </a:bodyPr>
          <a:lstStyle/>
          <a:p>
            <a:r>
              <a:rPr lang="en-US" sz="2000" b="1" dirty="0" err="1" smtClean="0"/>
              <a:t>Genaral</a:t>
            </a:r>
            <a:r>
              <a:rPr lang="en-US" sz="2000" b="1" dirty="0" smtClean="0"/>
              <a:t> Syntax:</a:t>
            </a:r>
          </a:p>
          <a:p>
            <a:r>
              <a:rPr lang="en-US" dirty="0" smtClean="0"/>
              <a:t>ALTER TABLE &lt;</a:t>
            </a:r>
            <a:r>
              <a:rPr lang="en-US" dirty="0" err="1" smtClean="0"/>
              <a:t>tn</a:t>
            </a:r>
            <a:r>
              <a:rPr lang="en-US" dirty="0" smtClean="0"/>
              <a:t>&gt; ADD CONSTRAINT &lt;</a:t>
            </a:r>
            <a:r>
              <a:rPr lang="en-US" dirty="0" err="1" smtClean="0"/>
              <a:t>cnst</a:t>
            </a:r>
            <a:r>
              <a:rPr lang="en-US" dirty="0" smtClean="0"/>
              <a:t> name&gt; </a:t>
            </a:r>
            <a:r>
              <a:rPr lang="en-US" dirty="0" err="1" smtClean="0"/>
              <a:t>cnstype</a:t>
            </a:r>
            <a:r>
              <a:rPr lang="en-US" dirty="0" smtClean="0"/>
              <a:t>(</a:t>
            </a:r>
            <a:r>
              <a:rPr lang="en-US" dirty="0" err="1" smtClean="0"/>
              <a:t>col</a:t>
            </a:r>
            <a:r>
              <a:rPr lang="en-US" dirty="0" smtClean="0"/>
              <a:t> name);</a:t>
            </a:r>
            <a:endParaRPr lang="en-US" dirty="0"/>
          </a:p>
        </p:txBody>
      </p:sp>
      <p:sp>
        <p:nvSpPr>
          <p:cNvPr id="63490" name="Rectangle 2"/>
          <p:cNvSpPr>
            <a:spLocks noChangeArrowheads="1"/>
          </p:cNvSpPr>
          <p:nvPr/>
        </p:nvSpPr>
        <p:spPr bwMode="auto">
          <a:xfrm>
            <a:off x="142844" y="3500444"/>
            <a:ext cx="8858248"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In  Oracle, </a:t>
            </a:r>
            <a:r>
              <a:rPr kumimoji="0" lang="en-US" sz="1800" b="1" i="0" u="none" strike="noStrike" cap="none" normalizeH="0" baseline="0" dirty="0" smtClean="0">
                <a:ln>
                  <a:noFill/>
                </a:ln>
                <a:solidFill>
                  <a:schemeClr val="tx1"/>
                </a:solidFill>
                <a:effectLst/>
                <a:latin typeface="Arial" pitchFamily="34" charset="0"/>
                <a:cs typeface="Arial" pitchFamily="34" charset="0"/>
              </a:rPr>
              <a:t>NOT NULL and DEFAULT commonly uses </a:t>
            </a:r>
            <a:r>
              <a:rPr kumimoji="0" lang="en-US" sz="1600" b="1" i="0" u="none" strike="noStrike" cap="none" normalizeH="0" baseline="0" dirty="0" smtClean="0">
                <a:ln>
                  <a:noFill/>
                </a:ln>
                <a:solidFill>
                  <a:srgbClr val="FF0000"/>
                </a:solidFill>
                <a:effectLst/>
                <a:latin typeface="Arial Unicode MS" pitchFamily="34" charset="-128"/>
                <a:cs typeface="Arial" pitchFamily="34" charset="0"/>
              </a:rPr>
              <a:t>MODIFY</a:t>
            </a:r>
            <a:r>
              <a:rPr kumimoji="0" lang="en-US" sz="600" b="0" i="0" u="none" strike="noStrike" cap="none" normalizeH="0" baseline="0" dirty="0" smtClean="0">
                <a:ln>
                  <a:noFill/>
                </a:ln>
                <a:solidFill>
                  <a:schemeClr val="tx1"/>
                </a:solidFill>
                <a:effectLst/>
                <a:latin typeface="Arial" pitchFamily="34" charset="0"/>
                <a:cs typeface="Arial" pitchFamily="34"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489">
                                            <p:txEl>
                                              <p:pRg st="1" end="1"/>
                                            </p:txEl>
                                          </p:spTgt>
                                        </p:tgtEl>
                                        <p:attrNameLst>
                                          <p:attrName>style.visibility</p:attrName>
                                        </p:attrNameLst>
                                      </p:cBhvr>
                                      <p:to>
                                        <p:strVal val="visible"/>
                                      </p:to>
                                    </p:set>
                                    <p:anim calcmode="lin" valueType="num">
                                      <p:cBhvr additive="base">
                                        <p:cTn id="7" dur="500" fill="hold"/>
                                        <p:tgtEl>
                                          <p:spTgt spid="6348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8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3489">
                                            <p:txEl>
                                              <p:pRg st="2" end="2"/>
                                            </p:txEl>
                                          </p:spTgt>
                                        </p:tgtEl>
                                        <p:attrNameLst>
                                          <p:attrName>style.visibility</p:attrName>
                                        </p:attrNameLst>
                                      </p:cBhvr>
                                      <p:to>
                                        <p:strVal val="visible"/>
                                      </p:to>
                                    </p:set>
                                    <p:anim calcmode="lin" valueType="num">
                                      <p:cBhvr additive="base">
                                        <p:cTn id="13" dur="500" fill="hold"/>
                                        <p:tgtEl>
                                          <p:spTgt spid="6348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348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3489">
                                            <p:txEl>
                                              <p:pRg st="3" end="3"/>
                                            </p:txEl>
                                          </p:spTgt>
                                        </p:tgtEl>
                                        <p:attrNameLst>
                                          <p:attrName>style.visibility</p:attrName>
                                        </p:attrNameLst>
                                      </p:cBhvr>
                                      <p:to>
                                        <p:strVal val="visible"/>
                                      </p:to>
                                    </p:set>
                                    <p:anim calcmode="lin" valueType="num">
                                      <p:cBhvr additive="base">
                                        <p:cTn id="19" dur="500" fill="hold"/>
                                        <p:tgtEl>
                                          <p:spTgt spid="6348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48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3489">
                                            <p:txEl>
                                              <p:pRg st="4" end="4"/>
                                            </p:txEl>
                                          </p:spTgt>
                                        </p:tgtEl>
                                        <p:attrNameLst>
                                          <p:attrName>style.visibility</p:attrName>
                                        </p:attrNameLst>
                                      </p:cBhvr>
                                      <p:to>
                                        <p:strVal val="visible"/>
                                      </p:to>
                                    </p:set>
                                    <p:anim calcmode="lin" valueType="num">
                                      <p:cBhvr additive="base">
                                        <p:cTn id="25" dur="500" fill="hold"/>
                                        <p:tgtEl>
                                          <p:spTgt spid="6348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48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3489">
                                            <p:txEl>
                                              <p:pRg st="5" end="5"/>
                                            </p:txEl>
                                          </p:spTgt>
                                        </p:tgtEl>
                                        <p:attrNameLst>
                                          <p:attrName>style.visibility</p:attrName>
                                        </p:attrNameLst>
                                      </p:cBhvr>
                                      <p:to>
                                        <p:strVal val="visible"/>
                                      </p:to>
                                    </p:set>
                                    <p:anim calcmode="lin" valueType="num">
                                      <p:cBhvr additive="base">
                                        <p:cTn id="31" dur="500" fill="hold"/>
                                        <p:tgtEl>
                                          <p:spTgt spid="6348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348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3489">
                                            <p:txEl>
                                              <p:pRg st="6" end="6"/>
                                            </p:txEl>
                                          </p:spTgt>
                                        </p:tgtEl>
                                        <p:attrNameLst>
                                          <p:attrName>style.visibility</p:attrName>
                                        </p:attrNameLst>
                                      </p:cBhvr>
                                      <p:to>
                                        <p:strVal val="visible"/>
                                      </p:to>
                                    </p:set>
                                    <p:anim calcmode="lin" valueType="num">
                                      <p:cBhvr additive="base">
                                        <p:cTn id="37" dur="500" fill="hold"/>
                                        <p:tgtEl>
                                          <p:spTgt spid="6348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348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8" presetClass="entr" presetSubtype="16"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diamond(in)">
                                      <p:cBhvr>
                                        <p:cTn id="43" dur="2000"/>
                                        <p:tgtEl>
                                          <p:spTgt spid="3">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1" end="1"/>
                                            </p:txEl>
                                          </p:spTgt>
                                        </p:tgtEl>
                                        <p:attrNameLst>
                                          <p:attrName>style.visibility</p:attrName>
                                        </p:attrNameLst>
                                      </p:cBhvr>
                                      <p:to>
                                        <p:strVal val="visible"/>
                                      </p:to>
                                    </p:set>
                                    <p:anim calcmode="lin" valueType="num">
                                      <p:cBhvr additive="base">
                                        <p:cTn id="4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63490">
                                            <p:txEl>
                                              <p:pRg st="0" end="0"/>
                                            </p:txEl>
                                          </p:spTgt>
                                        </p:tgtEl>
                                        <p:attrNameLst>
                                          <p:attrName>style.visibility</p:attrName>
                                        </p:attrNameLst>
                                      </p:cBhvr>
                                      <p:to>
                                        <p:strVal val="visible"/>
                                      </p:to>
                                    </p:set>
                                    <p:anim calcmode="lin" valueType="num">
                                      <p:cBhvr additive="base">
                                        <p:cTn id="54" dur="500" fill="hold"/>
                                        <p:tgtEl>
                                          <p:spTgt spid="6349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6349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214297"/>
            <a:ext cx="8858312" cy="707886"/>
          </a:xfrm>
          <a:prstGeom prst="rect">
            <a:avLst/>
          </a:prstGeom>
        </p:spPr>
        <p:txBody>
          <a:bodyPr wrap="square">
            <a:spAutoFit/>
          </a:bodyPr>
          <a:lstStyle/>
          <a:p>
            <a:r>
              <a:rPr lang="en-US" sz="2000" dirty="0" smtClean="0"/>
              <a:t>ALTER TABLE &lt;</a:t>
            </a:r>
            <a:r>
              <a:rPr lang="en-US" sz="2000" dirty="0" err="1" smtClean="0"/>
              <a:t>tn</a:t>
            </a:r>
            <a:r>
              <a:rPr lang="en-US" sz="2000" dirty="0" smtClean="0"/>
              <a:t>&gt; ADD CONSTRAINT &lt;</a:t>
            </a:r>
            <a:r>
              <a:rPr lang="en-US" sz="2000" dirty="0" err="1" smtClean="0"/>
              <a:t>cnstname</a:t>
            </a:r>
            <a:r>
              <a:rPr lang="en-US" sz="2000" dirty="0" smtClean="0"/>
              <a:t>&gt; </a:t>
            </a:r>
            <a:r>
              <a:rPr lang="en-US" sz="2000" dirty="0" err="1" smtClean="0"/>
              <a:t>cnsttype</a:t>
            </a:r>
            <a:r>
              <a:rPr lang="en-US" sz="2000" dirty="0" smtClean="0"/>
              <a:t> (</a:t>
            </a:r>
            <a:r>
              <a:rPr lang="en-US" sz="2000" dirty="0" err="1" smtClean="0"/>
              <a:t>colname</a:t>
            </a:r>
            <a:r>
              <a:rPr lang="en-US" sz="2000" dirty="0" smtClean="0"/>
              <a:t>);</a:t>
            </a:r>
            <a:endParaRPr lang="en-US" sz="2000" dirty="0"/>
          </a:p>
        </p:txBody>
      </p:sp>
      <p:sp>
        <p:nvSpPr>
          <p:cNvPr id="3" name="Rectangle 2"/>
          <p:cNvSpPr/>
          <p:nvPr/>
        </p:nvSpPr>
        <p:spPr>
          <a:xfrm>
            <a:off x="71406" y="1357304"/>
            <a:ext cx="9001188" cy="400110"/>
          </a:xfrm>
          <a:prstGeom prst="rect">
            <a:avLst/>
          </a:prstGeom>
        </p:spPr>
        <p:txBody>
          <a:bodyPr wrap="square">
            <a:spAutoFit/>
          </a:bodyPr>
          <a:lstStyle/>
          <a:p>
            <a:r>
              <a:rPr lang="en-US" sz="2000" dirty="0" smtClean="0">
                <a:solidFill>
                  <a:srgbClr val="FF0000"/>
                </a:solidFill>
              </a:rPr>
              <a:t>ALTER TABLE student5 ADD CONSTRAINT </a:t>
            </a:r>
            <a:r>
              <a:rPr lang="en-US" sz="2000" dirty="0" err="1" smtClean="0">
                <a:solidFill>
                  <a:srgbClr val="FF0000"/>
                </a:solidFill>
              </a:rPr>
              <a:t>chkage</a:t>
            </a:r>
            <a:r>
              <a:rPr lang="en-US" sz="2000" dirty="0" smtClean="0">
                <a:solidFill>
                  <a:srgbClr val="FF0000"/>
                </a:solidFill>
              </a:rPr>
              <a:t> CHECK (Age&gt;=18);</a:t>
            </a:r>
            <a:endParaRPr lang="en-US" sz="2000" dirty="0">
              <a:solidFill>
                <a:srgbClr val="FF0000"/>
              </a:solidFill>
            </a:endParaRPr>
          </a:p>
        </p:txBody>
      </p:sp>
      <p:sp>
        <p:nvSpPr>
          <p:cNvPr id="4" name="Rectangle 3"/>
          <p:cNvSpPr/>
          <p:nvPr/>
        </p:nvSpPr>
        <p:spPr>
          <a:xfrm>
            <a:off x="214282" y="2110085"/>
            <a:ext cx="8501122" cy="400110"/>
          </a:xfrm>
          <a:prstGeom prst="rect">
            <a:avLst/>
          </a:prstGeom>
        </p:spPr>
        <p:txBody>
          <a:bodyPr wrap="square">
            <a:spAutoFit/>
          </a:bodyPr>
          <a:lstStyle/>
          <a:p>
            <a:r>
              <a:rPr lang="en-US" sz="2000" dirty="0" smtClean="0">
                <a:solidFill>
                  <a:srgbClr val="FF0000"/>
                </a:solidFill>
              </a:rPr>
              <a:t>ALTER TABLE student5 ADD CONSTRAINT </a:t>
            </a:r>
            <a:r>
              <a:rPr lang="en-US" sz="2000" dirty="0" err="1" smtClean="0">
                <a:solidFill>
                  <a:srgbClr val="FF0000"/>
                </a:solidFill>
              </a:rPr>
              <a:t>pksid</a:t>
            </a:r>
            <a:r>
              <a:rPr lang="en-US" sz="2000" dirty="0" smtClean="0">
                <a:solidFill>
                  <a:srgbClr val="FF0000"/>
                </a:solidFill>
              </a:rPr>
              <a:t> primary key (</a:t>
            </a:r>
            <a:r>
              <a:rPr lang="en-US" sz="2000" dirty="0" err="1" smtClean="0">
                <a:solidFill>
                  <a:srgbClr val="FF0000"/>
                </a:solidFill>
              </a:rPr>
              <a:t>sid</a:t>
            </a:r>
            <a:r>
              <a:rPr lang="en-US" sz="2000" dirty="0" smtClean="0">
                <a:solidFill>
                  <a:srgbClr val="FF0000"/>
                </a:solidFill>
              </a:rPr>
              <a:t>);</a:t>
            </a:r>
          </a:p>
        </p:txBody>
      </p:sp>
      <p:sp>
        <p:nvSpPr>
          <p:cNvPr id="5" name="Rectangle 4"/>
          <p:cNvSpPr/>
          <p:nvPr/>
        </p:nvSpPr>
        <p:spPr>
          <a:xfrm>
            <a:off x="214282" y="2786064"/>
            <a:ext cx="7715304" cy="400110"/>
          </a:xfrm>
          <a:prstGeom prst="rect">
            <a:avLst/>
          </a:prstGeom>
        </p:spPr>
        <p:txBody>
          <a:bodyPr wrap="square">
            <a:spAutoFit/>
          </a:bodyPr>
          <a:lstStyle/>
          <a:p>
            <a:r>
              <a:rPr lang="en-US" sz="2000" dirty="0" smtClean="0">
                <a:solidFill>
                  <a:srgbClr val="FF0000"/>
                </a:solidFill>
              </a:rPr>
              <a:t>ALTER TABLE student5 ADD CONSTRAINT </a:t>
            </a:r>
            <a:r>
              <a:rPr lang="en-US" sz="2000" dirty="0" err="1" smtClean="0">
                <a:solidFill>
                  <a:srgbClr val="FF0000"/>
                </a:solidFill>
              </a:rPr>
              <a:t>unk</a:t>
            </a:r>
            <a:r>
              <a:rPr lang="en-US" sz="2000" dirty="0" smtClean="0">
                <a:solidFill>
                  <a:srgbClr val="FF0000"/>
                </a:solidFill>
              </a:rPr>
              <a:t> unique(name);</a:t>
            </a:r>
          </a:p>
        </p:txBody>
      </p:sp>
      <p:sp>
        <p:nvSpPr>
          <p:cNvPr id="6" name="Rectangle 5"/>
          <p:cNvSpPr/>
          <p:nvPr/>
        </p:nvSpPr>
        <p:spPr>
          <a:xfrm>
            <a:off x="142844" y="3357568"/>
            <a:ext cx="8786874" cy="400110"/>
          </a:xfrm>
          <a:prstGeom prst="rect">
            <a:avLst/>
          </a:prstGeom>
        </p:spPr>
        <p:txBody>
          <a:bodyPr wrap="square">
            <a:spAutoFit/>
          </a:bodyPr>
          <a:lstStyle/>
          <a:p>
            <a:r>
              <a:rPr lang="en-US" sz="2000" dirty="0" smtClean="0">
                <a:solidFill>
                  <a:srgbClr val="FF0000"/>
                </a:solidFill>
              </a:rPr>
              <a:t>ALTER TABLE Student5 MODIFY Age DEFAULT 18;</a:t>
            </a:r>
          </a:p>
        </p:txBody>
      </p:sp>
      <p:sp>
        <p:nvSpPr>
          <p:cNvPr id="7" name="Rectangle 6"/>
          <p:cNvSpPr/>
          <p:nvPr/>
        </p:nvSpPr>
        <p:spPr>
          <a:xfrm>
            <a:off x="142844" y="3845492"/>
            <a:ext cx="7215206" cy="400110"/>
          </a:xfrm>
          <a:prstGeom prst="rect">
            <a:avLst/>
          </a:prstGeom>
        </p:spPr>
        <p:txBody>
          <a:bodyPr wrap="square">
            <a:spAutoFit/>
          </a:bodyPr>
          <a:lstStyle/>
          <a:p>
            <a:r>
              <a:rPr lang="en-US" sz="2000" dirty="0" smtClean="0">
                <a:solidFill>
                  <a:srgbClr val="FF0000"/>
                </a:solidFill>
              </a:rPr>
              <a:t>ALTER TABLE Student5 MODIFY Age not null;</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642925"/>
            <a:ext cx="8715436" cy="830997"/>
          </a:xfrm>
          <a:prstGeom prst="rect">
            <a:avLst/>
          </a:prstGeom>
        </p:spPr>
        <p:txBody>
          <a:bodyPr wrap="square">
            <a:spAutoFit/>
          </a:bodyPr>
          <a:lstStyle/>
          <a:p>
            <a:r>
              <a:rPr lang="en-US" sz="2400" dirty="0" smtClean="0">
                <a:solidFill>
                  <a:srgbClr val="92D050"/>
                </a:solidFill>
              </a:rPr>
              <a:t>General </a:t>
            </a:r>
            <a:r>
              <a:rPr lang="en-US" sz="2400" dirty="0" err="1" smtClean="0">
                <a:solidFill>
                  <a:srgbClr val="92D050"/>
                </a:solidFill>
              </a:rPr>
              <a:t>syn</a:t>
            </a:r>
            <a:r>
              <a:rPr lang="en-US" sz="2400" dirty="0" smtClean="0">
                <a:solidFill>
                  <a:srgbClr val="92D050"/>
                </a:solidFill>
              </a:rPr>
              <a:t> for </a:t>
            </a:r>
            <a:r>
              <a:rPr lang="en-US" sz="2400" dirty="0" err="1" smtClean="0">
                <a:solidFill>
                  <a:srgbClr val="92D050"/>
                </a:solidFill>
              </a:rPr>
              <a:t>pk,check,unique</a:t>
            </a:r>
            <a:r>
              <a:rPr lang="en-US" sz="2400" dirty="0" smtClean="0">
                <a:solidFill>
                  <a:srgbClr val="92D050"/>
                </a:solidFill>
              </a:rPr>
              <a:t>:</a:t>
            </a:r>
          </a:p>
          <a:p>
            <a:r>
              <a:rPr lang="en-US" sz="2400" b="1" dirty="0" smtClean="0">
                <a:solidFill>
                  <a:srgbClr val="00B0F0"/>
                </a:solidFill>
              </a:rPr>
              <a:t>ALTER TABLE &lt;</a:t>
            </a:r>
            <a:r>
              <a:rPr lang="en-US" sz="2400" b="1" dirty="0" err="1" smtClean="0">
                <a:solidFill>
                  <a:srgbClr val="00B0F0"/>
                </a:solidFill>
              </a:rPr>
              <a:t>tn</a:t>
            </a:r>
            <a:r>
              <a:rPr lang="en-US" sz="2400" b="1" dirty="0" smtClean="0">
                <a:solidFill>
                  <a:srgbClr val="00B0F0"/>
                </a:solidFill>
              </a:rPr>
              <a:t>&gt; DROP CONSTRAINT &lt;</a:t>
            </a:r>
            <a:r>
              <a:rPr lang="en-US" sz="2400" b="1" dirty="0" err="1" smtClean="0">
                <a:solidFill>
                  <a:srgbClr val="00B0F0"/>
                </a:solidFill>
              </a:rPr>
              <a:t>cnst</a:t>
            </a:r>
            <a:r>
              <a:rPr lang="en-US" sz="2400" b="1" dirty="0" smtClean="0">
                <a:solidFill>
                  <a:srgbClr val="00B0F0"/>
                </a:solidFill>
              </a:rPr>
              <a:t> name&gt;;</a:t>
            </a:r>
            <a:endParaRPr lang="en-US" sz="2400" b="1" dirty="0">
              <a:solidFill>
                <a:srgbClr val="00B0F0"/>
              </a:solidFill>
            </a:endParaRPr>
          </a:p>
        </p:txBody>
      </p:sp>
      <p:sp>
        <p:nvSpPr>
          <p:cNvPr id="3" name="Rectangle 2"/>
          <p:cNvSpPr/>
          <p:nvPr/>
        </p:nvSpPr>
        <p:spPr>
          <a:xfrm>
            <a:off x="285720" y="214296"/>
            <a:ext cx="4972580" cy="369332"/>
          </a:xfrm>
          <a:prstGeom prst="rect">
            <a:avLst/>
          </a:prstGeom>
        </p:spPr>
        <p:txBody>
          <a:bodyPr wrap="none">
            <a:spAutoFit/>
          </a:bodyPr>
          <a:lstStyle/>
          <a:p>
            <a:pPr marL="228600" lvl="0" indent="-228600" fontAlgn="base">
              <a:spcBef>
                <a:spcPct val="0"/>
              </a:spcBef>
              <a:spcAft>
                <a:spcPct val="0"/>
              </a:spcAft>
            </a:pPr>
            <a:r>
              <a:rPr lang="en-US" b="1" dirty="0" smtClean="0">
                <a:latin typeface="Times New Roman" pitchFamily="18" charset="0"/>
                <a:cs typeface="Times New Roman" pitchFamily="18" charset="0"/>
              </a:rPr>
              <a:t>REMOVING  CONSTRAINTS USING ALTER:</a:t>
            </a:r>
          </a:p>
        </p:txBody>
      </p:sp>
      <p:sp>
        <p:nvSpPr>
          <p:cNvPr id="4" name="Rectangle 3"/>
          <p:cNvSpPr/>
          <p:nvPr/>
        </p:nvSpPr>
        <p:spPr>
          <a:xfrm>
            <a:off x="285720" y="1714495"/>
            <a:ext cx="7858180" cy="461665"/>
          </a:xfrm>
          <a:prstGeom prst="rect">
            <a:avLst/>
          </a:prstGeom>
        </p:spPr>
        <p:txBody>
          <a:bodyPr wrap="square">
            <a:spAutoFit/>
          </a:bodyPr>
          <a:lstStyle/>
          <a:p>
            <a:r>
              <a:rPr lang="en-US" sz="2400" dirty="0" smtClean="0">
                <a:solidFill>
                  <a:srgbClr val="FF0000"/>
                </a:solidFill>
              </a:rPr>
              <a:t>ALTER TABLE student5 DROP CONSTRAINT </a:t>
            </a:r>
            <a:r>
              <a:rPr lang="en-US" sz="2400" dirty="0" err="1" smtClean="0">
                <a:solidFill>
                  <a:srgbClr val="FF0000"/>
                </a:solidFill>
              </a:rPr>
              <a:t>chkage</a:t>
            </a:r>
            <a:r>
              <a:rPr lang="en-US" sz="2400" dirty="0" smtClean="0">
                <a:solidFill>
                  <a:srgbClr val="FF0000"/>
                </a:solidFill>
              </a:rPr>
              <a:t>;</a:t>
            </a:r>
            <a:endParaRPr lang="en-US" sz="2400" dirty="0">
              <a:solidFill>
                <a:srgbClr val="FF0000"/>
              </a:solidFill>
            </a:endParaRPr>
          </a:p>
        </p:txBody>
      </p:sp>
      <p:sp>
        <p:nvSpPr>
          <p:cNvPr id="5" name="Rectangle 4"/>
          <p:cNvSpPr/>
          <p:nvPr/>
        </p:nvSpPr>
        <p:spPr>
          <a:xfrm>
            <a:off x="285720" y="2248585"/>
            <a:ext cx="8358246" cy="461665"/>
          </a:xfrm>
          <a:prstGeom prst="rect">
            <a:avLst/>
          </a:prstGeom>
        </p:spPr>
        <p:txBody>
          <a:bodyPr wrap="square">
            <a:spAutoFit/>
          </a:bodyPr>
          <a:lstStyle/>
          <a:p>
            <a:r>
              <a:rPr lang="en-US" sz="2400" dirty="0" smtClean="0">
                <a:solidFill>
                  <a:srgbClr val="FF0000"/>
                </a:solidFill>
              </a:rPr>
              <a:t>ALTER TABLE student5 DROP CONSTRAINT </a:t>
            </a:r>
            <a:r>
              <a:rPr lang="en-US" sz="2400" dirty="0" err="1" smtClean="0">
                <a:solidFill>
                  <a:srgbClr val="FF0000"/>
                </a:solidFill>
              </a:rPr>
              <a:t>pksid</a:t>
            </a:r>
            <a:r>
              <a:rPr lang="en-US" sz="2400" dirty="0" smtClean="0">
                <a:solidFill>
                  <a:srgbClr val="FF0000"/>
                </a:solidFill>
              </a:rPr>
              <a:t>;</a:t>
            </a:r>
            <a:endParaRPr lang="en-US" sz="2400" dirty="0"/>
          </a:p>
        </p:txBody>
      </p:sp>
      <p:sp>
        <p:nvSpPr>
          <p:cNvPr id="6" name="Rectangle 5"/>
          <p:cNvSpPr/>
          <p:nvPr/>
        </p:nvSpPr>
        <p:spPr>
          <a:xfrm>
            <a:off x="357158" y="2643189"/>
            <a:ext cx="7715304" cy="461665"/>
          </a:xfrm>
          <a:prstGeom prst="rect">
            <a:avLst/>
          </a:prstGeom>
        </p:spPr>
        <p:txBody>
          <a:bodyPr wrap="square">
            <a:spAutoFit/>
          </a:bodyPr>
          <a:lstStyle/>
          <a:p>
            <a:r>
              <a:rPr lang="en-US" sz="2400" dirty="0" smtClean="0">
                <a:solidFill>
                  <a:srgbClr val="FF0000"/>
                </a:solidFill>
              </a:rPr>
              <a:t>ALTER TABLE student5 DROP CONSTRAINT </a:t>
            </a:r>
            <a:r>
              <a:rPr lang="en-US" sz="2400" dirty="0" err="1" smtClean="0">
                <a:solidFill>
                  <a:srgbClr val="FF0000"/>
                </a:solidFill>
              </a:rPr>
              <a:t>unk</a:t>
            </a:r>
            <a:r>
              <a:rPr lang="en-US" sz="2400" dirty="0" smtClean="0">
                <a:solidFill>
                  <a:srgbClr val="FF0000"/>
                </a:solidFill>
              </a:rPr>
              <a:t>;</a:t>
            </a:r>
            <a:endParaRPr lang="en-US" sz="2400" dirty="0"/>
          </a:p>
        </p:txBody>
      </p:sp>
      <p:sp>
        <p:nvSpPr>
          <p:cNvPr id="7" name="Rectangle 6"/>
          <p:cNvSpPr/>
          <p:nvPr/>
        </p:nvSpPr>
        <p:spPr>
          <a:xfrm>
            <a:off x="214282" y="3143254"/>
            <a:ext cx="7215238" cy="1569660"/>
          </a:xfrm>
          <a:prstGeom prst="rect">
            <a:avLst/>
          </a:prstGeom>
        </p:spPr>
        <p:txBody>
          <a:bodyPr wrap="square">
            <a:spAutoFit/>
          </a:bodyPr>
          <a:lstStyle/>
          <a:p>
            <a:r>
              <a:rPr lang="en-US" sz="2400" dirty="0" smtClean="0">
                <a:solidFill>
                  <a:srgbClr val="92D050"/>
                </a:solidFill>
              </a:rPr>
              <a:t>General </a:t>
            </a:r>
            <a:r>
              <a:rPr lang="en-US" sz="2400" dirty="0" err="1" smtClean="0">
                <a:solidFill>
                  <a:srgbClr val="92D050"/>
                </a:solidFill>
              </a:rPr>
              <a:t>syn</a:t>
            </a:r>
            <a:r>
              <a:rPr lang="en-US" sz="2400" dirty="0" smtClean="0">
                <a:solidFill>
                  <a:srgbClr val="92D050"/>
                </a:solidFill>
              </a:rPr>
              <a:t> for not null and default:</a:t>
            </a:r>
          </a:p>
          <a:p>
            <a:r>
              <a:rPr lang="en-US" sz="2400" b="1" dirty="0" smtClean="0">
                <a:solidFill>
                  <a:srgbClr val="00B0F0"/>
                </a:solidFill>
              </a:rPr>
              <a:t>ALTER TABLE &lt;</a:t>
            </a:r>
            <a:r>
              <a:rPr lang="en-US" sz="2400" b="1" dirty="0" err="1" smtClean="0">
                <a:solidFill>
                  <a:srgbClr val="00B0F0"/>
                </a:solidFill>
              </a:rPr>
              <a:t>tn</a:t>
            </a:r>
            <a:r>
              <a:rPr lang="en-US" sz="2400" b="1" dirty="0" smtClean="0">
                <a:solidFill>
                  <a:srgbClr val="00B0F0"/>
                </a:solidFill>
              </a:rPr>
              <a:t>&gt; MODIFY  &lt;</a:t>
            </a:r>
            <a:r>
              <a:rPr lang="en-US" sz="2400" b="1" dirty="0" err="1" smtClean="0">
                <a:solidFill>
                  <a:srgbClr val="00B0F0"/>
                </a:solidFill>
              </a:rPr>
              <a:t>colname</a:t>
            </a:r>
            <a:r>
              <a:rPr lang="en-US" sz="2400" b="1" dirty="0" smtClean="0">
                <a:solidFill>
                  <a:srgbClr val="00B0F0"/>
                </a:solidFill>
              </a:rPr>
              <a:t>&gt; null;</a:t>
            </a:r>
            <a:endParaRPr lang="en-US" b="1" dirty="0" smtClean="0">
              <a:solidFill>
                <a:srgbClr val="00B0F0"/>
              </a:solidFill>
            </a:endParaRPr>
          </a:p>
          <a:p>
            <a:pPr algn="ctr"/>
            <a:r>
              <a:rPr lang="en-US" sz="2400" dirty="0" smtClean="0">
                <a:solidFill>
                  <a:srgbClr val="FF0000"/>
                </a:solidFill>
              </a:rPr>
              <a:t>ALTER TABLE Student5 MODIFY Age null;</a:t>
            </a:r>
          </a:p>
          <a:p>
            <a:pPr algn="ctr"/>
            <a:r>
              <a:rPr lang="en-US" sz="2400" dirty="0" smtClean="0">
                <a:solidFill>
                  <a:srgbClr val="FF0000"/>
                </a:solidFill>
              </a:rPr>
              <a:t>ALTER TABLE Student5 MODIFY Age null;</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anim calcmode="lin" valueType="num">
                                      <p:cBhvr additive="base">
                                        <p:cTn id="3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 calcmode="lin" valueType="num">
                                      <p:cBhvr additive="base">
                                        <p:cTn id="3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anim calcmode="lin" valueType="num">
                                      <p:cBhvr additive="base">
                                        <p:cTn id="4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500048"/>
            <a:ext cx="8572560" cy="2677656"/>
          </a:xfrm>
          <a:prstGeom prst="rect">
            <a:avLst/>
          </a:prstGeom>
        </p:spPr>
        <p:txBody>
          <a:bodyPr wrap="square">
            <a:spAutoFit/>
          </a:bodyPr>
          <a:lstStyle/>
          <a:p>
            <a:r>
              <a:rPr lang="en-US" sz="2800" dirty="0" smtClean="0"/>
              <a:t>alter table &lt;</a:t>
            </a:r>
            <a:r>
              <a:rPr lang="en-US" sz="2800" dirty="0" err="1" smtClean="0"/>
              <a:t>tn</a:t>
            </a:r>
            <a:r>
              <a:rPr lang="en-US" sz="2800" dirty="0" smtClean="0"/>
              <a:t>&gt; rename column </a:t>
            </a:r>
            <a:r>
              <a:rPr lang="en-US" sz="2800" dirty="0" err="1" smtClean="0"/>
              <a:t>oldname</a:t>
            </a:r>
            <a:r>
              <a:rPr lang="en-US" sz="2800" dirty="0" smtClean="0"/>
              <a:t> to </a:t>
            </a:r>
            <a:r>
              <a:rPr lang="en-US" sz="2800" dirty="0" err="1" smtClean="0"/>
              <a:t>newname</a:t>
            </a:r>
            <a:r>
              <a:rPr lang="en-US" sz="2800" dirty="0" smtClean="0"/>
              <a:t>;</a:t>
            </a:r>
          </a:p>
          <a:p>
            <a:endParaRPr lang="en-US" sz="2800" dirty="0" smtClean="0"/>
          </a:p>
          <a:p>
            <a:r>
              <a:rPr lang="en-US" sz="2800" dirty="0" smtClean="0"/>
              <a:t>alter table &lt;</a:t>
            </a:r>
            <a:r>
              <a:rPr lang="en-US" sz="2800" dirty="0" err="1" smtClean="0"/>
              <a:t>tn</a:t>
            </a:r>
            <a:r>
              <a:rPr lang="en-US" sz="2800" dirty="0" smtClean="0"/>
              <a:t>&gt; modify </a:t>
            </a:r>
            <a:r>
              <a:rPr lang="en-US" sz="2800" dirty="0" err="1" smtClean="0"/>
              <a:t>colname</a:t>
            </a:r>
            <a:r>
              <a:rPr lang="en-US" sz="2800" dirty="0" smtClean="0"/>
              <a:t> </a:t>
            </a:r>
            <a:r>
              <a:rPr lang="en-US" sz="2800" dirty="0" err="1" smtClean="0"/>
              <a:t>newdt</a:t>
            </a:r>
            <a:r>
              <a:rPr lang="en-US" sz="2800" dirty="0" smtClean="0"/>
              <a:t>;</a:t>
            </a:r>
          </a:p>
          <a:p>
            <a:endParaRPr lang="en-US" sz="2800" dirty="0" smtClean="0"/>
          </a:p>
          <a:p>
            <a:r>
              <a:rPr lang="en-US" sz="2800" dirty="0" smtClean="0"/>
              <a:t>alter table &lt;</a:t>
            </a:r>
            <a:r>
              <a:rPr lang="en-US" sz="2800" dirty="0" err="1" smtClean="0"/>
              <a:t>tn</a:t>
            </a:r>
            <a:r>
              <a:rPr lang="en-US" sz="2800" dirty="0" smtClean="0"/>
              <a:t>&gt; rename to </a:t>
            </a:r>
            <a:r>
              <a:rPr lang="en-US" sz="2800" dirty="0" err="1" smtClean="0"/>
              <a:t>newtn</a:t>
            </a:r>
            <a:r>
              <a:rPr lang="en-US" sz="2800" dirty="0" smtClean="0"/>
              <a:t>;</a:t>
            </a:r>
            <a:endParaRPr lang="en-US" sz="2800" dirty="0"/>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28596" y="1071552"/>
            <a:ext cx="8221852" cy="264320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2844" y="107140"/>
            <a:ext cx="9001156" cy="4247317"/>
          </a:xfrm>
          <a:prstGeom prst="rect">
            <a:avLst/>
          </a:prstGeom>
        </p:spPr>
        <p:txBody>
          <a:bodyPr wrap="square">
            <a:spAutoFit/>
          </a:bodyPr>
          <a:lstStyle/>
          <a:p>
            <a:r>
              <a:rPr lang="en-US" b="1" dirty="0">
                <a:solidFill>
                  <a:srgbClr val="00B050"/>
                </a:solidFill>
                <a:latin typeface="Cambria" pitchFamily="18" charset="0"/>
                <a:ea typeface="Cambria" pitchFamily="18" charset="0"/>
              </a:rPr>
              <a:t>Rectangle</a:t>
            </a:r>
            <a:r>
              <a:rPr lang="en-US" dirty="0">
                <a:solidFill>
                  <a:srgbClr val="00B050"/>
                </a:solidFill>
                <a:latin typeface="Cambria" pitchFamily="18" charset="0"/>
                <a:ea typeface="Cambria" pitchFamily="18" charset="0"/>
              </a:rPr>
              <a:t>:</a:t>
            </a:r>
            <a:r>
              <a:rPr lang="en-US" dirty="0">
                <a:latin typeface="Cambria" pitchFamily="18" charset="0"/>
                <a:ea typeface="Cambria" pitchFamily="18" charset="0"/>
              </a:rPr>
              <a:t> Represents Entity sets.</a:t>
            </a:r>
          </a:p>
          <a:p>
            <a:endParaRPr lang="en-US" b="1" dirty="0" smtClean="0">
              <a:latin typeface="Cambria" pitchFamily="18" charset="0"/>
              <a:ea typeface="Cambria" pitchFamily="18" charset="0"/>
            </a:endParaRPr>
          </a:p>
          <a:p>
            <a:r>
              <a:rPr lang="en-US" b="1" dirty="0" smtClean="0">
                <a:solidFill>
                  <a:srgbClr val="00B050"/>
                </a:solidFill>
                <a:latin typeface="Cambria" pitchFamily="18" charset="0"/>
                <a:ea typeface="Cambria" pitchFamily="18" charset="0"/>
              </a:rPr>
              <a:t>Ellipses</a:t>
            </a:r>
            <a:r>
              <a:rPr lang="en-US" b="1" dirty="0">
                <a:solidFill>
                  <a:srgbClr val="00B050"/>
                </a:solidFill>
                <a:latin typeface="Cambria" pitchFamily="18" charset="0"/>
                <a:ea typeface="Cambria" pitchFamily="18" charset="0"/>
              </a:rPr>
              <a:t>:</a:t>
            </a:r>
            <a:r>
              <a:rPr lang="en-US" dirty="0">
                <a:latin typeface="Cambria" pitchFamily="18" charset="0"/>
                <a:ea typeface="Cambria" pitchFamily="18" charset="0"/>
              </a:rPr>
              <a:t> Attributes</a:t>
            </a:r>
          </a:p>
          <a:p>
            <a:endParaRPr lang="en-US" b="1" dirty="0" smtClean="0">
              <a:latin typeface="Cambria" pitchFamily="18" charset="0"/>
              <a:ea typeface="Cambria" pitchFamily="18" charset="0"/>
            </a:endParaRPr>
          </a:p>
          <a:p>
            <a:r>
              <a:rPr lang="en-US" b="1" dirty="0" smtClean="0">
                <a:solidFill>
                  <a:srgbClr val="00B050"/>
                </a:solidFill>
                <a:latin typeface="Cambria" pitchFamily="18" charset="0"/>
                <a:ea typeface="Cambria" pitchFamily="18" charset="0"/>
              </a:rPr>
              <a:t>Diamonds</a:t>
            </a:r>
            <a:r>
              <a:rPr lang="en-US" b="1" dirty="0">
                <a:solidFill>
                  <a:srgbClr val="00B050"/>
                </a:solidFill>
                <a:latin typeface="Cambria" pitchFamily="18" charset="0"/>
                <a:ea typeface="Cambria" pitchFamily="18" charset="0"/>
              </a:rPr>
              <a:t>:</a:t>
            </a:r>
            <a:r>
              <a:rPr lang="en-US" dirty="0">
                <a:latin typeface="Cambria" pitchFamily="18" charset="0"/>
                <a:ea typeface="Cambria" pitchFamily="18" charset="0"/>
              </a:rPr>
              <a:t> </a:t>
            </a:r>
            <a:r>
              <a:rPr lang="en-US" dirty="0" smtClean="0">
                <a:latin typeface="Cambria" pitchFamily="18" charset="0"/>
                <a:ea typeface="Cambria" pitchFamily="18" charset="0"/>
              </a:rPr>
              <a:t>Relationship</a:t>
            </a:r>
            <a:endParaRPr lang="en-US" dirty="0">
              <a:latin typeface="Cambria" pitchFamily="18" charset="0"/>
              <a:ea typeface="Cambria" pitchFamily="18" charset="0"/>
            </a:endParaRPr>
          </a:p>
          <a:p>
            <a:endParaRPr lang="en-US" b="1" dirty="0" smtClean="0">
              <a:latin typeface="Cambria" pitchFamily="18" charset="0"/>
              <a:ea typeface="Cambria" pitchFamily="18" charset="0"/>
            </a:endParaRPr>
          </a:p>
          <a:p>
            <a:r>
              <a:rPr lang="en-US" b="1" dirty="0" smtClean="0">
                <a:solidFill>
                  <a:srgbClr val="00B050"/>
                </a:solidFill>
                <a:latin typeface="Cambria" pitchFamily="18" charset="0"/>
                <a:ea typeface="Cambria" pitchFamily="18" charset="0"/>
              </a:rPr>
              <a:t>Lines</a:t>
            </a:r>
            <a:r>
              <a:rPr lang="en-US" b="1" dirty="0">
                <a:solidFill>
                  <a:srgbClr val="00B050"/>
                </a:solidFill>
                <a:latin typeface="Cambria" pitchFamily="18" charset="0"/>
                <a:ea typeface="Cambria" pitchFamily="18" charset="0"/>
              </a:rPr>
              <a:t>: </a:t>
            </a:r>
            <a:r>
              <a:rPr lang="en-US" dirty="0">
                <a:latin typeface="Cambria" pitchFamily="18" charset="0"/>
                <a:ea typeface="Cambria" pitchFamily="18" charset="0"/>
              </a:rPr>
              <a:t>They link attributes to Entity Sets and Entity sets to Relationship Set</a:t>
            </a:r>
          </a:p>
          <a:p>
            <a:endParaRPr lang="en-US" b="1" dirty="0" smtClean="0">
              <a:latin typeface="Cambria" pitchFamily="18" charset="0"/>
              <a:ea typeface="Cambria" pitchFamily="18" charset="0"/>
            </a:endParaRPr>
          </a:p>
          <a:p>
            <a:r>
              <a:rPr lang="en-US" b="1" dirty="0" smtClean="0">
                <a:solidFill>
                  <a:srgbClr val="00B050"/>
                </a:solidFill>
                <a:latin typeface="Cambria" pitchFamily="18" charset="0"/>
                <a:ea typeface="Cambria" pitchFamily="18" charset="0"/>
              </a:rPr>
              <a:t>Double </a:t>
            </a:r>
            <a:r>
              <a:rPr lang="en-US" b="1" dirty="0">
                <a:solidFill>
                  <a:srgbClr val="00B050"/>
                </a:solidFill>
                <a:latin typeface="Cambria" pitchFamily="18" charset="0"/>
                <a:ea typeface="Cambria" pitchFamily="18" charset="0"/>
              </a:rPr>
              <a:t>Ellipses: </a:t>
            </a:r>
            <a:r>
              <a:rPr lang="en-US" dirty="0" err="1">
                <a:latin typeface="Cambria" pitchFamily="18" charset="0"/>
                <a:ea typeface="Cambria" pitchFamily="18" charset="0"/>
              </a:rPr>
              <a:t>Multivalued</a:t>
            </a:r>
            <a:r>
              <a:rPr lang="en-US" dirty="0">
                <a:latin typeface="Cambria" pitchFamily="18" charset="0"/>
                <a:ea typeface="Cambria" pitchFamily="18" charset="0"/>
              </a:rPr>
              <a:t> Attributes </a:t>
            </a:r>
            <a:endParaRPr lang="en-US" dirty="0" smtClean="0">
              <a:latin typeface="Cambria" pitchFamily="18" charset="0"/>
              <a:ea typeface="Cambria" pitchFamily="18" charset="0"/>
            </a:endParaRPr>
          </a:p>
          <a:p>
            <a:endParaRPr lang="en-US" b="1" dirty="0" smtClean="0">
              <a:latin typeface="Cambria" pitchFamily="18" charset="0"/>
              <a:ea typeface="Cambria" pitchFamily="18" charset="0"/>
            </a:endParaRPr>
          </a:p>
          <a:p>
            <a:r>
              <a:rPr lang="en-US" b="1" dirty="0" smtClean="0">
                <a:solidFill>
                  <a:srgbClr val="00B050"/>
                </a:solidFill>
                <a:latin typeface="Cambria" pitchFamily="18" charset="0"/>
                <a:ea typeface="Cambria" pitchFamily="18" charset="0"/>
              </a:rPr>
              <a:t>Dashed </a:t>
            </a:r>
            <a:r>
              <a:rPr lang="en-US" b="1" dirty="0">
                <a:solidFill>
                  <a:srgbClr val="00B050"/>
                </a:solidFill>
                <a:latin typeface="Cambria" pitchFamily="18" charset="0"/>
                <a:ea typeface="Cambria" pitchFamily="18" charset="0"/>
              </a:rPr>
              <a:t>Ellipses: </a:t>
            </a:r>
            <a:r>
              <a:rPr lang="en-US" dirty="0">
                <a:latin typeface="Cambria" pitchFamily="18" charset="0"/>
                <a:ea typeface="Cambria" pitchFamily="18" charset="0"/>
              </a:rPr>
              <a:t>Derived Attributes </a:t>
            </a:r>
            <a:endParaRPr lang="en-US" dirty="0" smtClean="0">
              <a:latin typeface="Cambria" pitchFamily="18" charset="0"/>
              <a:ea typeface="Cambria" pitchFamily="18" charset="0"/>
            </a:endParaRPr>
          </a:p>
          <a:p>
            <a:endParaRPr lang="en-US" b="1" dirty="0" smtClean="0">
              <a:latin typeface="Cambria" pitchFamily="18" charset="0"/>
              <a:ea typeface="Cambria" pitchFamily="18" charset="0"/>
            </a:endParaRPr>
          </a:p>
          <a:p>
            <a:r>
              <a:rPr lang="en-US" b="1" dirty="0" smtClean="0">
                <a:solidFill>
                  <a:srgbClr val="00B050"/>
                </a:solidFill>
                <a:latin typeface="Cambria" pitchFamily="18" charset="0"/>
                <a:ea typeface="Cambria" pitchFamily="18" charset="0"/>
              </a:rPr>
              <a:t>Double </a:t>
            </a:r>
            <a:r>
              <a:rPr lang="en-US" b="1" dirty="0">
                <a:solidFill>
                  <a:srgbClr val="00B050"/>
                </a:solidFill>
                <a:latin typeface="Cambria" pitchFamily="18" charset="0"/>
                <a:ea typeface="Cambria" pitchFamily="18" charset="0"/>
              </a:rPr>
              <a:t>Rectangles: </a:t>
            </a:r>
            <a:r>
              <a:rPr lang="en-US" dirty="0">
                <a:latin typeface="Cambria" pitchFamily="18" charset="0"/>
                <a:ea typeface="Cambria" pitchFamily="18" charset="0"/>
              </a:rPr>
              <a:t>Weak Entity Sets</a:t>
            </a:r>
          </a:p>
          <a:p>
            <a:endParaRPr lang="en-US" b="1" dirty="0" smtClean="0">
              <a:latin typeface="Cambria" pitchFamily="18" charset="0"/>
              <a:ea typeface="Cambria" pitchFamily="18" charset="0"/>
            </a:endParaRPr>
          </a:p>
          <a:p>
            <a:r>
              <a:rPr lang="en-US" b="1" dirty="0" smtClean="0">
                <a:solidFill>
                  <a:srgbClr val="00B050"/>
                </a:solidFill>
                <a:latin typeface="Cambria" pitchFamily="18" charset="0"/>
                <a:ea typeface="Cambria" pitchFamily="18" charset="0"/>
              </a:rPr>
              <a:t>Double </a:t>
            </a:r>
            <a:r>
              <a:rPr lang="en-US" b="1" dirty="0">
                <a:solidFill>
                  <a:srgbClr val="00B050"/>
                </a:solidFill>
                <a:latin typeface="Cambria" pitchFamily="18" charset="0"/>
                <a:ea typeface="Cambria" pitchFamily="18" charset="0"/>
              </a:rPr>
              <a:t>Lines: </a:t>
            </a:r>
            <a:r>
              <a:rPr lang="en-US" dirty="0">
                <a:latin typeface="Cambria" pitchFamily="18" charset="0"/>
                <a:ea typeface="Cambria" pitchFamily="18" charset="0"/>
              </a:rPr>
              <a:t>Total participation of an entity in a relationship set</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85786" y="482190"/>
            <a:ext cx="7629556" cy="3446884"/>
            <a:chOff x="2272" y="283"/>
            <a:chExt cx="6689" cy="3346"/>
          </a:xfrm>
        </p:grpSpPr>
        <p:pic>
          <p:nvPicPr>
            <p:cNvPr id="1027" name="Picture 3"/>
            <p:cNvPicPr>
              <a:picLocks noChangeAspect="1" noChangeArrowheads="1"/>
            </p:cNvPicPr>
            <p:nvPr/>
          </p:nvPicPr>
          <p:blipFill>
            <a:blip r:embed="rId2"/>
            <a:srcRect/>
            <a:stretch>
              <a:fillRect/>
            </a:stretch>
          </p:blipFill>
          <p:spPr bwMode="auto">
            <a:xfrm>
              <a:off x="2272" y="282"/>
              <a:ext cx="6689" cy="3346"/>
            </a:xfrm>
            <a:prstGeom prst="rect">
              <a:avLst/>
            </a:prstGeom>
            <a:noFill/>
            <a:ln w="9525">
              <a:noFill/>
              <a:miter lim="800000"/>
              <a:headEnd/>
              <a:tailEnd/>
            </a:ln>
          </p:spPr>
        </p:pic>
        <p:sp>
          <p:nvSpPr>
            <p:cNvPr id="1028" name="Rectangle 4"/>
            <p:cNvSpPr>
              <a:spLocks noChangeArrowheads="1"/>
            </p:cNvSpPr>
            <p:nvPr/>
          </p:nvSpPr>
          <p:spPr bwMode="auto">
            <a:xfrm>
              <a:off x="6727" y="735"/>
              <a:ext cx="2184" cy="322"/>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ChangeArrowheads="1"/>
          </p:cNvSpPr>
          <p:nvPr/>
        </p:nvSpPr>
        <p:spPr bwMode="auto">
          <a:xfrm>
            <a:off x="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2" name="Group 1"/>
          <p:cNvGrpSpPr>
            <a:grpSpLocks/>
          </p:cNvGrpSpPr>
          <p:nvPr/>
        </p:nvGrpSpPr>
        <p:grpSpPr bwMode="auto">
          <a:xfrm>
            <a:off x="0" y="0"/>
            <a:ext cx="3714744" cy="1928808"/>
            <a:chOff x="0" y="0"/>
            <a:chExt cx="5532" cy="2320"/>
          </a:xfrm>
        </p:grpSpPr>
        <p:pic>
          <p:nvPicPr>
            <p:cNvPr id="2051" name="Picture 3"/>
            <p:cNvPicPr>
              <a:picLocks noChangeAspect="1" noChangeArrowheads="1"/>
            </p:cNvPicPr>
            <p:nvPr/>
          </p:nvPicPr>
          <p:blipFill>
            <a:blip r:embed="rId2"/>
            <a:srcRect/>
            <a:stretch>
              <a:fillRect/>
            </a:stretch>
          </p:blipFill>
          <p:spPr bwMode="auto">
            <a:xfrm>
              <a:off x="46" y="0"/>
              <a:ext cx="5486" cy="2320"/>
            </a:xfrm>
            <a:prstGeom prst="rect">
              <a:avLst/>
            </a:prstGeom>
            <a:noFill/>
          </p:spPr>
        </p:pic>
        <p:sp>
          <p:nvSpPr>
            <p:cNvPr id="2050" name="Rectangle 2"/>
            <p:cNvSpPr>
              <a:spLocks noChangeArrowheads="1"/>
            </p:cNvSpPr>
            <p:nvPr/>
          </p:nvSpPr>
          <p:spPr bwMode="auto">
            <a:xfrm>
              <a:off x="0" y="168"/>
              <a:ext cx="2172" cy="279"/>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pic>
        <p:nvPicPr>
          <p:cNvPr id="6" name="image7.jpeg" descr="E:\RCEE\AI&amp;DS\DBMS 2-1\UNIT-3\3.jpg"/>
          <p:cNvPicPr/>
          <p:nvPr/>
        </p:nvPicPr>
        <p:blipFill>
          <a:blip r:embed="rId3" cstate="print"/>
          <a:stretch>
            <a:fillRect/>
          </a:stretch>
        </p:blipFill>
        <p:spPr>
          <a:xfrm>
            <a:off x="4572000" y="750082"/>
            <a:ext cx="4357718" cy="1982405"/>
          </a:xfrm>
          <a:prstGeom prst="rect">
            <a:avLst/>
          </a:prstGeom>
        </p:spPr>
      </p:pic>
      <p:pic>
        <p:nvPicPr>
          <p:cNvPr id="7" name="image8.jpeg" descr="E:\RCEE\AI&amp;DS\DBMS 2-1\UNIT-3\4.jpg"/>
          <p:cNvPicPr/>
          <p:nvPr/>
        </p:nvPicPr>
        <p:blipFill>
          <a:blip r:embed="rId4" cstate="print"/>
          <a:stretch>
            <a:fillRect/>
          </a:stretch>
        </p:blipFill>
        <p:spPr>
          <a:xfrm>
            <a:off x="785786" y="2518171"/>
            <a:ext cx="3429024" cy="2089562"/>
          </a:xfrm>
          <a:prstGeom prst="rect">
            <a:avLst/>
          </a:prstGeom>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2870" y="142859"/>
            <a:ext cx="3940502" cy="461665"/>
          </a:xfrm>
          <a:prstGeom prst="rect">
            <a:avLst/>
          </a:prstGeom>
        </p:spPr>
        <p:txBody>
          <a:bodyPr wrap="none">
            <a:spAutoFit/>
          </a:bodyPr>
          <a:lstStyle/>
          <a:p>
            <a:r>
              <a:rPr lang="en-US" sz="2400" dirty="0" smtClean="0">
                <a:solidFill>
                  <a:srgbClr val="FF0000"/>
                </a:solidFill>
              </a:rPr>
              <a:t>Constraints on ER Model:</a:t>
            </a:r>
            <a:endParaRPr lang="en-US" sz="2400" dirty="0">
              <a:solidFill>
                <a:srgbClr val="FF0000"/>
              </a:solidFill>
            </a:endParaRPr>
          </a:p>
        </p:txBody>
      </p:sp>
      <p:sp>
        <p:nvSpPr>
          <p:cNvPr id="3" name="Rectangle 2"/>
          <p:cNvSpPr/>
          <p:nvPr/>
        </p:nvSpPr>
        <p:spPr>
          <a:xfrm>
            <a:off x="142844" y="571486"/>
            <a:ext cx="8715436" cy="707886"/>
          </a:xfrm>
          <a:prstGeom prst="rect">
            <a:avLst/>
          </a:prstGeom>
        </p:spPr>
        <p:txBody>
          <a:bodyPr wrap="square">
            <a:spAutoFit/>
          </a:bodyPr>
          <a:lstStyle/>
          <a:p>
            <a:r>
              <a:rPr lang="en-US" sz="2000" b="1" dirty="0" smtClean="0"/>
              <a:t>Constraints</a:t>
            </a:r>
            <a:r>
              <a:rPr lang="en-US" sz="2000" dirty="0" smtClean="0"/>
              <a:t> in an </a:t>
            </a:r>
            <a:r>
              <a:rPr lang="en-US" sz="2000" b="1" dirty="0" smtClean="0"/>
              <a:t>Entity-Relationship (ER) Model</a:t>
            </a:r>
            <a:r>
              <a:rPr lang="en-US" sz="2000" dirty="0" smtClean="0"/>
              <a:t> define the rules that maintain the accuracy and consistency of data in a database.</a:t>
            </a:r>
            <a:endParaRPr lang="en-US" sz="2000" dirty="0"/>
          </a:p>
        </p:txBody>
      </p:sp>
      <p:sp>
        <p:nvSpPr>
          <p:cNvPr id="4" name="Rectangle 3"/>
          <p:cNvSpPr/>
          <p:nvPr/>
        </p:nvSpPr>
        <p:spPr>
          <a:xfrm>
            <a:off x="214283" y="1428742"/>
            <a:ext cx="2842445" cy="400110"/>
          </a:xfrm>
          <a:prstGeom prst="rect">
            <a:avLst/>
          </a:prstGeom>
        </p:spPr>
        <p:txBody>
          <a:bodyPr wrap="none">
            <a:spAutoFit/>
          </a:bodyPr>
          <a:lstStyle/>
          <a:p>
            <a:r>
              <a:rPr lang="en-US" sz="2000" b="1" dirty="0" smtClean="0">
                <a:solidFill>
                  <a:srgbClr val="FF0000"/>
                </a:solidFill>
              </a:rPr>
              <a:t>Types of Constraints:</a:t>
            </a:r>
            <a:endParaRPr lang="en-US" sz="2000" b="1" dirty="0">
              <a:solidFill>
                <a:srgbClr val="FF0000"/>
              </a:solidFill>
            </a:endParaRPr>
          </a:p>
        </p:txBody>
      </p:sp>
      <p:sp>
        <p:nvSpPr>
          <p:cNvPr id="6" name="Rectangle 5"/>
          <p:cNvSpPr/>
          <p:nvPr/>
        </p:nvSpPr>
        <p:spPr>
          <a:xfrm>
            <a:off x="1142978" y="1857371"/>
            <a:ext cx="2978701" cy="646331"/>
          </a:xfrm>
          <a:prstGeom prst="rect">
            <a:avLst/>
          </a:prstGeom>
        </p:spPr>
        <p:txBody>
          <a:bodyPr wrap="none">
            <a:spAutoFit/>
          </a:bodyPr>
          <a:lstStyle/>
          <a:p>
            <a:r>
              <a:rPr lang="en-US" b="1" dirty="0" smtClean="0"/>
              <a:t>Cardinality Constraint</a:t>
            </a:r>
          </a:p>
          <a:p>
            <a:r>
              <a:rPr lang="en-US" b="1" dirty="0" smtClean="0"/>
              <a:t>Participation Constraint</a:t>
            </a:r>
            <a:r>
              <a:rPr lang="en-US" dirty="0" smtClean="0"/>
              <a:t>  </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76" y="32594"/>
            <a:ext cx="8929718" cy="4154984"/>
          </a:xfrm>
          <a:prstGeom prst="rect">
            <a:avLst/>
          </a:prstGeom>
          <a:solidFill>
            <a:schemeClr val="bg1"/>
          </a:solidFill>
        </p:spPr>
        <p:txBody>
          <a:bodyPr wrap="square">
            <a:spAutoFit/>
          </a:bodyPr>
          <a:lstStyle/>
          <a:p>
            <a:r>
              <a:rPr lang="en-US" sz="2400" b="1" dirty="0" smtClean="0">
                <a:solidFill>
                  <a:srgbClr val="00B0F0"/>
                </a:solidFill>
              </a:rPr>
              <a:t>Cardinality Constraint </a:t>
            </a:r>
          </a:p>
          <a:p>
            <a:r>
              <a:rPr lang="en-US" dirty="0" smtClean="0"/>
              <a:t>Specifies the number of entities that can participate in a relationship. </a:t>
            </a:r>
          </a:p>
          <a:p>
            <a:pPr lvl="1"/>
            <a:r>
              <a:rPr lang="en-US" dirty="0" smtClean="0"/>
              <a:t>Types: </a:t>
            </a:r>
          </a:p>
          <a:p>
            <a:pPr lvl="2"/>
            <a:r>
              <a:rPr lang="en-US" dirty="0" smtClean="0"/>
              <a:t>One-to-One (1:1) </a:t>
            </a:r>
          </a:p>
          <a:p>
            <a:pPr lvl="2"/>
            <a:r>
              <a:rPr lang="en-US" dirty="0" smtClean="0"/>
              <a:t>One-to-Many (1:N) </a:t>
            </a:r>
          </a:p>
          <a:p>
            <a:pPr lvl="2"/>
            <a:r>
              <a:rPr lang="en-US" dirty="0" smtClean="0"/>
              <a:t>Many-to-One (N:1) </a:t>
            </a:r>
          </a:p>
          <a:p>
            <a:pPr lvl="2"/>
            <a:r>
              <a:rPr lang="en-US" dirty="0" smtClean="0"/>
              <a:t>Many-to-Many (M:N) </a:t>
            </a:r>
          </a:p>
          <a:p>
            <a:endParaRPr lang="en-US" b="1" dirty="0" smtClean="0"/>
          </a:p>
          <a:p>
            <a:r>
              <a:rPr lang="en-US" sz="2400" b="1" dirty="0" smtClean="0">
                <a:solidFill>
                  <a:srgbClr val="00B0F0"/>
                </a:solidFill>
              </a:rPr>
              <a:t>Participation Constraint </a:t>
            </a:r>
          </a:p>
          <a:p>
            <a:r>
              <a:rPr lang="en-US" dirty="0" smtClean="0"/>
              <a:t>Specifies whether the participation of an entity in a relationship is mandatory or optional. </a:t>
            </a:r>
          </a:p>
          <a:p>
            <a:pPr lvl="1"/>
            <a:r>
              <a:rPr lang="en-US" dirty="0" smtClean="0"/>
              <a:t>     Types: </a:t>
            </a:r>
          </a:p>
          <a:p>
            <a:pPr lvl="2"/>
            <a:r>
              <a:rPr lang="en-US" b="1" dirty="0" smtClean="0"/>
              <a:t>       Total Participation:</a:t>
            </a:r>
            <a:r>
              <a:rPr lang="en-US" dirty="0" smtClean="0"/>
              <a:t> Every entity must participate. </a:t>
            </a:r>
          </a:p>
          <a:p>
            <a:pPr lvl="2"/>
            <a:r>
              <a:rPr lang="en-US" b="1" dirty="0" smtClean="0"/>
              <a:t>       Partial Participation:</a:t>
            </a:r>
            <a:r>
              <a:rPr lang="en-US" dirty="0" smtClean="0"/>
              <a:t> Participation is optional. </a:t>
            </a:r>
            <a:endParaRPr lang="en-US" dirty="0"/>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71472" y="803659"/>
            <a:ext cx="5857916" cy="1232306"/>
            <a:chOff x="1869" y="345"/>
            <a:chExt cx="7224" cy="1844"/>
          </a:xfrm>
        </p:grpSpPr>
        <p:pic>
          <p:nvPicPr>
            <p:cNvPr id="16387" name="Picture 3"/>
            <p:cNvPicPr>
              <a:picLocks noChangeAspect="1" noChangeArrowheads="1"/>
            </p:cNvPicPr>
            <p:nvPr/>
          </p:nvPicPr>
          <p:blipFill>
            <a:blip r:embed="rId2"/>
            <a:srcRect/>
            <a:stretch>
              <a:fillRect/>
            </a:stretch>
          </p:blipFill>
          <p:spPr bwMode="auto">
            <a:xfrm>
              <a:off x="1869" y="345"/>
              <a:ext cx="7056" cy="1657"/>
            </a:xfrm>
            <a:prstGeom prst="rect">
              <a:avLst/>
            </a:prstGeom>
            <a:noFill/>
            <a:ln w="9525">
              <a:noFill/>
              <a:miter lim="800000"/>
              <a:headEnd/>
              <a:tailEnd/>
            </a:ln>
          </p:spPr>
        </p:pic>
        <p:sp>
          <p:nvSpPr>
            <p:cNvPr id="16388" name="Rectangle 4"/>
            <p:cNvSpPr>
              <a:spLocks noChangeArrowheads="1"/>
            </p:cNvSpPr>
            <p:nvPr/>
          </p:nvSpPr>
          <p:spPr bwMode="auto">
            <a:xfrm>
              <a:off x="6441" y="1607"/>
              <a:ext cx="2652" cy="582"/>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5"/>
          <p:cNvGrpSpPr>
            <a:grpSpLocks/>
          </p:cNvGrpSpPr>
          <p:nvPr/>
        </p:nvGrpSpPr>
        <p:grpSpPr bwMode="auto">
          <a:xfrm>
            <a:off x="2643177" y="2357437"/>
            <a:ext cx="4479925" cy="1714512"/>
            <a:chOff x="1869" y="257"/>
            <a:chExt cx="7056" cy="1392"/>
          </a:xfrm>
        </p:grpSpPr>
        <p:pic>
          <p:nvPicPr>
            <p:cNvPr id="16390" name="Picture 6"/>
            <p:cNvPicPr>
              <a:picLocks noChangeAspect="1" noChangeArrowheads="1"/>
            </p:cNvPicPr>
            <p:nvPr/>
          </p:nvPicPr>
          <p:blipFill>
            <a:blip r:embed="rId3"/>
            <a:srcRect/>
            <a:stretch>
              <a:fillRect/>
            </a:stretch>
          </p:blipFill>
          <p:spPr bwMode="auto">
            <a:xfrm>
              <a:off x="1869" y="256"/>
              <a:ext cx="7056" cy="1342"/>
            </a:xfrm>
            <a:prstGeom prst="rect">
              <a:avLst/>
            </a:prstGeom>
            <a:noFill/>
            <a:ln w="9525">
              <a:noFill/>
              <a:miter lim="800000"/>
              <a:headEnd/>
              <a:tailEnd/>
            </a:ln>
          </p:spPr>
        </p:pic>
        <p:sp>
          <p:nvSpPr>
            <p:cNvPr id="16391" name="Rectangle 7"/>
            <p:cNvSpPr>
              <a:spLocks noChangeArrowheads="1"/>
            </p:cNvSpPr>
            <p:nvPr/>
          </p:nvSpPr>
          <p:spPr bwMode="auto">
            <a:xfrm>
              <a:off x="6455" y="1269"/>
              <a:ext cx="2300" cy="379"/>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6395" name="Rectangle 11"/>
          <p:cNvSpPr>
            <a:spLocks noChangeArrowheads="1"/>
          </p:cNvSpPr>
          <p:nvPr/>
        </p:nvSpPr>
        <p:spPr bwMode="auto">
          <a:xfrm>
            <a:off x="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99" name="Rectangle 15"/>
          <p:cNvSpPr>
            <a:spLocks noChangeArrowheads="1"/>
          </p:cNvSpPr>
          <p:nvPr/>
        </p:nvSpPr>
        <p:spPr bwMode="auto">
          <a:xfrm>
            <a:off x="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a:grpSpLocks/>
          </p:cNvGrpSpPr>
          <p:nvPr/>
        </p:nvGrpSpPr>
        <p:grpSpPr bwMode="auto">
          <a:xfrm>
            <a:off x="642910" y="428611"/>
            <a:ext cx="6357982" cy="1714512"/>
            <a:chOff x="0" y="0"/>
            <a:chExt cx="7056" cy="2077"/>
          </a:xfrm>
        </p:grpSpPr>
        <p:pic>
          <p:nvPicPr>
            <p:cNvPr id="3" name="Picture 10"/>
            <p:cNvPicPr>
              <a:picLocks noChangeAspect="1" noChangeArrowheads="1"/>
            </p:cNvPicPr>
            <p:nvPr/>
          </p:nvPicPr>
          <p:blipFill>
            <a:blip r:embed="rId3"/>
            <a:srcRect/>
            <a:stretch>
              <a:fillRect/>
            </a:stretch>
          </p:blipFill>
          <p:spPr bwMode="auto">
            <a:xfrm>
              <a:off x="0" y="0"/>
              <a:ext cx="7056" cy="2077"/>
            </a:xfrm>
            <a:prstGeom prst="rect">
              <a:avLst/>
            </a:prstGeom>
            <a:noFill/>
          </p:spPr>
        </p:pic>
        <p:sp>
          <p:nvSpPr>
            <p:cNvPr id="4" name="Rectangle 9"/>
            <p:cNvSpPr>
              <a:spLocks noChangeArrowheads="1"/>
            </p:cNvSpPr>
            <p:nvPr/>
          </p:nvSpPr>
          <p:spPr bwMode="auto">
            <a:xfrm>
              <a:off x="4360" y="1569"/>
              <a:ext cx="2552" cy="48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 name="Group 12"/>
          <p:cNvGrpSpPr>
            <a:grpSpLocks/>
          </p:cNvGrpSpPr>
          <p:nvPr/>
        </p:nvGrpSpPr>
        <p:grpSpPr bwMode="auto">
          <a:xfrm>
            <a:off x="857224" y="2464593"/>
            <a:ext cx="5572164" cy="1928826"/>
            <a:chOff x="0" y="0"/>
            <a:chExt cx="7056" cy="2146"/>
          </a:xfrm>
        </p:grpSpPr>
        <p:pic>
          <p:nvPicPr>
            <p:cNvPr id="6" name="Picture 14"/>
            <p:cNvPicPr>
              <a:picLocks noChangeAspect="1" noChangeArrowheads="1"/>
            </p:cNvPicPr>
            <p:nvPr/>
          </p:nvPicPr>
          <p:blipFill>
            <a:blip r:embed="rId4"/>
            <a:srcRect/>
            <a:stretch>
              <a:fillRect/>
            </a:stretch>
          </p:blipFill>
          <p:spPr bwMode="auto">
            <a:xfrm>
              <a:off x="0" y="0"/>
              <a:ext cx="7056" cy="2081"/>
            </a:xfrm>
            <a:prstGeom prst="rect">
              <a:avLst/>
            </a:prstGeom>
            <a:noFill/>
          </p:spPr>
        </p:pic>
        <p:sp>
          <p:nvSpPr>
            <p:cNvPr id="7" name="Rectangle 13"/>
            <p:cNvSpPr>
              <a:spLocks noChangeArrowheads="1"/>
            </p:cNvSpPr>
            <p:nvPr/>
          </p:nvSpPr>
          <p:spPr bwMode="auto">
            <a:xfrm>
              <a:off x="4586" y="1682"/>
              <a:ext cx="2271" cy="464"/>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3" y="1"/>
            <a:ext cx="7383753"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Steps to Create an ERD (E-R </a:t>
            </a:r>
            <a:r>
              <a:rPr kumimoji="0" lang="en-US" sz="3200" b="1"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Digram</a:t>
            </a:r>
            <a:r>
              <a:rPr kumimoji="0" lang="en-US" sz="3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endParaRPr kumimoji="0" lang="en-US" sz="4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image14.jpeg"/>
          <p:cNvPicPr/>
          <p:nvPr/>
        </p:nvPicPr>
        <p:blipFill>
          <a:blip r:embed="rId2" cstate="print"/>
          <a:stretch>
            <a:fillRect/>
          </a:stretch>
        </p:blipFill>
        <p:spPr>
          <a:xfrm>
            <a:off x="785786" y="1017974"/>
            <a:ext cx="7500990" cy="1982405"/>
          </a:xfrm>
          <a:prstGeom prst="rect">
            <a:avLst/>
          </a:prstGeom>
        </p:spPr>
      </p:pic>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214297"/>
            <a:ext cx="8929750" cy="1323439"/>
          </a:xfrm>
          <a:prstGeom prst="rect">
            <a:avLst/>
          </a:prstGeom>
        </p:spPr>
        <p:txBody>
          <a:bodyPr wrap="square">
            <a:spAutoFit/>
          </a:bodyPr>
          <a:lstStyle/>
          <a:p>
            <a:r>
              <a:rPr lang="en-US" sz="2000" dirty="0">
                <a:latin typeface="Cambria" pitchFamily="18" charset="0"/>
                <a:ea typeface="Cambria" pitchFamily="18" charset="0"/>
              </a:rPr>
              <a:t>Let's study them with an example:</a:t>
            </a:r>
          </a:p>
          <a:p>
            <a:r>
              <a:rPr lang="en-US" sz="2000" dirty="0">
                <a:latin typeface="Cambria" pitchFamily="18" charset="0"/>
                <a:ea typeface="Cambria" pitchFamily="18" charset="0"/>
              </a:rPr>
              <a:t>In a university, a Student enrolls in Courses. A student must be assigned to at least one or more Courses. Each course is taught by a single Professor. To maintain instruction quality, a Professor can deliver only one course</a:t>
            </a:r>
          </a:p>
        </p:txBody>
      </p:sp>
      <p:sp>
        <p:nvSpPr>
          <p:cNvPr id="19458" name="Rectangle 2"/>
          <p:cNvSpPr>
            <a:spLocks noChangeArrowheads="1"/>
          </p:cNvSpPr>
          <p:nvPr/>
        </p:nvSpPr>
        <p:spPr bwMode="auto">
          <a:xfrm>
            <a:off x="571472" y="1928808"/>
            <a:ext cx="4500594" cy="163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828675" algn="l"/>
              </a:tabLst>
            </a:pP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Step 1) Entity Identification</a:t>
            </a:r>
            <a:endPar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828675" algn="l"/>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We have three entities</a:t>
            </a:r>
          </a:p>
          <a:p>
            <a:pPr marL="0" marR="0" lvl="0" indent="0" algn="l" defTabSz="914400" rtl="0" eaLnBrk="0" fontAlgn="base" latinLnBrk="0" hangingPunct="0">
              <a:lnSpc>
                <a:spcPct val="100000"/>
              </a:lnSpc>
              <a:spcBef>
                <a:spcPct val="0"/>
              </a:spcBef>
              <a:spcAft>
                <a:spcPct val="0"/>
              </a:spcAft>
              <a:buClrTx/>
              <a:buSzTx/>
              <a:buFontTx/>
              <a:buChar char="•"/>
              <a:tabLst>
                <a:tab pos="828675" algn="l"/>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Student</a:t>
            </a:r>
          </a:p>
          <a:p>
            <a:pPr marL="0" marR="0" lvl="0" indent="0" algn="l" defTabSz="914400" rtl="0" eaLnBrk="0" fontAlgn="base" latinLnBrk="0" hangingPunct="0">
              <a:lnSpc>
                <a:spcPct val="100000"/>
              </a:lnSpc>
              <a:spcBef>
                <a:spcPct val="0"/>
              </a:spcBef>
              <a:spcAft>
                <a:spcPct val="0"/>
              </a:spcAft>
              <a:buClrTx/>
              <a:buSzTx/>
              <a:buFontTx/>
              <a:buChar char="•"/>
              <a:tabLst>
                <a:tab pos="828675" algn="l"/>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Course</a:t>
            </a:r>
          </a:p>
          <a:p>
            <a:pPr marL="0" marR="0" lvl="0" indent="0" algn="l" defTabSz="914400" rtl="0" eaLnBrk="0" fontAlgn="base" latinLnBrk="0" hangingPunct="0">
              <a:lnSpc>
                <a:spcPct val="100000"/>
              </a:lnSpc>
              <a:spcBef>
                <a:spcPct val="0"/>
              </a:spcBef>
              <a:spcAft>
                <a:spcPct val="0"/>
              </a:spcAft>
              <a:buClrTx/>
              <a:buSzTx/>
              <a:buFontTx/>
              <a:buNone/>
              <a:tabLst>
                <a:tab pos="828675" algn="l"/>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Professor </a:t>
            </a:r>
          </a:p>
        </p:txBody>
      </p:sp>
      <p:pic>
        <p:nvPicPr>
          <p:cNvPr id="5" name="image15.jpeg"/>
          <p:cNvPicPr/>
          <p:nvPr/>
        </p:nvPicPr>
        <p:blipFill>
          <a:blip r:embed="rId2" cstate="print"/>
          <a:stretch>
            <a:fillRect/>
          </a:stretch>
        </p:blipFill>
        <p:spPr>
          <a:xfrm>
            <a:off x="785786" y="3643320"/>
            <a:ext cx="7643866" cy="803678"/>
          </a:xfrm>
          <a:prstGeom prst="rect">
            <a:avLst/>
          </a:prstGeom>
        </p:spPr>
      </p:pic>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714348" y="321454"/>
            <a:ext cx="8143932" cy="17851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828675" algn="l"/>
              </a:tabLst>
            </a:pP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Step 2) Relationship Identification</a:t>
            </a:r>
            <a:endPar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828675" algn="l"/>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We have the following two relationships</a:t>
            </a:r>
          </a:p>
          <a:p>
            <a:pPr marL="0" marR="0" lvl="0" indent="0" algn="l" defTabSz="914400" rtl="0" eaLnBrk="0" fontAlgn="base" latinLnBrk="0" hangingPunct="0">
              <a:lnSpc>
                <a:spcPct val="100000"/>
              </a:lnSpc>
              <a:spcBef>
                <a:spcPct val="0"/>
              </a:spcBef>
              <a:spcAft>
                <a:spcPct val="0"/>
              </a:spcAft>
              <a:buClrTx/>
              <a:buSzTx/>
              <a:buFontTx/>
              <a:buNone/>
              <a:tabLst>
                <a:tab pos="828675" algn="l"/>
              </a:tabLst>
            </a:pPr>
            <a:endParaRPr kumimoji="0" lang="en-US" sz="1000" b="0" i="0" u="none" strike="noStrike" cap="none" normalizeH="0" baseline="0" dirty="0" smtClean="0">
              <a:ln>
                <a:noFill/>
              </a:ln>
              <a:solidFill>
                <a:schemeClr val="tx1"/>
              </a:solidFill>
              <a:effectLst/>
              <a:latin typeface="Cambria" pitchFamily="18" charset="0"/>
              <a:ea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828675" algn="l"/>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The student is </a:t>
            </a: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assigned </a:t>
            </a: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a course</a:t>
            </a:r>
          </a:p>
          <a:p>
            <a:pPr marL="0" marR="0" lvl="0" indent="0" algn="l" defTabSz="914400" rtl="0" eaLnBrk="0" fontAlgn="base" latinLnBrk="0" hangingPunct="0">
              <a:lnSpc>
                <a:spcPct val="100000"/>
              </a:lnSpc>
              <a:spcBef>
                <a:spcPct val="0"/>
              </a:spcBef>
              <a:spcAft>
                <a:spcPct val="0"/>
              </a:spcAft>
              <a:buClrTx/>
              <a:buSzTx/>
              <a:buFontTx/>
              <a:buChar char="•"/>
              <a:tabLst>
                <a:tab pos="828675" algn="l"/>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Professor </a:t>
            </a: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delivers </a:t>
            </a: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a course</a:t>
            </a:r>
          </a:p>
          <a:p>
            <a:pPr marL="0" marR="0" lvl="0" indent="0" algn="l" defTabSz="914400" rtl="0" eaLnBrk="0" fontAlgn="base" latinLnBrk="0" hangingPunct="0">
              <a:lnSpc>
                <a:spcPct val="100000"/>
              </a:lnSpc>
              <a:spcBef>
                <a:spcPct val="0"/>
              </a:spcBef>
              <a:spcAft>
                <a:spcPct val="0"/>
              </a:spcAft>
              <a:buClrTx/>
              <a:buSzTx/>
              <a:buFontTx/>
              <a:buNone/>
              <a:tabLst>
                <a:tab pos="828675" algn="l"/>
              </a:tabLst>
            </a:pPr>
            <a:endPar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endParaRPr>
          </a:p>
        </p:txBody>
      </p:sp>
      <p:pic>
        <p:nvPicPr>
          <p:cNvPr id="18433" name="image16.jpeg"/>
          <p:cNvPicPr>
            <a:picLocks noChangeAspect="1" noChangeArrowheads="1"/>
          </p:cNvPicPr>
          <p:nvPr/>
        </p:nvPicPr>
        <p:blipFill>
          <a:blip r:embed="rId2"/>
          <a:srcRect/>
          <a:stretch>
            <a:fillRect/>
          </a:stretch>
        </p:blipFill>
        <p:spPr bwMode="auto">
          <a:xfrm>
            <a:off x="428599" y="2500312"/>
            <a:ext cx="7984143" cy="1660934"/>
          </a:xfrm>
          <a:prstGeom prst="rect">
            <a:avLst/>
          </a:prstGeom>
          <a:noFill/>
        </p:spPr>
      </p:pic>
      <p:sp>
        <p:nvSpPr>
          <p:cNvPr id="18435" name="Rectangle 3"/>
          <p:cNvSpPr>
            <a:spLocks noChangeArrowheads="1"/>
          </p:cNvSpPr>
          <p:nvPr/>
        </p:nvSpPr>
        <p:spPr bwMode="auto">
          <a:xfrm>
            <a:off x="2" y="344092"/>
            <a:ext cx="184731"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
            </a:r>
            <a:br>
              <a:rPr kumimoji="0" lang="en-US" sz="1200" b="0" i="0" u="none" strike="noStrike" cap="none" normalizeH="0" baseline="0" smtClean="0">
                <a:ln>
                  <a:noFill/>
                </a:ln>
                <a:solidFill>
                  <a:schemeClr val="tx1"/>
                </a:solidFill>
                <a:effectLst/>
                <a:latin typeface="Arial" pitchFamily="34" charset="0"/>
                <a:ea typeface="Times New Roman" pitchFamily="18" charset="0"/>
                <a:cs typeface="Arial" pitchFamily="34" charset="0"/>
              </a:rPr>
            </a:br>
            <a:endParaRPr kumimoji="0" lang="en-US" sz="6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285720" y="214296"/>
            <a:ext cx="8715436" cy="200054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828675" algn="l"/>
              </a:tabLst>
            </a:pPr>
            <a:r>
              <a:rPr kumimoji="0" lang="en-US" sz="24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Step 3) Cardinality Identification</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828675" algn="l"/>
              </a:tabLst>
            </a:pPr>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For them problem statement we know that,</a:t>
            </a:r>
          </a:p>
          <a:p>
            <a:pPr marL="0" marR="0" lvl="0" indent="0" algn="l" defTabSz="914400" rtl="0" eaLnBrk="0" fontAlgn="base" latinLnBrk="0" hangingPunct="0">
              <a:lnSpc>
                <a:spcPct val="100000"/>
              </a:lnSpc>
              <a:spcBef>
                <a:spcPct val="0"/>
              </a:spcBef>
              <a:spcAft>
                <a:spcPct val="0"/>
              </a:spcAft>
              <a:buClrTx/>
              <a:buSzTx/>
              <a:buFontTx/>
              <a:buNone/>
              <a:tabLst>
                <a:tab pos="828675" algn="l"/>
              </a:tabLst>
            </a:pP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828675" algn="l"/>
              </a:tabLst>
            </a:pPr>
            <a:r>
              <a:rPr kumimoji="0" lang="en-US" sz="3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 student can be assigned </a:t>
            </a:r>
            <a:r>
              <a:rPr kumimoji="0" lang="en-US" sz="3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multiple </a:t>
            </a:r>
            <a:r>
              <a:rPr kumimoji="0" lang="en-US" sz="3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courses</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828675" algn="l"/>
              </a:tabLst>
            </a:pPr>
            <a:r>
              <a:rPr kumimoji="0" lang="en-US" sz="3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 Professor can deliver only </a:t>
            </a:r>
            <a:r>
              <a:rPr kumimoji="0" lang="en-US" sz="3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one </a:t>
            </a:r>
            <a:r>
              <a:rPr kumimoji="0" lang="en-US" sz="3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course</a:t>
            </a:r>
            <a:endParaRPr kumimoji="0" lang="en-US" sz="4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image17.jpeg"/>
          <p:cNvPicPr/>
          <p:nvPr/>
        </p:nvPicPr>
        <p:blipFill>
          <a:blip r:embed="rId2" cstate="print"/>
          <a:stretch>
            <a:fillRect/>
          </a:stretch>
        </p:blipFill>
        <p:spPr>
          <a:xfrm>
            <a:off x="1357290" y="2464595"/>
            <a:ext cx="6715172" cy="1701413"/>
          </a:xfrm>
          <a:prstGeom prst="rect">
            <a:avLst/>
          </a:prstGeom>
        </p:spPr>
      </p:pic>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3" y="1"/>
            <a:ext cx="5784469"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Step 4) Identify Attributes</a:t>
            </a:r>
            <a:endParaRPr kumimoji="0" lang="en-US" sz="54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nvGraphicFramePr>
        <p:xfrm>
          <a:off x="500037" y="910817"/>
          <a:ext cx="8286809" cy="2325425"/>
        </p:xfrm>
        <a:graphic>
          <a:graphicData uri="http://schemas.openxmlformats.org/drawingml/2006/table">
            <a:tbl>
              <a:tblPr firstRow="1" bandRow="1">
                <a:tableStyleId>{5C22544A-7EE6-4342-B048-85BDC9FD1C3A}</a:tableStyleId>
              </a:tblPr>
              <a:tblGrid>
                <a:gridCol w="1285884"/>
                <a:gridCol w="1500198"/>
                <a:gridCol w="1285884"/>
                <a:gridCol w="1350263"/>
                <a:gridCol w="1432290"/>
                <a:gridCol w="1432290"/>
              </a:tblGrid>
              <a:tr h="840924">
                <a:tc>
                  <a:txBody>
                    <a:bodyPr/>
                    <a:lstStyle/>
                    <a:p>
                      <a:r>
                        <a:rPr lang="en-US" sz="1400" dirty="0" smtClean="0"/>
                        <a:t>Entity </a:t>
                      </a:r>
                      <a:endParaRPr lang="en-US" sz="1400" dirty="0"/>
                    </a:p>
                  </a:txBody>
                  <a:tcPr marT="34290" marB="34290"/>
                </a:tc>
                <a:tc>
                  <a:txBody>
                    <a:bodyPr/>
                    <a:lstStyle/>
                    <a:p>
                      <a:r>
                        <a:rPr lang="en-US" sz="1400" dirty="0" smtClean="0"/>
                        <a:t>Primary key</a:t>
                      </a:r>
                      <a:endParaRPr lang="en-US" sz="1400" dirty="0"/>
                    </a:p>
                  </a:txBody>
                  <a:tcPr marT="34290" marB="34290"/>
                </a:tc>
                <a:tc>
                  <a:txBody>
                    <a:bodyPr/>
                    <a:lstStyle/>
                    <a:p>
                      <a:r>
                        <a:rPr lang="en-US" sz="1400" dirty="0" smtClean="0"/>
                        <a:t>attribute2</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attribute3</a:t>
                      </a:r>
                    </a:p>
                    <a:p>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attribute4</a:t>
                      </a:r>
                    </a:p>
                    <a:p>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attribute5</a:t>
                      </a:r>
                    </a:p>
                    <a:p>
                      <a:endParaRPr lang="en-US" sz="1400" dirty="0"/>
                    </a:p>
                  </a:txBody>
                  <a:tcPr marT="34290" marB="34290"/>
                </a:tc>
              </a:tr>
              <a:tr h="487202">
                <a:tc>
                  <a:txBody>
                    <a:bodyPr/>
                    <a:lstStyle/>
                    <a:p>
                      <a:r>
                        <a:rPr lang="en-US" sz="1400" dirty="0" smtClean="0"/>
                        <a:t>Student</a:t>
                      </a:r>
                      <a:endParaRPr lang="en-US" sz="1400" dirty="0"/>
                    </a:p>
                  </a:txBody>
                  <a:tcPr marT="34290" marB="34290"/>
                </a:tc>
                <a:tc>
                  <a:txBody>
                    <a:bodyPr/>
                    <a:lstStyle/>
                    <a:p>
                      <a:r>
                        <a:rPr lang="en-US" sz="1400" dirty="0" err="1" smtClean="0"/>
                        <a:t>sid</a:t>
                      </a:r>
                      <a:endParaRPr lang="en-US" sz="1400" dirty="0"/>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dob</a:t>
                      </a:r>
                      <a:endParaRPr lang="en-US" sz="1400" dirty="0"/>
                    </a:p>
                  </a:txBody>
                  <a:tcPr marT="34290" marB="34290"/>
                </a:tc>
                <a:tc>
                  <a:txBody>
                    <a:bodyPr/>
                    <a:lstStyle/>
                    <a:p>
                      <a:r>
                        <a:rPr lang="en-US" sz="1400" dirty="0" smtClean="0"/>
                        <a:t>age</a:t>
                      </a:r>
                      <a:endParaRPr lang="en-US" sz="1400" dirty="0"/>
                    </a:p>
                  </a:txBody>
                  <a:tcPr marT="34290" marB="34290"/>
                </a:tc>
                <a:tc>
                  <a:txBody>
                    <a:bodyPr/>
                    <a:lstStyle/>
                    <a:p>
                      <a:r>
                        <a:rPr lang="en-US" sz="1400" dirty="0" err="1" smtClean="0"/>
                        <a:t>phno</a:t>
                      </a:r>
                      <a:endParaRPr lang="en-US" sz="1400" dirty="0"/>
                    </a:p>
                  </a:txBody>
                  <a:tcPr marT="34290" marB="34290"/>
                </a:tc>
              </a:tr>
              <a:tr h="487202">
                <a:tc>
                  <a:txBody>
                    <a:bodyPr/>
                    <a:lstStyle/>
                    <a:p>
                      <a:r>
                        <a:rPr lang="en-US" sz="1400" dirty="0" smtClean="0"/>
                        <a:t>course</a:t>
                      </a:r>
                      <a:endParaRPr lang="en-US" sz="1400" dirty="0"/>
                    </a:p>
                  </a:txBody>
                  <a:tcPr marT="34290" marB="34290"/>
                </a:tc>
                <a:tc>
                  <a:txBody>
                    <a:bodyPr/>
                    <a:lstStyle/>
                    <a:p>
                      <a:r>
                        <a:rPr lang="en-US" sz="1400" dirty="0" smtClean="0"/>
                        <a:t>cid</a:t>
                      </a:r>
                      <a:endParaRPr lang="en-US" sz="1400" dirty="0"/>
                    </a:p>
                  </a:txBody>
                  <a:tcPr marT="34290" marB="34290"/>
                </a:tc>
                <a:tc>
                  <a:txBody>
                    <a:bodyPr/>
                    <a:lstStyle/>
                    <a:p>
                      <a:r>
                        <a:rPr lang="en-US" sz="1400" dirty="0" err="1" smtClean="0"/>
                        <a:t>cname</a:t>
                      </a:r>
                      <a:endParaRPr lang="en-US" sz="1400" dirty="0"/>
                    </a:p>
                  </a:txBody>
                  <a:tcPr marT="34290" marB="34290"/>
                </a:tc>
                <a:tc>
                  <a:txBody>
                    <a:bodyPr/>
                    <a:lstStyle/>
                    <a:p>
                      <a:r>
                        <a:rPr lang="en-US" sz="1400" dirty="0" smtClean="0"/>
                        <a:t>fee</a:t>
                      </a:r>
                      <a:endParaRPr lang="en-US" sz="1400" dirty="0"/>
                    </a:p>
                  </a:txBody>
                  <a:tcPr marT="34290" marB="34290"/>
                </a:tc>
                <a:tc>
                  <a:txBody>
                    <a:bodyPr/>
                    <a:lstStyle/>
                    <a:p>
                      <a:r>
                        <a:rPr lang="en-US" sz="1400" dirty="0" smtClean="0"/>
                        <a:t>duration</a:t>
                      </a:r>
                      <a:endParaRPr lang="en-US" sz="1400" dirty="0"/>
                    </a:p>
                  </a:txBody>
                  <a:tcPr marT="34290" marB="34290"/>
                </a:tc>
                <a:tc>
                  <a:txBody>
                    <a:bodyPr/>
                    <a:lstStyle/>
                    <a:p>
                      <a:endParaRPr lang="en-US" sz="1400" dirty="0"/>
                    </a:p>
                  </a:txBody>
                  <a:tcPr marT="34290" marB="34290"/>
                </a:tc>
              </a:tr>
              <a:tr h="510097">
                <a:tc>
                  <a:txBody>
                    <a:bodyPr/>
                    <a:lstStyle/>
                    <a:p>
                      <a:r>
                        <a:rPr lang="en-US" sz="1400" dirty="0" smtClean="0"/>
                        <a:t>professor</a:t>
                      </a:r>
                      <a:endParaRPr lang="en-US" sz="1400" dirty="0"/>
                    </a:p>
                  </a:txBody>
                  <a:tcPr marT="34290" marB="34290"/>
                </a:tc>
                <a:tc>
                  <a:txBody>
                    <a:bodyPr/>
                    <a:lstStyle/>
                    <a:p>
                      <a:r>
                        <a:rPr lang="en-US" sz="1400" dirty="0" err="1" smtClean="0"/>
                        <a:t>pid</a:t>
                      </a:r>
                      <a:endParaRPr lang="en-US" sz="1400" dirty="0"/>
                    </a:p>
                  </a:txBody>
                  <a:tcPr marT="34290" marB="34290"/>
                </a:tc>
                <a:tc>
                  <a:txBody>
                    <a:bodyPr/>
                    <a:lstStyle/>
                    <a:p>
                      <a:r>
                        <a:rPr lang="en-US" sz="1400" dirty="0" err="1" smtClean="0"/>
                        <a:t>pname</a:t>
                      </a:r>
                      <a:endParaRPr lang="en-US" sz="1400" dirty="0"/>
                    </a:p>
                  </a:txBody>
                  <a:tcPr marT="34290" marB="34290"/>
                </a:tc>
                <a:tc>
                  <a:txBody>
                    <a:bodyPr/>
                    <a:lstStyle/>
                    <a:p>
                      <a:r>
                        <a:rPr lang="en-US" sz="1400" dirty="0" err="1" smtClean="0"/>
                        <a:t>doj</a:t>
                      </a:r>
                      <a:endParaRPr lang="en-US" sz="1400" dirty="0"/>
                    </a:p>
                  </a:txBody>
                  <a:tcPr marT="34290" marB="34290"/>
                </a:tc>
                <a:tc>
                  <a:txBody>
                    <a:bodyPr/>
                    <a:lstStyle/>
                    <a:p>
                      <a:r>
                        <a:rPr lang="en-US" sz="1400" dirty="0" smtClean="0"/>
                        <a:t>address</a:t>
                      </a:r>
                      <a:endParaRPr lang="en-US" sz="1400" dirty="0"/>
                    </a:p>
                  </a:txBody>
                  <a:tcPr marT="34290" marB="34290"/>
                </a:tc>
                <a:tc>
                  <a:txBody>
                    <a:bodyPr/>
                    <a:lstStyle/>
                    <a:p>
                      <a:r>
                        <a:rPr lang="en-US" sz="1400" dirty="0" smtClean="0"/>
                        <a:t>exp</a:t>
                      </a:r>
                      <a:endParaRPr lang="en-US" sz="1400" dirty="0"/>
                    </a:p>
                  </a:txBody>
                  <a:tcPr marT="34290" marB="34290"/>
                </a:tc>
              </a:tr>
            </a:tbl>
          </a:graphicData>
        </a:graphic>
      </p:graphicFrame>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214297"/>
            <a:ext cx="8715436" cy="3046988"/>
          </a:xfrm>
          <a:prstGeom prst="rect">
            <a:avLst/>
          </a:prstGeom>
        </p:spPr>
        <p:txBody>
          <a:bodyPr wrap="square">
            <a:spAutoFit/>
          </a:bodyPr>
          <a:lstStyle/>
          <a:p>
            <a:r>
              <a:rPr lang="en-US" sz="2400" dirty="0" smtClean="0"/>
              <a:t>Problem Draw an ER model of the Banking database application considering the following constraints −</a:t>
            </a:r>
          </a:p>
          <a:p>
            <a:endParaRPr lang="en-US" sz="2400" dirty="0" smtClean="0"/>
          </a:p>
          <a:p>
            <a:pPr>
              <a:buFont typeface="Wingdings"/>
              <a:buChar char="Ø"/>
            </a:pPr>
            <a:r>
              <a:rPr lang="en-US" sz="2400" dirty="0" smtClean="0"/>
              <a:t>A bank has many entities.</a:t>
            </a:r>
          </a:p>
          <a:p>
            <a:pPr>
              <a:buFont typeface="Wingdings"/>
              <a:buChar char="Ø"/>
            </a:pPr>
            <a:r>
              <a:rPr lang="en-US" sz="2400" dirty="0" smtClean="0"/>
              <a:t> Each customer has multiple accounts.</a:t>
            </a:r>
          </a:p>
          <a:p>
            <a:pPr>
              <a:buFont typeface="Wingdings"/>
              <a:buChar char="Ø"/>
            </a:pPr>
            <a:r>
              <a:rPr lang="en-US" sz="2400" dirty="0" smtClean="0"/>
              <a:t> Multiple customers belong to a single branch.</a:t>
            </a:r>
          </a:p>
          <a:p>
            <a:pPr>
              <a:buFont typeface="Wingdings"/>
              <a:buChar char="Ø"/>
            </a:pPr>
            <a:r>
              <a:rPr lang="en-US" sz="2400" dirty="0" smtClean="0"/>
              <a:t> Single customer can borrow multiple loans. </a:t>
            </a:r>
          </a:p>
          <a:p>
            <a:pPr>
              <a:buFont typeface="Wingdings"/>
              <a:buChar char="Ø"/>
            </a:pPr>
            <a:r>
              <a:rPr lang="en-US" sz="2400" dirty="0" smtClean="0"/>
              <a:t> A branch has multiple employees</a:t>
            </a:r>
            <a:r>
              <a:rPr lang="en-US" sz="1600" dirty="0" smtClean="0"/>
              <a:t>.</a:t>
            </a:r>
            <a:endParaRPr lang="en-US" sz="1600" dirty="0"/>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60719"/>
            <a:ext cx="8215370" cy="646331"/>
          </a:xfrm>
          <a:prstGeom prst="rect">
            <a:avLst/>
          </a:prstGeom>
        </p:spPr>
        <p:txBody>
          <a:bodyPr wrap="square">
            <a:spAutoFit/>
          </a:bodyPr>
          <a:lstStyle/>
          <a:p>
            <a:r>
              <a:rPr lang="en-US" dirty="0" smtClean="0"/>
              <a:t>Step 1 − Identify the entities </a:t>
            </a:r>
          </a:p>
          <a:p>
            <a:endParaRPr lang="en-US" dirty="0"/>
          </a:p>
        </p:txBody>
      </p:sp>
      <p:sp>
        <p:nvSpPr>
          <p:cNvPr id="3" name="Rectangle 2"/>
          <p:cNvSpPr/>
          <p:nvPr/>
        </p:nvSpPr>
        <p:spPr>
          <a:xfrm>
            <a:off x="500034" y="803660"/>
            <a:ext cx="6357966" cy="2031325"/>
          </a:xfrm>
          <a:prstGeom prst="rect">
            <a:avLst/>
          </a:prstGeom>
        </p:spPr>
        <p:txBody>
          <a:bodyPr wrap="square">
            <a:spAutoFit/>
          </a:bodyPr>
          <a:lstStyle/>
          <a:p>
            <a:r>
              <a:rPr lang="en-US" dirty="0" smtClean="0"/>
              <a:t>As per the given constraints the entity sets are as follows −</a:t>
            </a:r>
          </a:p>
          <a:p>
            <a:r>
              <a:rPr lang="en-US" dirty="0" smtClean="0"/>
              <a:t>Customer </a:t>
            </a:r>
          </a:p>
          <a:p>
            <a:r>
              <a:rPr lang="en-US" dirty="0" smtClean="0"/>
              <a:t>Account </a:t>
            </a:r>
          </a:p>
          <a:p>
            <a:r>
              <a:rPr lang="en-US" dirty="0" smtClean="0"/>
              <a:t>Branch</a:t>
            </a:r>
          </a:p>
          <a:p>
            <a:r>
              <a:rPr lang="en-US" dirty="0" smtClean="0"/>
              <a:t> Loan</a:t>
            </a:r>
          </a:p>
          <a:p>
            <a:r>
              <a:rPr lang="en-US" dirty="0" smtClean="0"/>
              <a:t>Employee</a:t>
            </a:r>
            <a:endParaRPr lang="en-US" dirty="0"/>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56228"/>
            <a:ext cx="8786874" cy="1508105"/>
          </a:xfrm>
          <a:prstGeom prst="rect">
            <a:avLst/>
          </a:prstGeom>
        </p:spPr>
        <p:txBody>
          <a:bodyPr wrap="square">
            <a:spAutoFit/>
          </a:bodyPr>
          <a:lstStyle/>
          <a:p>
            <a:r>
              <a:rPr lang="en-US" sz="2800" dirty="0" smtClean="0"/>
              <a:t>Step 2  3 </a:t>
            </a:r>
          </a:p>
          <a:p>
            <a:r>
              <a:rPr lang="en-US" sz="2800" dirty="0" smtClean="0"/>
              <a:t> </a:t>
            </a:r>
            <a:r>
              <a:rPr lang="en-US" sz="3200" dirty="0" smtClean="0"/>
              <a:t>Identify the relationships and type b/w entity sets</a:t>
            </a:r>
            <a:endParaRPr lang="en-US" sz="2800" dirty="0"/>
          </a:p>
        </p:txBody>
      </p:sp>
      <p:sp>
        <p:nvSpPr>
          <p:cNvPr id="3" name="Rectangle 2"/>
          <p:cNvSpPr/>
          <p:nvPr/>
        </p:nvSpPr>
        <p:spPr>
          <a:xfrm>
            <a:off x="500034" y="1178708"/>
            <a:ext cx="8215370" cy="1938992"/>
          </a:xfrm>
          <a:prstGeom prst="rect">
            <a:avLst/>
          </a:prstGeom>
        </p:spPr>
        <p:txBody>
          <a:bodyPr wrap="square">
            <a:spAutoFit/>
          </a:bodyPr>
          <a:lstStyle/>
          <a:p>
            <a:endParaRPr lang="en-US" sz="2400" dirty="0" smtClean="0"/>
          </a:p>
          <a:p>
            <a:endParaRPr lang="en-US" sz="2400" dirty="0" smtClean="0"/>
          </a:p>
          <a:p>
            <a:r>
              <a:rPr lang="en-US" sz="2400" dirty="0" smtClean="0"/>
              <a:t>One customer is enrolled by multiple accounts and one account for multiple customers. Hence, the relationship is many to many. </a:t>
            </a:r>
            <a:endParaRPr lang="en-US" sz="2400" dirty="0"/>
          </a:p>
        </p:txBody>
      </p:sp>
      <p:pic>
        <p:nvPicPr>
          <p:cNvPr id="1026" name="Picture 2"/>
          <p:cNvPicPr>
            <a:picLocks noChangeAspect="1" noChangeArrowheads="1"/>
          </p:cNvPicPr>
          <p:nvPr/>
        </p:nvPicPr>
        <p:blipFill>
          <a:blip r:embed="rId2"/>
          <a:srcRect/>
          <a:stretch>
            <a:fillRect/>
          </a:stretch>
        </p:blipFill>
        <p:spPr bwMode="auto">
          <a:xfrm>
            <a:off x="928662" y="2839642"/>
            <a:ext cx="7929618" cy="1339463"/>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160719"/>
            <a:ext cx="8786874" cy="1015663"/>
          </a:xfrm>
          <a:prstGeom prst="rect">
            <a:avLst/>
          </a:prstGeom>
        </p:spPr>
        <p:txBody>
          <a:bodyPr wrap="square">
            <a:spAutoFit/>
          </a:bodyPr>
          <a:lstStyle/>
          <a:p>
            <a:r>
              <a:rPr lang="en-US" sz="2000" dirty="0" smtClean="0"/>
              <a:t>Many customers belong to one branch but one branch belongs to many customers. Hence, the relationship between customer and branch is many to one.</a:t>
            </a:r>
            <a:endParaRPr lang="en-US" sz="2000" dirty="0"/>
          </a:p>
        </p:txBody>
      </p:sp>
      <p:pic>
        <p:nvPicPr>
          <p:cNvPr id="2050" name="Picture 2"/>
          <p:cNvPicPr>
            <a:picLocks noChangeAspect="1" noChangeArrowheads="1"/>
          </p:cNvPicPr>
          <p:nvPr/>
        </p:nvPicPr>
        <p:blipFill>
          <a:blip r:embed="rId2"/>
          <a:srcRect/>
          <a:stretch>
            <a:fillRect/>
          </a:stretch>
        </p:blipFill>
        <p:spPr bwMode="auto">
          <a:xfrm>
            <a:off x="857224" y="1285867"/>
            <a:ext cx="6572296" cy="82969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267876"/>
            <a:ext cx="8643998" cy="1015663"/>
          </a:xfrm>
          <a:prstGeom prst="rect">
            <a:avLst/>
          </a:prstGeom>
        </p:spPr>
        <p:txBody>
          <a:bodyPr wrap="square">
            <a:spAutoFit/>
          </a:bodyPr>
          <a:lstStyle/>
          <a:p>
            <a:r>
              <a:rPr lang="en-US" sz="2000" dirty="0" smtClean="0"/>
              <a:t>One customer can borrow multiple loans in the same way multiple loans can borrow a single customer, hence the relationship between customer and loan is one to many.</a:t>
            </a:r>
            <a:endParaRPr lang="en-US" sz="2000" dirty="0"/>
          </a:p>
        </p:txBody>
      </p:sp>
      <p:pic>
        <p:nvPicPr>
          <p:cNvPr id="3074" name="Picture 2"/>
          <p:cNvPicPr>
            <a:picLocks noChangeAspect="1" noChangeArrowheads="1"/>
          </p:cNvPicPr>
          <p:nvPr/>
        </p:nvPicPr>
        <p:blipFill>
          <a:blip r:embed="rId2"/>
          <a:srcRect/>
          <a:stretch>
            <a:fillRect/>
          </a:stretch>
        </p:blipFill>
        <p:spPr bwMode="auto">
          <a:xfrm>
            <a:off x="285720" y="1714495"/>
            <a:ext cx="8291336" cy="129183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321455"/>
            <a:ext cx="8429684" cy="830997"/>
          </a:xfrm>
          <a:prstGeom prst="rect">
            <a:avLst/>
          </a:prstGeom>
        </p:spPr>
        <p:txBody>
          <a:bodyPr wrap="square">
            <a:spAutoFit/>
          </a:bodyPr>
          <a:lstStyle/>
          <a:p>
            <a:r>
              <a:rPr lang="en-US" sz="2400" dirty="0" smtClean="0"/>
              <a:t>One branch has many employees and in the same way the number of employees works in a single branch.</a:t>
            </a:r>
            <a:endParaRPr lang="en-US" sz="2400" dirty="0"/>
          </a:p>
        </p:txBody>
      </p:sp>
      <p:pic>
        <p:nvPicPr>
          <p:cNvPr id="4098" name="Picture 2"/>
          <p:cNvPicPr>
            <a:picLocks noChangeAspect="1" noChangeArrowheads="1"/>
          </p:cNvPicPr>
          <p:nvPr/>
        </p:nvPicPr>
        <p:blipFill>
          <a:blip r:embed="rId2"/>
          <a:srcRect/>
          <a:stretch>
            <a:fillRect/>
          </a:stretch>
        </p:blipFill>
        <p:spPr bwMode="auto">
          <a:xfrm>
            <a:off x="225165" y="1553759"/>
            <a:ext cx="7847299" cy="160735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1538" y="589347"/>
            <a:ext cx="6929486" cy="1200329"/>
          </a:xfrm>
          <a:prstGeom prst="rect">
            <a:avLst/>
          </a:prstGeom>
          <a:noFill/>
        </p:spPr>
        <p:txBody>
          <a:bodyPr wrap="square" rtlCol="0">
            <a:spAutoFit/>
          </a:bodyPr>
          <a:lstStyle/>
          <a:p>
            <a:r>
              <a:rPr lang="en-US" sz="3600" dirty="0" smtClean="0"/>
              <a:t>Step-4</a:t>
            </a:r>
          </a:p>
          <a:p>
            <a:r>
              <a:rPr lang="en-US" sz="3600" dirty="0" smtClean="0"/>
              <a:t>Attributes identification</a:t>
            </a:r>
            <a:endParaRPr lang="en-US" sz="3600" dirty="0"/>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357158" y="328978"/>
            <a:ext cx="8143932" cy="4333494"/>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71406" y="71422"/>
            <a:ext cx="9072594" cy="403187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Arial" pitchFamily="34" charset="0"/>
                <a:ea typeface="Calibri" pitchFamily="34" charset="0"/>
                <a:cs typeface="Arial" pitchFamily="34" charset="0"/>
              </a:rPr>
              <a:t>Design a database for an airline. The database must keep track of customers and their reservations, flights and their status, seat assignments on individual flights, and the schedule and routing of future flights. Your design should include an E-R diagram, a set of relational schemas, and a list of constraints, including primary-key and foreign-key constraints.</a:t>
            </a:r>
            <a:endParaRPr kumimoji="0" lang="en-US" sz="4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267876"/>
            <a:ext cx="8358246" cy="3693319"/>
          </a:xfrm>
          <a:prstGeom prst="rect">
            <a:avLst/>
          </a:prstGeom>
          <a:noFill/>
        </p:spPr>
        <p:txBody>
          <a:bodyPr wrap="square" rtlCol="0">
            <a:spAutoFit/>
          </a:bodyPr>
          <a:lstStyle/>
          <a:p>
            <a:pPr marL="742950" indent="-742950">
              <a:buAutoNum type="arabicPeriod"/>
            </a:pPr>
            <a:r>
              <a:rPr lang="en-US" sz="4400" dirty="0" smtClean="0"/>
              <a:t>CUSTOMERS</a:t>
            </a:r>
          </a:p>
          <a:p>
            <a:r>
              <a:rPr lang="en-US" sz="4400" dirty="0" smtClean="0"/>
              <a:t>2. RESERVATION</a:t>
            </a:r>
          </a:p>
          <a:p>
            <a:r>
              <a:rPr lang="en-US" sz="4400" dirty="0" smtClean="0"/>
              <a:t>3. SEAT ARRANGEMENT</a:t>
            </a:r>
          </a:p>
          <a:p>
            <a:r>
              <a:rPr lang="en-US" sz="4400" dirty="0" smtClean="0"/>
              <a:t>4. FLIGHTS</a:t>
            </a:r>
          </a:p>
          <a:p>
            <a:r>
              <a:rPr lang="en-US" sz="4400" dirty="0" smtClean="0"/>
              <a:t>5. SCHEDULE</a:t>
            </a:r>
          </a:p>
          <a:p>
            <a:endParaRPr lang="en-US" sz="1400" dirty="0"/>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321453"/>
            <a:ext cx="8858312" cy="2062103"/>
          </a:xfrm>
          <a:prstGeom prst="rect">
            <a:avLst/>
          </a:prstGeom>
          <a:noFill/>
        </p:spPr>
        <p:txBody>
          <a:bodyPr wrap="square" rtlCol="0">
            <a:spAutoFit/>
          </a:bodyPr>
          <a:lstStyle/>
          <a:p>
            <a:r>
              <a:rPr lang="en-US" sz="3200" dirty="0" smtClean="0"/>
              <a:t>1. CUSTOMER </a:t>
            </a:r>
            <a:r>
              <a:rPr lang="en-US" sz="3200" dirty="0" smtClean="0">
                <a:solidFill>
                  <a:srgbClr val="FF0000"/>
                </a:solidFill>
              </a:rPr>
              <a:t>RESERVES</a:t>
            </a:r>
            <a:r>
              <a:rPr lang="en-US" sz="3200" dirty="0" smtClean="0"/>
              <a:t> RESERVATION 1-M</a:t>
            </a:r>
          </a:p>
          <a:p>
            <a:r>
              <a:rPr lang="en-US" sz="3200" dirty="0" smtClean="0"/>
              <a:t>2. RESERVATION </a:t>
            </a:r>
            <a:r>
              <a:rPr lang="en-US" sz="3200" dirty="0" smtClean="0">
                <a:solidFill>
                  <a:srgbClr val="FF0000"/>
                </a:solidFill>
              </a:rPr>
              <a:t>HAVING</a:t>
            </a:r>
            <a:r>
              <a:rPr lang="en-US" sz="3200" dirty="0" smtClean="0"/>
              <a:t> FLIGHTS  M-1</a:t>
            </a:r>
          </a:p>
          <a:p>
            <a:r>
              <a:rPr lang="en-US" sz="3200" dirty="0" smtClean="0"/>
              <a:t>3.FLIGHTS </a:t>
            </a:r>
            <a:r>
              <a:rPr lang="en-US" sz="3200" dirty="0" smtClean="0">
                <a:solidFill>
                  <a:srgbClr val="FF0000"/>
                </a:solidFill>
              </a:rPr>
              <a:t>CONTAINS</a:t>
            </a:r>
            <a:r>
              <a:rPr lang="en-US" sz="3200" dirty="0" smtClean="0"/>
              <a:t> SEATS 1-M</a:t>
            </a:r>
          </a:p>
          <a:p>
            <a:r>
              <a:rPr lang="en-US" sz="3200" dirty="0" smtClean="0"/>
              <a:t>4. FLIGHTS </a:t>
            </a:r>
            <a:r>
              <a:rPr lang="en-US" sz="3200" dirty="0" smtClean="0">
                <a:solidFill>
                  <a:srgbClr val="FF0000"/>
                </a:solidFill>
              </a:rPr>
              <a:t>HAVE</a:t>
            </a:r>
            <a:r>
              <a:rPr lang="en-US" sz="3200" dirty="0" smtClean="0"/>
              <a:t> SCHEDULE 1-1</a:t>
            </a:r>
            <a:endParaRPr lang="en-US" sz="3200" dirty="0"/>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42844" y="142858"/>
            <a:ext cx="71438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0" i="0" u="none" strike="noStrike" cap="none" normalizeH="0" baseline="0" dirty="0" smtClean="0">
                <a:ln>
                  <a:noFill/>
                </a:ln>
                <a:solidFill>
                  <a:schemeClr val="tx1"/>
                </a:solidFill>
                <a:effectLst/>
                <a:latin typeface="Arial" charset="0"/>
                <a:cs typeface="Arial" charset="0"/>
              </a:rPr>
              <a:t>CUSTOMERS : CID (PK),CNAME,ADD</a:t>
            </a:r>
          </a:p>
        </p:txBody>
      </p:sp>
      <p:sp>
        <p:nvSpPr>
          <p:cNvPr id="8" name="Rectangle 7"/>
          <p:cNvSpPr/>
          <p:nvPr/>
        </p:nvSpPr>
        <p:spPr>
          <a:xfrm>
            <a:off x="142844" y="642924"/>
            <a:ext cx="8715436" cy="369332"/>
          </a:xfrm>
          <a:prstGeom prst="rect">
            <a:avLst/>
          </a:prstGeom>
        </p:spPr>
        <p:txBody>
          <a:bodyPr wrap="square">
            <a:spAutoFit/>
          </a:bodyPr>
          <a:lstStyle/>
          <a:p>
            <a:r>
              <a:rPr lang="en-US" b="1" dirty="0" smtClean="0"/>
              <a:t>2. RESERVATION : </a:t>
            </a:r>
            <a:r>
              <a:rPr lang="en-US" dirty="0" smtClean="0"/>
              <a:t>RID (PK) ,CID (FK), FID (FK), DOR (Date of Reservation)</a:t>
            </a:r>
            <a:endParaRPr lang="en-US" dirty="0"/>
          </a:p>
        </p:txBody>
      </p:sp>
      <p:sp>
        <p:nvSpPr>
          <p:cNvPr id="3075" name="Rectangle 3"/>
          <p:cNvSpPr>
            <a:spLocks noChangeArrowheads="1"/>
          </p:cNvSpPr>
          <p:nvPr/>
        </p:nvSpPr>
        <p:spPr bwMode="auto">
          <a:xfrm>
            <a:off x="71406" y="1142990"/>
            <a:ext cx="9144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lang="en-US" dirty="0" smtClean="0">
                <a:latin typeface="Arial" charset="0"/>
                <a:cs typeface="Arial" charset="0"/>
              </a:rPr>
              <a:t>3. Seats : </a:t>
            </a:r>
            <a:r>
              <a:rPr kumimoji="0" lang="en-US" sz="1800" b="0" i="0" u="none" strike="noStrike" cap="none" normalizeH="0" baseline="0" dirty="0" err="1" smtClean="0">
                <a:ln>
                  <a:noFill/>
                </a:ln>
                <a:solidFill>
                  <a:schemeClr val="tx1"/>
                </a:solidFill>
                <a:effectLst/>
                <a:latin typeface="Arial" charset="0"/>
                <a:cs typeface="Arial" charset="0"/>
              </a:rPr>
              <a:t>SeatNo</a:t>
            </a:r>
            <a:r>
              <a:rPr kumimoji="0" lang="en-US" sz="1800" b="0" i="0" u="none" strike="noStrike" cap="none" normalizeH="0" baseline="0" dirty="0" smtClean="0">
                <a:ln>
                  <a:noFill/>
                </a:ln>
                <a:solidFill>
                  <a:schemeClr val="tx1"/>
                </a:solidFill>
                <a:effectLst/>
                <a:latin typeface="Arial" charset="0"/>
                <a:cs typeface="Arial" charset="0"/>
              </a:rPr>
              <a:t> ,RID (FK), FID (FK) </a:t>
            </a:r>
          </a:p>
        </p:txBody>
      </p:sp>
      <p:sp>
        <p:nvSpPr>
          <p:cNvPr id="10" name="Rectangle 9"/>
          <p:cNvSpPr/>
          <p:nvPr/>
        </p:nvSpPr>
        <p:spPr>
          <a:xfrm>
            <a:off x="71406" y="1500180"/>
            <a:ext cx="8858312" cy="369332"/>
          </a:xfrm>
          <a:prstGeom prst="rect">
            <a:avLst/>
          </a:prstGeom>
        </p:spPr>
        <p:txBody>
          <a:bodyPr wrap="square">
            <a:spAutoFit/>
          </a:bodyPr>
          <a:lstStyle/>
          <a:p>
            <a:r>
              <a:rPr lang="en-US" b="1" dirty="0" smtClean="0"/>
              <a:t>4.FLIGHTS : </a:t>
            </a:r>
            <a:r>
              <a:rPr lang="en-US" dirty="0" smtClean="0"/>
              <a:t>FID (PK)</a:t>
            </a:r>
            <a:r>
              <a:rPr lang="en-US" dirty="0" err="1" smtClean="0"/>
              <a:t>s,NAME</a:t>
            </a:r>
            <a:r>
              <a:rPr lang="en-US" dirty="0" smtClean="0"/>
              <a:t>, ARRT (Arrival Time) , DETIME (Departure Time)</a:t>
            </a:r>
            <a:endParaRPr lang="en-US" dirty="0"/>
          </a:p>
        </p:txBody>
      </p:sp>
      <p:sp>
        <p:nvSpPr>
          <p:cNvPr id="11" name="Rectangle 10"/>
          <p:cNvSpPr/>
          <p:nvPr/>
        </p:nvSpPr>
        <p:spPr>
          <a:xfrm>
            <a:off x="214282" y="1928808"/>
            <a:ext cx="8643998" cy="369332"/>
          </a:xfrm>
          <a:prstGeom prst="rect">
            <a:avLst/>
          </a:prstGeom>
        </p:spPr>
        <p:txBody>
          <a:bodyPr wrap="square">
            <a:spAutoFit/>
          </a:bodyPr>
          <a:lstStyle/>
          <a:p>
            <a:r>
              <a:rPr lang="en-US" b="1" dirty="0" smtClean="0"/>
              <a:t>5. SCHEDULE : </a:t>
            </a:r>
            <a:r>
              <a:rPr lang="en-US" dirty="0" smtClean="0"/>
              <a:t>FID (PK,FK) ,INT (In Time) ,OUTT (Out Time)</a:t>
            </a:r>
            <a:endParaRPr lang="en-US" dirty="0"/>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Rectangle 1"/>
          <p:cNvSpPr>
            <a:spLocks noChangeArrowheads="1"/>
          </p:cNvSpPr>
          <p:nvPr/>
        </p:nvSpPr>
        <p:spPr bwMode="auto">
          <a:xfrm>
            <a:off x="0" y="0"/>
            <a:ext cx="2928926" cy="100027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1" fontAlgn="base" latinLnBrk="0" hangingPunct="1">
              <a:lnSpc>
                <a:spcPct val="100000"/>
              </a:lnSpc>
              <a:spcBef>
                <a:spcPct val="0"/>
              </a:spcBef>
              <a:spcAft>
                <a:spcPct val="0"/>
              </a:spcAft>
              <a:buClrTx/>
              <a:buSzTx/>
              <a:buFontTx/>
              <a:buAutoNum type="arabicPeriod"/>
              <a:tabLst/>
            </a:pPr>
            <a:r>
              <a:rPr kumimoji="0" lang="en-US" sz="1100" b="1" i="0" u="none" strike="noStrike" cap="none" normalizeH="0" baseline="0" dirty="0" smtClean="0">
                <a:ln>
                  <a:noFill/>
                </a:ln>
                <a:solidFill>
                  <a:schemeClr val="tx1"/>
                </a:solidFill>
                <a:effectLst/>
                <a:latin typeface="Arial" charset="0"/>
                <a:cs typeface="Arial" charset="0"/>
              </a:rPr>
              <a:t>CUSTOMER Table</a:t>
            </a:r>
          </a:p>
          <a:p>
            <a:pPr marL="228600" lvl="0" indent="-228600" fontAlgn="base">
              <a:spcBef>
                <a:spcPct val="0"/>
              </a:spcBef>
              <a:spcAft>
                <a:spcPct val="0"/>
              </a:spcAft>
              <a:buFontTx/>
              <a:buAutoNum type="arabicPeriod"/>
            </a:pPr>
            <a:r>
              <a:rPr lang="en-US" sz="1200" dirty="0" smtClean="0"/>
              <a:t>FLIGHTS Table</a:t>
            </a:r>
          </a:p>
          <a:p>
            <a:pPr marL="228600" lvl="0" indent="-228600" fontAlgn="base">
              <a:spcBef>
                <a:spcPct val="0"/>
              </a:spcBef>
              <a:spcAft>
                <a:spcPct val="0"/>
              </a:spcAft>
              <a:buFontTx/>
              <a:buAutoNum type="arabicPeriod"/>
            </a:pPr>
            <a:r>
              <a:rPr lang="en-US" sz="1200" dirty="0" smtClean="0"/>
              <a:t>RESERVATION Table</a:t>
            </a:r>
          </a:p>
          <a:p>
            <a:pPr marL="228600" indent="-228600" fontAlgn="base">
              <a:spcBef>
                <a:spcPct val="0"/>
              </a:spcBef>
              <a:spcAft>
                <a:spcPct val="0"/>
              </a:spcAft>
              <a:buFontTx/>
              <a:buAutoNum type="arabicPeriod"/>
            </a:pPr>
            <a:r>
              <a:rPr lang="en-US" sz="1200" b="1" dirty="0" smtClean="0"/>
              <a:t>SEAT_ARRANGEMENT Table</a:t>
            </a:r>
          </a:p>
          <a:p>
            <a:pPr marL="228600" lvl="0" indent="-228600" fontAlgn="base">
              <a:spcBef>
                <a:spcPct val="0"/>
              </a:spcBef>
              <a:spcAft>
                <a:spcPct val="0"/>
              </a:spcAft>
              <a:buFontTx/>
              <a:buAutoNum type="arabicPeriod"/>
            </a:pPr>
            <a:r>
              <a:rPr lang="en-US" sz="1200" dirty="0" smtClean="0"/>
              <a:t>SCHEDULE Table</a:t>
            </a:r>
            <a:endParaRPr kumimoji="0" lang="en-US" sz="1100" b="1" i="0" u="none" strike="noStrike" cap="none" normalizeH="0" baseline="0" dirty="0" smtClean="0">
              <a:ln>
                <a:noFill/>
              </a:ln>
              <a:solidFill>
                <a:schemeClr val="tx1"/>
              </a:solidFill>
              <a:effectLst/>
              <a:latin typeface="Arial" charset="0"/>
              <a:cs typeface="Arial" charset="0"/>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142858"/>
            <a:ext cx="8929718" cy="4985980"/>
          </a:xfrm>
          <a:prstGeom prst="rect">
            <a:avLst/>
          </a:prstGeom>
        </p:spPr>
        <p:txBody>
          <a:bodyPr wrap="square">
            <a:spAutoFit/>
          </a:bodyPr>
          <a:lstStyle/>
          <a:p>
            <a:r>
              <a:rPr lang="en-US" dirty="0" smtClean="0"/>
              <a:t>CREATE TABLE </a:t>
            </a:r>
            <a:r>
              <a:rPr lang="en-US" b="1" dirty="0" smtClean="0"/>
              <a:t>CUSTOMER</a:t>
            </a:r>
            <a:r>
              <a:rPr lang="en-US" dirty="0" smtClean="0"/>
              <a:t>(CID INT PRIMARY KEY,CNAME VARCHAR(50),   ADDR VARCHAR(100));</a:t>
            </a:r>
          </a:p>
          <a:p>
            <a:endParaRPr lang="en-US" sz="1200" dirty="0" smtClean="0"/>
          </a:p>
          <a:p>
            <a:r>
              <a:rPr lang="en-US" dirty="0" smtClean="0"/>
              <a:t>CREATE TABLE </a:t>
            </a:r>
            <a:r>
              <a:rPr lang="en-US" b="1" dirty="0" smtClean="0"/>
              <a:t>FLIGHTS</a:t>
            </a:r>
            <a:r>
              <a:rPr lang="en-US" dirty="0" smtClean="0"/>
              <a:t>( FID INT PRIMARY KEY,FNAME VARCHAR(50),</a:t>
            </a:r>
          </a:p>
          <a:p>
            <a:r>
              <a:rPr lang="en-US" dirty="0" smtClean="0"/>
              <a:t>ARRTTIME date, DETIMETIME date);</a:t>
            </a:r>
          </a:p>
          <a:p>
            <a:endParaRPr lang="en-US" sz="1200" dirty="0" smtClean="0"/>
          </a:p>
          <a:p>
            <a:r>
              <a:rPr lang="en-US" dirty="0" smtClean="0"/>
              <a:t>CREATE TABLE </a:t>
            </a:r>
            <a:r>
              <a:rPr lang="en-US" b="1" dirty="0" smtClean="0"/>
              <a:t>RESERVATION</a:t>
            </a:r>
            <a:r>
              <a:rPr lang="en-US" dirty="0" smtClean="0"/>
              <a:t>(RID INT PRIMARY KEY,CID INT,FID INT, DOR DATE, FOREIGN KEY (CID) REFERENCES CUSTOMER, FOREIGN KEY (FID) REFERENCES FLIGHTS);</a:t>
            </a:r>
          </a:p>
          <a:p>
            <a:endParaRPr lang="en-US" sz="1200" dirty="0" smtClean="0"/>
          </a:p>
          <a:p>
            <a:r>
              <a:rPr lang="en-US" dirty="0" smtClean="0"/>
              <a:t>CREATE TABLE SEAT_ARRANGEMENT(</a:t>
            </a:r>
            <a:r>
              <a:rPr lang="en-US" dirty="0" err="1" smtClean="0"/>
              <a:t>SeatNo</a:t>
            </a:r>
            <a:r>
              <a:rPr lang="en-US" dirty="0" smtClean="0"/>
              <a:t> VARCHAR(10),RID INT, FID INT,</a:t>
            </a:r>
          </a:p>
          <a:p>
            <a:r>
              <a:rPr lang="en-US" dirty="0" smtClean="0"/>
              <a:t>PRIMARY KEY (</a:t>
            </a:r>
            <a:r>
              <a:rPr lang="en-US" dirty="0" err="1" smtClean="0"/>
              <a:t>SeatNo</a:t>
            </a:r>
            <a:r>
              <a:rPr lang="en-US" dirty="0" smtClean="0"/>
              <a:t>, FID),FOREIGN KEY (RID) REFERENCES RESERVATION,FOREIGN KEY (FID) REFERENCES FLIGHTS);</a:t>
            </a:r>
          </a:p>
          <a:p>
            <a:endParaRPr lang="en-US" sz="1200" dirty="0" smtClean="0"/>
          </a:p>
          <a:p>
            <a:r>
              <a:rPr lang="en-US" dirty="0" smtClean="0"/>
              <a:t>CREATE TABLE SCHEDULE (FID INT PRIMARY KEY, INTIME, OUTTIME,</a:t>
            </a:r>
          </a:p>
          <a:p>
            <a:r>
              <a:rPr lang="en-US" dirty="0" smtClean="0"/>
              <a:t> FOREIGN KEY (FID) REFERENCES FLIGHTS);</a:t>
            </a:r>
          </a:p>
          <a:p>
            <a:endParaRPr lang="en-US" dirty="0" smtClean="0"/>
          </a:p>
          <a:p>
            <a:endParaRPr lang="en-US" dirty="0" smtClean="0"/>
          </a:p>
          <a:p>
            <a:endParaRPr lang="en-US" dirty="0"/>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 y="11841"/>
            <a:ext cx="9072594" cy="1138773"/>
          </a:xfrm>
          <a:prstGeom prst="rect">
            <a:avLst/>
          </a:prstGeom>
        </p:spPr>
        <p:txBody>
          <a:bodyPr wrap="square">
            <a:spAutoFit/>
          </a:bodyPr>
          <a:lstStyle/>
          <a:p>
            <a:r>
              <a:rPr lang="en-US" sz="2400" b="1" dirty="0" smtClean="0">
                <a:solidFill>
                  <a:srgbClr val="FFC000"/>
                </a:solidFill>
              </a:rPr>
              <a:t>Subclasses :</a:t>
            </a:r>
          </a:p>
          <a:p>
            <a:r>
              <a:rPr lang="en-US" sz="2200" dirty="0" smtClean="0"/>
              <a:t>A subclass is a class derived from the </a:t>
            </a:r>
            <a:r>
              <a:rPr lang="en-US" sz="2200" dirty="0" err="1" smtClean="0"/>
              <a:t>superclass</a:t>
            </a:r>
            <a:r>
              <a:rPr lang="en-US" sz="2200" dirty="0" smtClean="0"/>
              <a:t>. It inherits the properties of the </a:t>
            </a:r>
            <a:r>
              <a:rPr lang="en-US" sz="2200" dirty="0" err="1" smtClean="0"/>
              <a:t>superclass</a:t>
            </a:r>
            <a:r>
              <a:rPr lang="en-US" sz="2200" dirty="0" smtClean="0"/>
              <a:t> and also contains its own attributes.</a:t>
            </a:r>
            <a:endParaRPr lang="en-US" sz="2200" dirty="0"/>
          </a:p>
        </p:txBody>
      </p:sp>
      <p:sp>
        <p:nvSpPr>
          <p:cNvPr id="3" name="Rectangle 2"/>
          <p:cNvSpPr/>
          <p:nvPr/>
        </p:nvSpPr>
        <p:spPr>
          <a:xfrm>
            <a:off x="-32" y="1071552"/>
            <a:ext cx="9144032" cy="1815882"/>
          </a:xfrm>
          <a:prstGeom prst="rect">
            <a:avLst/>
          </a:prstGeom>
        </p:spPr>
        <p:txBody>
          <a:bodyPr wrap="square">
            <a:spAutoFit/>
          </a:bodyPr>
          <a:lstStyle/>
          <a:p>
            <a:r>
              <a:rPr lang="en-US" sz="2400" b="1" dirty="0" err="1" smtClean="0">
                <a:solidFill>
                  <a:srgbClr val="FFC000"/>
                </a:solidFill>
              </a:rPr>
              <a:t>Superclasses</a:t>
            </a:r>
            <a:r>
              <a:rPr lang="en-US" sz="2400" b="1" dirty="0" smtClean="0">
                <a:solidFill>
                  <a:srgbClr val="FFC000"/>
                </a:solidFill>
              </a:rPr>
              <a:t> </a:t>
            </a:r>
          </a:p>
          <a:p>
            <a:r>
              <a:rPr lang="en-US" sz="2200" dirty="0" smtClean="0"/>
              <a:t>A </a:t>
            </a:r>
            <a:r>
              <a:rPr lang="en-US" sz="2200" dirty="0" err="1" smtClean="0"/>
              <a:t>superclass</a:t>
            </a:r>
            <a:r>
              <a:rPr lang="en-US" sz="2200" dirty="0" smtClean="0"/>
              <a:t> is the class from which many subclasses can be created. The subclasses inherit the characteristics of a </a:t>
            </a:r>
            <a:r>
              <a:rPr lang="en-US" sz="2200" dirty="0" err="1" smtClean="0"/>
              <a:t>superclass</a:t>
            </a:r>
            <a:r>
              <a:rPr lang="en-US" sz="2200" dirty="0" smtClean="0"/>
              <a:t>. The </a:t>
            </a:r>
            <a:r>
              <a:rPr lang="en-US" sz="2200" dirty="0" err="1" smtClean="0"/>
              <a:t>superclass</a:t>
            </a:r>
            <a:r>
              <a:rPr lang="en-US" sz="2200" dirty="0" smtClean="0"/>
              <a:t> is also known as the parent class or base class. </a:t>
            </a:r>
          </a:p>
        </p:txBody>
      </p:sp>
      <p:sp>
        <p:nvSpPr>
          <p:cNvPr id="4" name="Rectangle 3"/>
          <p:cNvSpPr/>
          <p:nvPr/>
        </p:nvSpPr>
        <p:spPr>
          <a:xfrm>
            <a:off x="-32" y="2786064"/>
            <a:ext cx="9072594" cy="1815882"/>
          </a:xfrm>
          <a:prstGeom prst="rect">
            <a:avLst/>
          </a:prstGeom>
        </p:spPr>
        <p:txBody>
          <a:bodyPr wrap="square">
            <a:spAutoFit/>
          </a:bodyPr>
          <a:lstStyle/>
          <a:p>
            <a:r>
              <a:rPr lang="en-US" sz="2400" b="1" dirty="0" smtClean="0">
                <a:solidFill>
                  <a:srgbClr val="FFC000"/>
                </a:solidFill>
              </a:rPr>
              <a:t>Inheritance</a:t>
            </a:r>
            <a:r>
              <a:rPr lang="en-US" b="1" dirty="0" smtClean="0"/>
              <a:t> </a:t>
            </a:r>
          </a:p>
          <a:p>
            <a:r>
              <a:rPr lang="en-US" sz="2200" dirty="0" smtClean="0"/>
              <a:t>Inheritance is basically the process of basing a class on another class </a:t>
            </a:r>
            <a:r>
              <a:rPr lang="en-US" sz="2200" dirty="0" err="1" smtClean="0"/>
              <a:t>i.e</a:t>
            </a:r>
            <a:r>
              <a:rPr lang="en-US" sz="2200" dirty="0" smtClean="0"/>
              <a:t> to build a class on a existing class. The new class contains all the features and functionalities of the old class in addition to its own. </a:t>
            </a: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71421"/>
            <a:ext cx="8929750" cy="1138773"/>
          </a:xfrm>
          <a:prstGeom prst="rect">
            <a:avLst/>
          </a:prstGeom>
        </p:spPr>
        <p:txBody>
          <a:bodyPr wrap="square">
            <a:spAutoFit/>
          </a:bodyPr>
          <a:lstStyle/>
          <a:p>
            <a:r>
              <a:rPr lang="en-US" sz="2400" b="1" dirty="0" smtClean="0">
                <a:solidFill>
                  <a:srgbClr val="FFC000"/>
                </a:solidFill>
              </a:rPr>
              <a:t>Specialization:</a:t>
            </a:r>
          </a:p>
          <a:p>
            <a:r>
              <a:rPr lang="en-US" sz="2200" b="1" dirty="0" smtClean="0"/>
              <a:t>Specialization</a:t>
            </a:r>
            <a:r>
              <a:rPr lang="en-US" sz="2200" dirty="0" smtClean="0"/>
              <a:t> is the process of dividing a </a:t>
            </a:r>
            <a:r>
              <a:rPr lang="en-US" sz="2200" dirty="0" err="1" smtClean="0"/>
              <a:t>superclass</a:t>
            </a:r>
            <a:r>
              <a:rPr lang="en-US" sz="2200" dirty="0" smtClean="0"/>
              <a:t> into one or more subclasses based on distinguishing characteristics.</a:t>
            </a:r>
            <a:endParaRPr lang="en-US" sz="2200" dirty="0"/>
          </a:p>
        </p:txBody>
      </p:sp>
      <p:sp>
        <p:nvSpPr>
          <p:cNvPr id="3" name="Rectangle 2"/>
          <p:cNvSpPr/>
          <p:nvPr/>
        </p:nvSpPr>
        <p:spPr>
          <a:xfrm>
            <a:off x="71406" y="1214428"/>
            <a:ext cx="8929750" cy="1477328"/>
          </a:xfrm>
          <a:prstGeom prst="rect">
            <a:avLst/>
          </a:prstGeom>
        </p:spPr>
        <p:txBody>
          <a:bodyPr wrap="square">
            <a:spAutoFit/>
          </a:bodyPr>
          <a:lstStyle/>
          <a:p>
            <a:r>
              <a:rPr lang="en-US" sz="2400" b="1" dirty="0" smtClean="0">
                <a:solidFill>
                  <a:srgbClr val="FFC000"/>
                </a:solidFill>
              </a:rPr>
              <a:t>Generalization:</a:t>
            </a:r>
          </a:p>
          <a:p>
            <a:r>
              <a:rPr lang="en-US" sz="2200" dirty="0" smtClean="0"/>
              <a:t>Generalization is the process of combining two or more similar entities into a single </a:t>
            </a:r>
            <a:r>
              <a:rPr lang="en-US" sz="2200" dirty="0" err="1" smtClean="0"/>
              <a:t>superclass</a:t>
            </a:r>
            <a:r>
              <a:rPr lang="en-US" sz="2200" dirty="0" smtClean="0"/>
              <a:t> based on their common features.</a:t>
            </a: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17038" y="357172"/>
            <a:ext cx="4916119" cy="2214578"/>
          </a:xfrm>
          <a:prstGeom prst="rect">
            <a:avLst/>
          </a:prstGeom>
          <a:noFill/>
          <a:ln w="9525">
            <a:noFill/>
            <a:miter lim="800000"/>
            <a:headEnd/>
            <a:tailEnd/>
          </a:ln>
          <a:effectLst/>
        </p:spPr>
      </p:pic>
      <p:pic>
        <p:nvPicPr>
          <p:cNvPr id="3" name="Picture 2"/>
          <p:cNvPicPr>
            <a:picLocks noChangeAspect="1" noChangeArrowheads="1"/>
          </p:cNvPicPr>
          <p:nvPr/>
        </p:nvPicPr>
        <p:blipFill>
          <a:blip r:embed="rId3"/>
          <a:srcRect/>
          <a:stretch>
            <a:fillRect/>
          </a:stretch>
        </p:blipFill>
        <p:spPr bwMode="auto">
          <a:xfrm>
            <a:off x="4429126" y="1500181"/>
            <a:ext cx="4156289" cy="207170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srcRect/>
          <a:stretch>
            <a:fillRect/>
          </a:stretch>
        </p:blipFill>
        <p:spPr bwMode="auto">
          <a:xfrm>
            <a:off x="357160" y="285734"/>
            <a:ext cx="3237869" cy="2357454"/>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73079" y="155588"/>
            <a:ext cx="8085137" cy="41306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14297"/>
            <a:ext cx="8858312" cy="3788616"/>
          </a:xfrm>
          <a:prstGeom prst="rect">
            <a:avLst/>
          </a:prstGeom>
        </p:spPr>
        <p:txBody>
          <a:bodyPr wrap="square">
            <a:spAutoFit/>
          </a:bodyPr>
          <a:lstStyle/>
          <a:p>
            <a:r>
              <a:rPr lang="en-US" dirty="0" smtClean="0"/>
              <a:t>set-3</a:t>
            </a:r>
          </a:p>
          <a:p>
            <a:r>
              <a:rPr lang="en-US" dirty="0" smtClean="0"/>
              <a:t>part </a:t>
            </a:r>
            <a:r>
              <a:rPr lang="en-US" dirty="0" smtClean="0"/>
              <a:t>2 </a:t>
            </a:r>
            <a:endParaRPr lang="en-US" dirty="0" smtClean="0"/>
          </a:p>
          <a:p>
            <a:r>
              <a:rPr lang="en-US" dirty="0" smtClean="0"/>
              <a:t>1 </a:t>
            </a:r>
            <a:r>
              <a:rPr lang="en-US" dirty="0" smtClean="0"/>
              <a:t>Illustrate the role of a primary key in a relation</a:t>
            </a:r>
            <a:r>
              <a:rPr lang="en-US" dirty="0" smtClean="0"/>
              <a:t>.</a:t>
            </a:r>
          </a:p>
          <a:p>
            <a:r>
              <a:rPr lang="en-US" dirty="0" smtClean="0"/>
              <a:t>2 </a:t>
            </a:r>
            <a:r>
              <a:rPr lang="en-US" dirty="0" smtClean="0"/>
              <a:t>Illustrate the cardinality and degree of a relation</a:t>
            </a:r>
            <a:r>
              <a:rPr lang="en-US" dirty="0" smtClean="0"/>
              <a:t>.</a:t>
            </a:r>
          </a:p>
          <a:p>
            <a:r>
              <a:rPr lang="en-US" dirty="0" smtClean="0"/>
              <a:t>3 </a:t>
            </a:r>
            <a:r>
              <a:rPr lang="en-US" dirty="0" smtClean="0"/>
              <a:t>Classify different types of constraints used in relational schema</a:t>
            </a:r>
            <a:r>
              <a:rPr lang="en-US" dirty="0" smtClean="0"/>
              <a:t>.</a:t>
            </a:r>
          </a:p>
          <a:p>
            <a:endParaRPr lang="en-US" dirty="0" smtClean="0"/>
          </a:p>
          <a:p>
            <a:r>
              <a:rPr lang="en-US" dirty="0" smtClean="0"/>
              <a:t>1  A </a:t>
            </a:r>
            <a:r>
              <a:rPr lang="en-US" dirty="0" smtClean="0"/>
              <a:t>Construct ER diagrams to represent specialization and         </a:t>
            </a:r>
            <a:r>
              <a:rPr lang="en-US" dirty="0" smtClean="0"/>
              <a:t>   </a:t>
            </a:r>
          </a:p>
          <a:p>
            <a:r>
              <a:rPr lang="en-US" dirty="0" smtClean="0"/>
              <a:t> </a:t>
            </a:r>
            <a:r>
              <a:rPr lang="en-US" dirty="0" smtClean="0"/>
              <a:t>    generalization</a:t>
            </a:r>
            <a:r>
              <a:rPr lang="en-US" dirty="0" smtClean="0"/>
              <a:t>. </a:t>
            </a:r>
            <a:endParaRPr lang="en-US" dirty="0" smtClean="0"/>
          </a:p>
          <a:p>
            <a:r>
              <a:rPr lang="en-US" dirty="0" smtClean="0"/>
              <a:t>    B </a:t>
            </a:r>
            <a:r>
              <a:rPr lang="en-US" dirty="0" smtClean="0"/>
              <a:t>Apply various constraints over Relational model with examples</a:t>
            </a:r>
            <a:r>
              <a:rPr lang="en-US" dirty="0" smtClean="0"/>
              <a:t>.</a:t>
            </a:r>
          </a:p>
          <a:p>
            <a:pPr marL="342900" indent="-342900">
              <a:buAutoNum type="arabicPlain" startAt="2"/>
            </a:pPr>
            <a:r>
              <a:rPr lang="en-US" dirty="0" smtClean="0"/>
              <a:t>A </a:t>
            </a:r>
            <a:r>
              <a:rPr lang="en-US" dirty="0" smtClean="0"/>
              <a:t>Examine participation constraints used in ER-model.    </a:t>
            </a:r>
            <a:endParaRPr lang="en-US" dirty="0" smtClean="0"/>
          </a:p>
          <a:p>
            <a:pPr marL="342900" indent="-342900"/>
            <a:r>
              <a:rPr lang="en-US" dirty="0" smtClean="0"/>
              <a:t> </a:t>
            </a:r>
            <a:r>
              <a:rPr lang="en-US" dirty="0" smtClean="0"/>
              <a:t>   B </a:t>
            </a:r>
            <a:r>
              <a:rPr lang="en-US" dirty="0" smtClean="0"/>
              <a:t>Classify the different components used in ER model</a:t>
            </a:r>
            <a:r>
              <a:rPr lang="en-US" dirty="0" smtClean="0"/>
              <a:t>.</a:t>
            </a:r>
          </a:p>
          <a:p>
            <a:pPr marL="342900" indent="-342900"/>
            <a:r>
              <a:rPr lang="en-US" dirty="0" smtClean="0"/>
              <a:t>3  A </a:t>
            </a:r>
            <a:r>
              <a:rPr lang="en-US" dirty="0" smtClean="0"/>
              <a:t>Analyze Subclasses, Super classes, and Inheritance in DBMS.    </a:t>
            </a:r>
          </a:p>
          <a:p>
            <a:pPr marL="342900" indent="-342900" algn="just"/>
            <a:r>
              <a:rPr lang="en-US" dirty="0" smtClean="0"/>
              <a:t>    B </a:t>
            </a:r>
            <a:r>
              <a:rPr lang="en-US" dirty="0" smtClean="0"/>
              <a:t>Investigate the Integrity constraints in DBMS with examples.</a:t>
            </a:r>
            <a:endParaRPr lang="en-US"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160718"/>
            <a:ext cx="9001188" cy="4431983"/>
          </a:xfrm>
          <a:prstGeom prst="rect">
            <a:avLst/>
          </a:prstGeom>
        </p:spPr>
        <p:txBody>
          <a:bodyPr wrap="square">
            <a:spAutoFit/>
          </a:bodyPr>
          <a:lstStyle/>
          <a:p>
            <a:pPr algn="ctr"/>
            <a:r>
              <a:rPr lang="en-US" sz="2400" dirty="0" smtClean="0"/>
              <a:t>UNTIT-III </a:t>
            </a:r>
          </a:p>
          <a:p>
            <a:r>
              <a:rPr lang="en-US" sz="2400" dirty="0" smtClean="0"/>
              <a:t>PART_1 SQL: </a:t>
            </a:r>
          </a:p>
          <a:p>
            <a:pPr>
              <a:lnSpc>
                <a:spcPct val="150000"/>
              </a:lnSpc>
            </a:pPr>
            <a:r>
              <a:rPr lang="en-US" sz="2000" dirty="0" smtClean="0"/>
              <a:t>Simple Database schema </a:t>
            </a:r>
          </a:p>
          <a:p>
            <a:pPr>
              <a:lnSpc>
                <a:spcPct val="150000"/>
              </a:lnSpc>
            </a:pPr>
            <a:r>
              <a:rPr lang="en-US" sz="2000" dirty="0" smtClean="0"/>
              <a:t>Data types </a:t>
            </a:r>
          </a:p>
          <a:p>
            <a:pPr>
              <a:lnSpc>
                <a:spcPct val="150000"/>
              </a:lnSpc>
            </a:pPr>
            <a:r>
              <a:rPr lang="en-US" sz="2000" dirty="0" smtClean="0"/>
              <a:t>Table definitions (create, alter) </a:t>
            </a:r>
          </a:p>
          <a:p>
            <a:pPr>
              <a:lnSpc>
                <a:spcPct val="150000"/>
              </a:lnSpc>
            </a:pPr>
            <a:r>
              <a:rPr lang="en-US" sz="2000" dirty="0" smtClean="0"/>
              <a:t>Different DML operations (insert, delete, update). </a:t>
            </a:r>
          </a:p>
          <a:p>
            <a:pPr>
              <a:lnSpc>
                <a:spcPct val="150000"/>
              </a:lnSpc>
            </a:pPr>
            <a:r>
              <a:rPr lang="en-US" sz="2000" dirty="0" smtClean="0"/>
              <a:t>Relational Algebra, Relational Calculus </a:t>
            </a:r>
          </a:p>
          <a:p>
            <a:pPr>
              <a:lnSpc>
                <a:spcPct val="150000"/>
              </a:lnSpc>
            </a:pPr>
            <a:r>
              <a:rPr lang="en-US" sz="2000" dirty="0" smtClean="0"/>
              <a:t>Basic SQL querying (select and project) using where clause </a:t>
            </a:r>
          </a:p>
          <a:p>
            <a:pPr>
              <a:lnSpc>
                <a:spcPct val="150000"/>
              </a:lnSpc>
            </a:pPr>
            <a:r>
              <a:rPr lang="en-US" dirty="0" smtClean="0"/>
              <a:t>Arithmetic &amp; logical operations </a:t>
            </a:r>
          </a:p>
          <a:p>
            <a:pPr>
              <a:lnSpc>
                <a:spcPct val="150000"/>
              </a:lnSpc>
            </a:pPr>
            <a:r>
              <a:rPr lang="en-US" dirty="0" smtClean="0"/>
              <a:t>SQL functions (Date and Time, Numeric, String conversion).</a:t>
            </a:r>
            <a:endParaRPr lang="en-US" dirty="0"/>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07140"/>
            <a:ext cx="8786874" cy="4401205"/>
          </a:xfrm>
          <a:prstGeom prst="rect">
            <a:avLst/>
          </a:prstGeom>
        </p:spPr>
        <p:txBody>
          <a:bodyPr wrap="square">
            <a:spAutoFit/>
          </a:bodyPr>
          <a:lstStyle/>
          <a:p>
            <a:r>
              <a:rPr lang="en-US" sz="2000" dirty="0" smtClean="0"/>
              <a:t>PART_2 </a:t>
            </a:r>
          </a:p>
          <a:p>
            <a:r>
              <a:rPr lang="en-US" sz="2000" dirty="0" smtClean="0"/>
              <a:t>Creating tables with relationship </a:t>
            </a:r>
          </a:p>
          <a:p>
            <a:endParaRPr lang="en-US" sz="2000" dirty="0" smtClean="0"/>
          </a:p>
          <a:p>
            <a:r>
              <a:rPr lang="en-US" sz="2000" dirty="0" smtClean="0"/>
              <a:t>Implementation of key and integrity constraints </a:t>
            </a:r>
          </a:p>
          <a:p>
            <a:endParaRPr lang="en-US" sz="2000" dirty="0" smtClean="0"/>
          </a:p>
          <a:p>
            <a:r>
              <a:rPr lang="en-US" sz="2000" dirty="0" smtClean="0"/>
              <a:t>Nested queries, sub queries </a:t>
            </a:r>
          </a:p>
          <a:p>
            <a:endParaRPr lang="en-US" sz="2000" dirty="0" smtClean="0"/>
          </a:p>
          <a:p>
            <a:r>
              <a:rPr lang="en-US" sz="2000" dirty="0" smtClean="0"/>
              <a:t>Grouping, aggregation, ordering </a:t>
            </a:r>
          </a:p>
          <a:p>
            <a:endParaRPr lang="en-US" sz="2000" dirty="0" smtClean="0"/>
          </a:p>
          <a:p>
            <a:r>
              <a:rPr lang="en-US" sz="2000" dirty="0" smtClean="0"/>
              <a:t>Implementation of different types of joins </a:t>
            </a:r>
          </a:p>
          <a:p>
            <a:endParaRPr lang="en-US" sz="2000" dirty="0" smtClean="0"/>
          </a:p>
          <a:p>
            <a:r>
              <a:rPr lang="en-US" sz="2000" dirty="0" smtClean="0"/>
              <a:t>View (updatable and non-updatable) </a:t>
            </a:r>
          </a:p>
          <a:p>
            <a:endParaRPr lang="en-US" sz="2000" dirty="0" smtClean="0"/>
          </a:p>
          <a:p>
            <a:r>
              <a:rPr lang="en-US" sz="2000" dirty="0" smtClean="0"/>
              <a:t>Relational set operations. </a:t>
            </a:r>
            <a:endParaRPr lang="en-US" sz="2000" dirty="0"/>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60720"/>
            <a:ext cx="8358246" cy="461665"/>
          </a:xfrm>
          <a:prstGeom prst="rect">
            <a:avLst/>
          </a:prstGeom>
        </p:spPr>
        <p:txBody>
          <a:bodyPr wrap="square">
            <a:spAutoFit/>
          </a:bodyPr>
          <a:lstStyle/>
          <a:p>
            <a:pPr algn="ctr"/>
            <a:r>
              <a:rPr lang="en-US" sz="2400" b="1" dirty="0" smtClean="0">
                <a:solidFill>
                  <a:srgbClr val="FF0000"/>
                </a:solidFill>
              </a:rPr>
              <a:t>1.Simple Database Schema</a:t>
            </a:r>
          </a:p>
        </p:txBody>
      </p:sp>
      <p:sp>
        <p:nvSpPr>
          <p:cNvPr id="41985" name="Rectangle 1"/>
          <p:cNvSpPr>
            <a:spLocks noChangeArrowheads="1"/>
          </p:cNvSpPr>
          <p:nvPr/>
        </p:nvSpPr>
        <p:spPr bwMode="auto">
          <a:xfrm>
            <a:off x="71406" y="642924"/>
            <a:ext cx="8858312" cy="221599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dirty="0" smtClean="0"/>
              <a:t>Description about database or relation</a:t>
            </a:r>
          </a:p>
          <a:p>
            <a:pPr marL="0" marR="0" lvl="0" indent="0" algn="l" defTabSz="914400" rtl="0" eaLnBrk="1" fontAlgn="base" latinLnBrk="0" hangingPunct="1">
              <a:lnSpc>
                <a:spcPct val="100000"/>
              </a:lnSpc>
              <a:spcBef>
                <a:spcPct val="0"/>
              </a:spcBef>
              <a:spcAft>
                <a:spcPct val="0"/>
              </a:spcAft>
              <a:buClrTx/>
              <a:buSzTx/>
              <a:buFontTx/>
              <a:buNone/>
              <a:tabLst/>
            </a:pPr>
            <a:r>
              <a:rPr lang="en-US" sz="2000" dirty="0" smtClean="0">
                <a:latin typeface="Arial" charset="0"/>
                <a:cs typeface="Arial" charset="0"/>
              </a:rPr>
              <a:t>D</a:t>
            </a:r>
            <a:r>
              <a:rPr kumimoji="0" lang="en-US" sz="2000" b="0" i="0" u="none" strike="noStrike" cap="none" normalizeH="0" baseline="0" dirty="0" smtClean="0">
                <a:ln>
                  <a:noFill/>
                </a:ln>
                <a:solidFill>
                  <a:schemeClr val="tx1"/>
                </a:solidFill>
                <a:effectLst/>
                <a:latin typeface="Arial" charset="0"/>
                <a:cs typeface="Arial" charset="0"/>
              </a:rPr>
              <a:t>atabase schema describes the structure of a database. It specifies :</a:t>
            </a: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v"/>
              <a:tabLst/>
            </a:pPr>
            <a:r>
              <a:rPr kumimoji="0" lang="en-US" sz="2000" b="0" i="0" u="none" strike="noStrike" cap="none" normalizeH="0" baseline="0" dirty="0" smtClean="0">
                <a:ln>
                  <a:noFill/>
                </a:ln>
                <a:solidFill>
                  <a:schemeClr val="tx1"/>
                </a:solidFill>
                <a:effectLst/>
                <a:latin typeface="Arial" charset="0"/>
                <a:cs typeface="Arial" charset="0"/>
              </a:rPr>
              <a:t>What tables are present</a:t>
            </a: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v"/>
              <a:tabLst/>
            </a:pPr>
            <a:r>
              <a:rPr kumimoji="0" lang="en-US" sz="2000" b="0" i="0" u="none" strike="noStrike" cap="none" normalizeH="0" baseline="0" dirty="0" smtClean="0">
                <a:ln>
                  <a:noFill/>
                </a:ln>
                <a:solidFill>
                  <a:schemeClr val="tx1"/>
                </a:solidFill>
                <a:effectLst/>
                <a:latin typeface="Arial" charset="0"/>
                <a:cs typeface="Arial" charset="0"/>
              </a:rPr>
              <a:t>What columns each table contains</a:t>
            </a: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v"/>
              <a:tabLst/>
            </a:pPr>
            <a:r>
              <a:rPr kumimoji="0" lang="en-US" sz="2000" b="0" i="0" u="none" strike="noStrike" cap="none" normalizeH="0" baseline="0" dirty="0" smtClean="0">
                <a:ln>
                  <a:noFill/>
                </a:ln>
                <a:solidFill>
                  <a:schemeClr val="tx1"/>
                </a:solidFill>
                <a:effectLst/>
                <a:latin typeface="Arial" charset="0"/>
                <a:cs typeface="Arial" charset="0"/>
              </a:rPr>
              <a:t>What data type each column has</a:t>
            </a: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v"/>
              <a:tabLst/>
            </a:pPr>
            <a:r>
              <a:rPr kumimoji="0" lang="en-US" sz="2000" b="0" i="0" u="none" strike="noStrike" cap="none" normalizeH="0" baseline="0" dirty="0" smtClean="0">
                <a:ln>
                  <a:noFill/>
                </a:ln>
                <a:solidFill>
                  <a:schemeClr val="tx1"/>
                </a:solidFill>
                <a:effectLst/>
                <a:latin typeface="Arial" charset="0"/>
                <a:cs typeface="Arial" charset="0"/>
              </a:rPr>
              <a:t>Which column is the primary key</a:t>
            </a:r>
          </a:p>
          <a:p>
            <a:pPr marL="342900" marR="0" lvl="0" indent="-342900" algn="l" defTabSz="914400" rtl="0" eaLnBrk="0" fontAlgn="base" latinLnBrk="0" hangingPunct="0">
              <a:lnSpc>
                <a:spcPct val="100000"/>
              </a:lnSpc>
              <a:spcBef>
                <a:spcPct val="0"/>
              </a:spcBef>
              <a:spcAft>
                <a:spcPct val="0"/>
              </a:spcAft>
              <a:buClrTx/>
              <a:buSzTx/>
              <a:buFont typeface="Wingdings" pitchFamily="2" charset="2"/>
              <a:buChar char="v"/>
              <a:tabLst/>
            </a:pPr>
            <a:r>
              <a:rPr kumimoji="0" lang="en-US" sz="2000" b="0" i="0" u="none" strike="noStrike" cap="none" normalizeH="0" baseline="0" dirty="0" smtClean="0">
                <a:ln>
                  <a:noFill/>
                </a:ln>
                <a:solidFill>
                  <a:schemeClr val="tx1"/>
                </a:solidFill>
                <a:effectLst/>
                <a:latin typeface="Arial" charset="0"/>
                <a:cs typeface="Arial" charset="0"/>
              </a:rPr>
              <a:t>How tables are related</a:t>
            </a:r>
          </a:p>
        </p:txBody>
      </p:sp>
      <p:sp>
        <p:nvSpPr>
          <p:cNvPr id="6" name="Rectangle 5"/>
          <p:cNvSpPr/>
          <p:nvPr/>
        </p:nvSpPr>
        <p:spPr>
          <a:xfrm>
            <a:off x="785786" y="3000378"/>
            <a:ext cx="3249608" cy="369332"/>
          </a:xfrm>
          <a:prstGeom prst="rect">
            <a:avLst/>
          </a:prstGeom>
        </p:spPr>
        <p:txBody>
          <a:bodyPr wrap="none">
            <a:spAutoFit/>
          </a:bodyPr>
          <a:lstStyle/>
          <a:p>
            <a:r>
              <a:rPr lang="en-US" dirty="0" smtClean="0"/>
              <a:t>Example: Student Database</a:t>
            </a:r>
            <a:endParaRPr lang="en-US" dirty="0"/>
          </a:p>
        </p:txBody>
      </p:sp>
      <p:sp>
        <p:nvSpPr>
          <p:cNvPr id="7" name="Rectangle 6"/>
          <p:cNvSpPr/>
          <p:nvPr/>
        </p:nvSpPr>
        <p:spPr>
          <a:xfrm>
            <a:off x="285720" y="3429006"/>
            <a:ext cx="4572000" cy="1200329"/>
          </a:xfrm>
          <a:prstGeom prst="rect">
            <a:avLst/>
          </a:prstGeom>
        </p:spPr>
        <p:txBody>
          <a:bodyPr>
            <a:spAutoFit/>
          </a:bodyPr>
          <a:lstStyle/>
          <a:p>
            <a:r>
              <a:rPr lang="en-US" dirty="0" smtClean="0"/>
              <a:t>STUDENT (SID,SNAME,AGE,DEPT);</a:t>
            </a:r>
          </a:p>
          <a:p>
            <a:r>
              <a:rPr lang="en-US" dirty="0" smtClean="0"/>
              <a:t>COURSE(CID,CNAME,CREDITS);</a:t>
            </a:r>
          </a:p>
          <a:p>
            <a:r>
              <a:rPr lang="en-US" dirty="0" smtClean="0"/>
              <a:t>ENROLLMENT(SID,CID,MARKS );</a:t>
            </a:r>
          </a:p>
          <a:p>
            <a:endParaRPr lang="en-US" dirty="0"/>
          </a:p>
        </p:txBody>
      </p:sp>
      <p:sp>
        <p:nvSpPr>
          <p:cNvPr id="41987" name="Rectangle 3"/>
          <p:cNvSpPr>
            <a:spLocks noChangeArrowheads="1"/>
          </p:cNvSpPr>
          <p:nvPr/>
        </p:nvSpPr>
        <p:spPr bwMode="auto">
          <a:xfrm>
            <a:off x="4429124" y="2571750"/>
            <a:ext cx="4572032" cy="1631216"/>
          </a:xfrm>
          <a:prstGeom prst="rect">
            <a:avLst/>
          </a:prstGeom>
          <a:solidFill>
            <a:srgbClr val="FFFF00"/>
          </a:solidFill>
          <a:ln w="9525">
            <a:solidFill>
              <a:srgbClr val="FFFF00"/>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lang="en-US" sz="2000" dirty="0" smtClean="0">
                <a:latin typeface="Arial" charset="0"/>
                <a:cs typeface="Arial" charset="0"/>
              </a:rPr>
              <a:t>SID → identifies a student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smtClean="0">
                <a:latin typeface="Arial" charset="0"/>
                <a:cs typeface="Arial" charset="0"/>
              </a:rPr>
              <a:t>CID → identifies a course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smtClean="0">
                <a:latin typeface="Arial" charset="0"/>
                <a:cs typeface="Arial" charset="0"/>
              </a:rPr>
              <a:t>(SID, CID) → composite primary key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smtClean="0">
                <a:latin typeface="Arial" charset="0"/>
                <a:cs typeface="Arial" charset="0"/>
              </a:rPr>
              <a:t>Foreign keys establish relationships between tables</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86116" y="71421"/>
            <a:ext cx="2234907" cy="461665"/>
          </a:xfrm>
          <a:prstGeom prst="rect">
            <a:avLst/>
          </a:prstGeom>
        </p:spPr>
        <p:txBody>
          <a:bodyPr wrap="square">
            <a:spAutoFit/>
          </a:bodyPr>
          <a:lstStyle/>
          <a:p>
            <a:r>
              <a:rPr lang="en-US" sz="2400" dirty="0" smtClean="0">
                <a:solidFill>
                  <a:srgbClr val="FF0000"/>
                </a:solidFill>
              </a:rPr>
              <a:t>2. Data Types</a:t>
            </a:r>
            <a:endParaRPr lang="en-US" sz="2400" dirty="0">
              <a:solidFill>
                <a:srgbClr val="FF0000"/>
              </a:solidFill>
            </a:endParaRPr>
          </a:p>
        </p:txBody>
      </p:sp>
      <p:sp>
        <p:nvSpPr>
          <p:cNvPr id="5" name="Rectangle 4"/>
          <p:cNvSpPr/>
          <p:nvPr/>
        </p:nvSpPr>
        <p:spPr>
          <a:xfrm>
            <a:off x="71406" y="528566"/>
            <a:ext cx="9072594" cy="400110"/>
          </a:xfrm>
          <a:prstGeom prst="rect">
            <a:avLst/>
          </a:prstGeom>
        </p:spPr>
        <p:txBody>
          <a:bodyPr wrap="square">
            <a:spAutoFit/>
          </a:bodyPr>
          <a:lstStyle/>
          <a:p>
            <a:r>
              <a:rPr lang="en-US" sz="2000" dirty="0" smtClean="0"/>
              <a:t>A </a:t>
            </a:r>
            <a:r>
              <a:rPr lang="en-US" sz="2000" b="1" dirty="0" smtClean="0"/>
              <a:t>data type</a:t>
            </a:r>
            <a:r>
              <a:rPr lang="en-US" sz="2000" dirty="0" smtClean="0"/>
              <a:t> specifies what kind of value can be stored in a column.</a:t>
            </a:r>
            <a:endParaRPr lang="en-US" sz="2000" dirty="0"/>
          </a:p>
        </p:txBody>
      </p:sp>
      <p:graphicFrame>
        <p:nvGraphicFramePr>
          <p:cNvPr id="6" name="Table 5"/>
          <p:cNvGraphicFramePr>
            <a:graphicFrameLocks noGrp="1"/>
          </p:cNvGraphicFramePr>
          <p:nvPr/>
        </p:nvGraphicFramePr>
        <p:xfrm>
          <a:off x="71406" y="1000114"/>
          <a:ext cx="9001188" cy="3318193"/>
        </p:xfrm>
        <a:graphic>
          <a:graphicData uri="http://schemas.openxmlformats.org/drawingml/2006/table">
            <a:tbl>
              <a:tblPr>
                <a:tableStyleId>{775DCB02-9BB8-47FD-8907-85C794F793BA}</a:tableStyleId>
              </a:tblPr>
              <a:tblGrid>
                <a:gridCol w="1549385"/>
                <a:gridCol w="4279253"/>
                <a:gridCol w="3172550"/>
              </a:tblGrid>
              <a:tr h="341123">
                <a:tc>
                  <a:txBody>
                    <a:bodyPr/>
                    <a:lstStyle/>
                    <a:p>
                      <a:r>
                        <a:rPr lang="en-US" dirty="0"/>
                        <a:t>Data Type</a:t>
                      </a:r>
                    </a:p>
                  </a:txBody>
                  <a:tcPr anchor="ctr"/>
                </a:tc>
                <a:tc>
                  <a:txBody>
                    <a:bodyPr/>
                    <a:lstStyle/>
                    <a:p>
                      <a:r>
                        <a:rPr lang="en-US" dirty="0"/>
                        <a:t>Purpose</a:t>
                      </a:r>
                    </a:p>
                  </a:txBody>
                  <a:tcPr anchor="ctr"/>
                </a:tc>
                <a:tc>
                  <a:txBody>
                    <a:bodyPr/>
                    <a:lstStyle/>
                    <a:p>
                      <a:r>
                        <a:rPr lang="en-US"/>
                        <a:t>Example</a:t>
                      </a:r>
                    </a:p>
                  </a:txBody>
                  <a:tcPr anchor="ctr"/>
                </a:tc>
              </a:tr>
              <a:tr h="341123">
                <a:tc>
                  <a:txBody>
                    <a:bodyPr/>
                    <a:lstStyle/>
                    <a:p>
                      <a:r>
                        <a:rPr lang="en-US"/>
                        <a:t>NUMBER</a:t>
                      </a:r>
                    </a:p>
                  </a:txBody>
                  <a:tcPr anchor="ctr"/>
                </a:tc>
                <a:tc>
                  <a:txBody>
                    <a:bodyPr/>
                    <a:lstStyle/>
                    <a:p>
                      <a:r>
                        <a:rPr lang="en-US"/>
                        <a:t>Numbers</a:t>
                      </a:r>
                    </a:p>
                  </a:txBody>
                  <a:tcPr anchor="ctr"/>
                </a:tc>
                <a:tc>
                  <a:txBody>
                    <a:bodyPr/>
                    <a:lstStyle/>
                    <a:p>
                      <a:r>
                        <a:rPr lang="en-US"/>
                        <a:t>100, 25.5</a:t>
                      </a:r>
                    </a:p>
                  </a:txBody>
                  <a:tcPr anchor="ctr"/>
                </a:tc>
              </a:tr>
              <a:tr h="565169">
                <a:tc>
                  <a:txBody>
                    <a:bodyPr/>
                    <a:lstStyle/>
                    <a:p>
                      <a:r>
                        <a:rPr lang="en-US" dirty="0"/>
                        <a:t>VARCHAR2</a:t>
                      </a:r>
                    </a:p>
                  </a:txBody>
                  <a:tcPr anchor="ctr"/>
                </a:tc>
                <a:tc>
                  <a:txBody>
                    <a:bodyPr/>
                    <a:lstStyle/>
                    <a:p>
                      <a:r>
                        <a:rPr lang="en-US" dirty="0"/>
                        <a:t>Variable-length text</a:t>
                      </a:r>
                    </a:p>
                  </a:txBody>
                  <a:tcPr anchor="ctr"/>
                </a:tc>
                <a:tc>
                  <a:txBody>
                    <a:bodyPr/>
                    <a:lstStyle/>
                    <a:p>
                      <a:r>
                        <a:rPr lang="en-US" dirty="0"/>
                        <a:t>'</a:t>
                      </a:r>
                      <a:r>
                        <a:rPr lang="en-US" dirty="0" err="1"/>
                        <a:t>Naresh</a:t>
                      </a:r>
                      <a:r>
                        <a:rPr lang="en-US" dirty="0"/>
                        <a:t>'</a:t>
                      </a:r>
                    </a:p>
                  </a:txBody>
                  <a:tcPr anchor="ctr"/>
                </a:tc>
              </a:tr>
              <a:tr h="346385">
                <a:tc>
                  <a:txBody>
                    <a:bodyPr/>
                    <a:lstStyle/>
                    <a:p>
                      <a:r>
                        <a:rPr lang="en-US"/>
                        <a:t>CHAR</a:t>
                      </a:r>
                    </a:p>
                  </a:txBody>
                  <a:tcPr anchor="ctr"/>
                </a:tc>
                <a:tc>
                  <a:txBody>
                    <a:bodyPr/>
                    <a:lstStyle/>
                    <a:p>
                      <a:r>
                        <a:rPr lang="en-US" dirty="0"/>
                        <a:t>Fixed-length text</a:t>
                      </a:r>
                    </a:p>
                  </a:txBody>
                  <a:tcPr anchor="ctr"/>
                </a:tc>
                <a:tc>
                  <a:txBody>
                    <a:bodyPr/>
                    <a:lstStyle/>
                    <a:p>
                      <a:r>
                        <a:rPr lang="en-US"/>
                        <a:t>'M'</a:t>
                      </a:r>
                    </a:p>
                  </a:txBody>
                  <a:tcPr anchor="ctr"/>
                </a:tc>
              </a:tr>
              <a:tr h="341123">
                <a:tc>
                  <a:txBody>
                    <a:bodyPr/>
                    <a:lstStyle/>
                    <a:p>
                      <a:r>
                        <a:rPr lang="en-US"/>
                        <a:t>DATE</a:t>
                      </a:r>
                    </a:p>
                  </a:txBody>
                  <a:tcPr anchor="ctr"/>
                </a:tc>
                <a:tc>
                  <a:txBody>
                    <a:bodyPr/>
                    <a:lstStyle/>
                    <a:p>
                      <a:r>
                        <a:rPr lang="en-US"/>
                        <a:t>Date and time</a:t>
                      </a:r>
                    </a:p>
                  </a:txBody>
                  <a:tcPr anchor="ctr"/>
                </a:tc>
                <a:tc>
                  <a:txBody>
                    <a:bodyPr/>
                    <a:lstStyle/>
                    <a:p>
                      <a:r>
                        <a:rPr lang="en-US" dirty="0" smtClean="0"/>
                        <a:t>18-AUG-2024</a:t>
                      </a:r>
                      <a:endParaRPr lang="en-US" dirty="0"/>
                    </a:p>
                  </a:txBody>
                  <a:tcPr anchor="ctr"/>
                </a:tc>
              </a:tr>
              <a:tr h="558464">
                <a:tc>
                  <a:txBody>
                    <a:bodyPr/>
                    <a:lstStyle/>
                    <a:p>
                      <a:r>
                        <a:rPr lang="en-US"/>
                        <a:t>TIMESTAMP</a:t>
                      </a:r>
                    </a:p>
                  </a:txBody>
                  <a:tcPr anchor="ctr"/>
                </a:tc>
                <a:tc>
                  <a:txBody>
                    <a:bodyPr/>
                    <a:lstStyle/>
                    <a:p>
                      <a:r>
                        <a:rPr lang="en-US" dirty="0"/>
                        <a:t>Date and time with more precision</a:t>
                      </a:r>
                    </a:p>
                  </a:txBody>
                  <a:tcPr anchor="ctr"/>
                </a:tc>
                <a:tc>
                  <a:txBody>
                    <a:bodyPr/>
                    <a:lstStyle/>
                    <a:p>
                      <a:r>
                        <a:rPr lang="en-US" dirty="0" smtClean="0"/>
                        <a:t>18-AUG-2024 </a:t>
                      </a:r>
                      <a:r>
                        <a:rPr lang="en-US" dirty="0"/>
                        <a:t>10:30:20</a:t>
                      </a:r>
                    </a:p>
                  </a:txBody>
                  <a:tcPr anchor="ctr"/>
                </a:tc>
              </a:tr>
              <a:tr h="341123">
                <a:tc>
                  <a:txBody>
                    <a:bodyPr/>
                    <a:lstStyle/>
                    <a:p>
                      <a:r>
                        <a:rPr lang="en-US"/>
                        <a:t>CLOB</a:t>
                      </a:r>
                    </a:p>
                  </a:txBody>
                  <a:tcPr anchor="ctr"/>
                </a:tc>
                <a:tc>
                  <a:txBody>
                    <a:bodyPr/>
                    <a:lstStyle/>
                    <a:p>
                      <a:r>
                        <a:rPr lang="en-US"/>
                        <a:t>Large text</a:t>
                      </a:r>
                    </a:p>
                  </a:txBody>
                  <a:tcPr anchor="ctr"/>
                </a:tc>
                <a:tc>
                  <a:txBody>
                    <a:bodyPr/>
                    <a:lstStyle/>
                    <a:p>
                      <a:r>
                        <a:rPr lang="en-US"/>
                        <a:t>Long documents</a:t>
                      </a:r>
                    </a:p>
                  </a:txBody>
                  <a:tcPr anchor="ctr"/>
                </a:tc>
              </a:tr>
              <a:tr h="341123">
                <a:tc>
                  <a:txBody>
                    <a:bodyPr/>
                    <a:lstStyle/>
                    <a:p>
                      <a:r>
                        <a:rPr lang="en-US"/>
                        <a:t>BLOB</a:t>
                      </a:r>
                    </a:p>
                  </a:txBody>
                  <a:tcPr anchor="ctr"/>
                </a:tc>
                <a:tc>
                  <a:txBody>
                    <a:bodyPr/>
                    <a:lstStyle/>
                    <a:p>
                      <a:r>
                        <a:rPr lang="en-US" dirty="0"/>
                        <a:t>Binary data</a:t>
                      </a:r>
                    </a:p>
                  </a:txBody>
                  <a:tcPr anchor="ctr"/>
                </a:tc>
                <a:tc>
                  <a:txBody>
                    <a:bodyPr/>
                    <a:lstStyle/>
                    <a:p>
                      <a:r>
                        <a:rPr lang="en-US" dirty="0"/>
                        <a:t>Images/files</a:t>
                      </a:r>
                    </a:p>
                  </a:txBody>
                  <a:tcPr anchor="ctr"/>
                </a:tc>
              </a:tr>
            </a:tbl>
          </a:graphicData>
        </a:graphic>
      </p:graphicFrame>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63371"/>
            <a:ext cx="4572000" cy="5016758"/>
          </a:xfrm>
          <a:prstGeom prst="rect">
            <a:avLst/>
          </a:prstGeom>
        </p:spPr>
        <p:txBody>
          <a:bodyPr>
            <a:spAutoFit/>
          </a:bodyPr>
          <a:lstStyle/>
          <a:p>
            <a:r>
              <a:rPr lang="en-US" dirty="0" smtClean="0"/>
              <a:t>Data types:</a:t>
            </a:r>
          </a:p>
          <a:p>
            <a:r>
              <a:rPr lang="en-US" dirty="0" smtClean="0"/>
              <a:t>	char</a:t>
            </a:r>
          </a:p>
          <a:p>
            <a:r>
              <a:rPr lang="en-US" dirty="0" smtClean="0"/>
              <a:t>		char</a:t>
            </a:r>
          </a:p>
          <a:p>
            <a:r>
              <a:rPr lang="en-US" dirty="0" smtClean="0"/>
              <a:t>		</a:t>
            </a:r>
            <a:r>
              <a:rPr lang="en-US" dirty="0" err="1" smtClean="0"/>
              <a:t>varchar</a:t>
            </a:r>
            <a:endParaRPr lang="en-US" dirty="0" smtClean="0"/>
          </a:p>
          <a:p>
            <a:r>
              <a:rPr lang="en-US" dirty="0" smtClean="0"/>
              <a:t>	number</a:t>
            </a:r>
          </a:p>
          <a:p>
            <a:r>
              <a:rPr lang="en-US" dirty="0" smtClean="0"/>
              <a:t>		</a:t>
            </a:r>
            <a:r>
              <a:rPr lang="en-US" dirty="0" err="1" smtClean="0"/>
              <a:t>int</a:t>
            </a:r>
            <a:r>
              <a:rPr lang="en-US" dirty="0" smtClean="0"/>
              <a:t> </a:t>
            </a:r>
            <a:r>
              <a:rPr lang="en-US" sz="1400" dirty="0" smtClean="0"/>
              <a:t>-2,147,483,648 and 2,147,483,647</a:t>
            </a:r>
            <a:endParaRPr lang="en-US" dirty="0" smtClean="0"/>
          </a:p>
          <a:p>
            <a:r>
              <a:rPr lang="en-US" dirty="0" smtClean="0"/>
              <a:t>		decimal(p, s) decimal(12,4)</a:t>
            </a:r>
          </a:p>
          <a:p>
            <a:r>
              <a:rPr lang="en-US" dirty="0" smtClean="0"/>
              <a:t>		float(p)</a:t>
            </a:r>
          </a:p>
          <a:p>
            <a:r>
              <a:rPr lang="en-US" dirty="0" smtClean="0"/>
              <a:t>	Date and Time</a:t>
            </a:r>
          </a:p>
          <a:p>
            <a:r>
              <a:rPr lang="en-US" dirty="0" smtClean="0"/>
              <a:t>				date   </a:t>
            </a:r>
            <a:r>
              <a:rPr lang="en-US" dirty="0" err="1" smtClean="0"/>
              <a:t>yyyy</a:t>
            </a:r>
            <a:r>
              <a:rPr lang="en-US" dirty="0" smtClean="0"/>
              <a:t>-mm-</a:t>
            </a:r>
            <a:r>
              <a:rPr lang="en-US" dirty="0" err="1" smtClean="0"/>
              <a:t>dd</a:t>
            </a:r>
            <a:endParaRPr lang="en-US" dirty="0" smtClean="0"/>
          </a:p>
          <a:p>
            <a:r>
              <a:rPr lang="en-US" dirty="0" smtClean="0"/>
              <a:t>				time </a:t>
            </a:r>
            <a:r>
              <a:rPr lang="en-US" dirty="0" err="1" smtClean="0"/>
              <a:t>hh:mm:ss</a:t>
            </a:r>
            <a:endParaRPr lang="en-US" dirty="0" smtClean="0"/>
          </a:p>
          <a:p>
            <a:r>
              <a:rPr lang="en-US" dirty="0" smtClean="0"/>
              <a:t>		</a:t>
            </a:r>
            <a:r>
              <a:rPr lang="en-US" b="1" dirty="0" smtClean="0"/>
              <a:t>timestamp </a:t>
            </a:r>
            <a:r>
              <a:rPr lang="en-US" dirty="0" err="1" smtClean="0"/>
              <a:t>yyyy</a:t>
            </a:r>
            <a:r>
              <a:rPr lang="en-US" dirty="0" smtClean="0"/>
              <a:t>-mm-</a:t>
            </a:r>
            <a:r>
              <a:rPr lang="en-US" dirty="0" err="1" smtClean="0"/>
              <a:t>dd</a:t>
            </a:r>
            <a:r>
              <a:rPr lang="en-US" dirty="0" smtClean="0"/>
              <a:t> </a:t>
            </a:r>
            <a:r>
              <a:rPr lang="en-US" dirty="0" err="1" smtClean="0"/>
              <a:t>hh:mm:ss</a:t>
            </a:r>
            <a:endParaRPr lang="en-US" dirty="0" smtClean="0"/>
          </a:p>
          <a:p>
            <a:endParaRPr lang="en-US" dirty="0" smtClean="0"/>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85918" y="142858"/>
            <a:ext cx="5992346" cy="523220"/>
          </a:xfrm>
          <a:prstGeom prst="rect">
            <a:avLst/>
          </a:prstGeom>
        </p:spPr>
        <p:txBody>
          <a:bodyPr wrap="none">
            <a:spAutoFit/>
          </a:bodyPr>
          <a:lstStyle/>
          <a:p>
            <a:r>
              <a:rPr lang="en-US" sz="2800" dirty="0" smtClean="0">
                <a:solidFill>
                  <a:srgbClr val="FF0000"/>
                </a:solidFill>
              </a:rPr>
              <a:t>3.Table definitions (create, alter) </a:t>
            </a:r>
            <a:endParaRPr lang="en-US" sz="2800" dirty="0">
              <a:solidFill>
                <a:srgbClr val="FF0000"/>
              </a:solidFill>
            </a:endParaRPr>
          </a:p>
        </p:txBody>
      </p:sp>
      <p:sp>
        <p:nvSpPr>
          <p:cNvPr id="3" name="Rectangle 2"/>
          <p:cNvSpPr/>
          <p:nvPr/>
        </p:nvSpPr>
        <p:spPr>
          <a:xfrm>
            <a:off x="428596" y="785800"/>
            <a:ext cx="5643602" cy="3108543"/>
          </a:xfrm>
          <a:prstGeom prst="rect">
            <a:avLst/>
          </a:prstGeom>
        </p:spPr>
        <p:txBody>
          <a:bodyPr wrap="square">
            <a:spAutoFit/>
          </a:bodyPr>
          <a:lstStyle/>
          <a:p>
            <a:r>
              <a:rPr lang="en-US" sz="2800" dirty="0" smtClean="0">
                <a:solidFill>
                  <a:srgbClr val="FF0000"/>
                </a:solidFill>
              </a:rPr>
              <a:t>Create: </a:t>
            </a:r>
            <a:r>
              <a:rPr lang="en-US" sz="2800" dirty="0" smtClean="0"/>
              <a:t>used to create table</a:t>
            </a:r>
          </a:p>
          <a:p>
            <a:endParaRPr lang="en-US" sz="2800" dirty="0" smtClean="0"/>
          </a:p>
          <a:p>
            <a:r>
              <a:rPr lang="en-US" sz="2800" dirty="0" smtClean="0">
                <a:solidFill>
                  <a:srgbClr val="FF0000"/>
                </a:solidFill>
              </a:rPr>
              <a:t>Alter: </a:t>
            </a:r>
            <a:r>
              <a:rPr lang="en-US" sz="2800" dirty="0" smtClean="0"/>
              <a:t>used to change schema</a:t>
            </a:r>
          </a:p>
          <a:p>
            <a:r>
              <a:rPr lang="en-US" sz="2800" dirty="0" smtClean="0"/>
              <a:t>               Add a column</a:t>
            </a:r>
          </a:p>
          <a:p>
            <a:r>
              <a:rPr lang="en-US" sz="2800" dirty="0" smtClean="0"/>
              <a:t>               Modify a column</a:t>
            </a:r>
          </a:p>
          <a:p>
            <a:r>
              <a:rPr lang="en-US" sz="2800" dirty="0" smtClean="0"/>
              <a:t>               Rename a column</a:t>
            </a:r>
          </a:p>
          <a:p>
            <a:r>
              <a:rPr lang="en-US" sz="2800" dirty="0" smtClean="0"/>
              <a:t>               Drop a column</a:t>
            </a: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142858"/>
            <a:ext cx="8715436" cy="461665"/>
          </a:xfrm>
          <a:prstGeom prst="rect">
            <a:avLst/>
          </a:prstGeom>
        </p:spPr>
        <p:txBody>
          <a:bodyPr wrap="square">
            <a:spAutoFit/>
          </a:bodyPr>
          <a:lstStyle/>
          <a:p>
            <a:r>
              <a:rPr lang="en-US" sz="2400" dirty="0" smtClean="0">
                <a:solidFill>
                  <a:srgbClr val="FF0000"/>
                </a:solidFill>
              </a:rPr>
              <a:t>4. Different DML operations (insert, delete, update)</a:t>
            </a:r>
            <a:endParaRPr lang="en-US" sz="2400" dirty="0">
              <a:solidFill>
                <a:srgbClr val="FF0000"/>
              </a:solidFill>
            </a:endParaRPr>
          </a:p>
        </p:txBody>
      </p:sp>
      <p:sp>
        <p:nvSpPr>
          <p:cNvPr id="3" name="Rectangle 2"/>
          <p:cNvSpPr/>
          <p:nvPr/>
        </p:nvSpPr>
        <p:spPr>
          <a:xfrm>
            <a:off x="71406" y="714362"/>
            <a:ext cx="8786874" cy="369332"/>
          </a:xfrm>
          <a:prstGeom prst="rect">
            <a:avLst/>
          </a:prstGeom>
        </p:spPr>
        <p:txBody>
          <a:bodyPr wrap="square">
            <a:spAutoFit/>
          </a:bodyPr>
          <a:lstStyle/>
          <a:p>
            <a:r>
              <a:rPr lang="en-US" dirty="0" smtClean="0"/>
              <a:t>DML commands are used to manipulate the data stored inside tables.</a:t>
            </a:r>
            <a:endParaRPr lang="en-US" dirty="0"/>
          </a:p>
        </p:txBody>
      </p:sp>
      <p:sp>
        <p:nvSpPr>
          <p:cNvPr id="4" name="Rectangle 3"/>
          <p:cNvSpPr/>
          <p:nvPr/>
        </p:nvSpPr>
        <p:spPr>
          <a:xfrm>
            <a:off x="714348" y="1142990"/>
            <a:ext cx="6343403" cy="1200329"/>
          </a:xfrm>
          <a:prstGeom prst="rect">
            <a:avLst/>
          </a:prstGeom>
        </p:spPr>
        <p:txBody>
          <a:bodyPr wrap="none">
            <a:spAutoFit/>
          </a:bodyPr>
          <a:lstStyle/>
          <a:p>
            <a:r>
              <a:rPr lang="en-US" sz="2400" dirty="0" smtClean="0">
                <a:solidFill>
                  <a:srgbClr val="FF0000"/>
                </a:solidFill>
              </a:rPr>
              <a:t>insert : </a:t>
            </a:r>
            <a:r>
              <a:rPr lang="en-US" sz="2400" dirty="0" smtClean="0"/>
              <a:t>Used to add new records.</a:t>
            </a:r>
          </a:p>
          <a:p>
            <a:r>
              <a:rPr lang="en-US" sz="2400" dirty="0" smtClean="0">
                <a:solidFill>
                  <a:srgbClr val="FF0000"/>
                </a:solidFill>
              </a:rPr>
              <a:t>delete : </a:t>
            </a:r>
            <a:r>
              <a:rPr lang="en-US" sz="2400" dirty="0" smtClean="0"/>
              <a:t>Used to remove existing records.</a:t>
            </a:r>
          </a:p>
          <a:p>
            <a:r>
              <a:rPr lang="en-US" sz="2400" dirty="0" smtClean="0">
                <a:solidFill>
                  <a:srgbClr val="FF0000"/>
                </a:solidFill>
              </a:rPr>
              <a:t>update : </a:t>
            </a:r>
            <a:r>
              <a:rPr lang="en-US" sz="2400" dirty="0" smtClean="0"/>
              <a:t>Used to modify records.</a:t>
            </a:r>
            <a:endParaRPr lang="en-US" sz="2400" dirty="0"/>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1802" y="71420"/>
            <a:ext cx="2771913" cy="400110"/>
          </a:xfrm>
          <a:prstGeom prst="rect">
            <a:avLst/>
          </a:prstGeom>
        </p:spPr>
        <p:txBody>
          <a:bodyPr wrap="none">
            <a:spAutoFit/>
          </a:bodyPr>
          <a:lstStyle/>
          <a:p>
            <a:r>
              <a:rPr lang="en-US" sz="2000" b="1" dirty="0" smtClean="0">
                <a:solidFill>
                  <a:srgbClr val="FF0000"/>
                </a:solidFill>
              </a:rPr>
              <a:t>5. Relational Algebra</a:t>
            </a:r>
            <a:endParaRPr lang="en-US" sz="2000" b="1" dirty="0">
              <a:solidFill>
                <a:srgbClr val="FF0000"/>
              </a:solidFill>
            </a:endParaRPr>
          </a:p>
        </p:txBody>
      </p:sp>
      <p:sp>
        <p:nvSpPr>
          <p:cNvPr id="3" name="Rectangle 2"/>
          <p:cNvSpPr/>
          <p:nvPr/>
        </p:nvSpPr>
        <p:spPr>
          <a:xfrm>
            <a:off x="71438" y="357172"/>
            <a:ext cx="9001156" cy="923330"/>
          </a:xfrm>
          <a:prstGeom prst="rect">
            <a:avLst/>
          </a:prstGeom>
        </p:spPr>
        <p:txBody>
          <a:bodyPr wrap="square">
            <a:spAutoFit/>
          </a:bodyPr>
          <a:lstStyle/>
          <a:p>
            <a:r>
              <a:rPr lang="en-US" b="1" dirty="0" smtClean="0"/>
              <a:t>Relational Algebra</a:t>
            </a:r>
            <a:r>
              <a:rPr lang="en-US" dirty="0" smtClean="0"/>
              <a:t> is a procedural query language used to retrieve information from relational databases.</a:t>
            </a:r>
          </a:p>
          <a:p>
            <a:r>
              <a:rPr lang="en-US" dirty="0" smtClean="0"/>
              <a:t>It tells us </a:t>
            </a:r>
            <a:r>
              <a:rPr lang="en-US" b="1" dirty="0" smtClean="0"/>
              <a:t>what operation should be performed on a relation</a:t>
            </a:r>
            <a:r>
              <a:rPr lang="en-US" dirty="0" smtClean="0"/>
              <a:t>.</a:t>
            </a:r>
            <a:endParaRPr lang="en-US" dirty="0"/>
          </a:p>
        </p:txBody>
      </p:sp>
      <p:graphicFrame>
        <p:nvGraphicFramePr>
          <p:cNvPr id="4" name="Table 3"/>
          <p:cNvGraphicFramePr>
            <a:graphicFrameLocks noGrp="1"/>
          </p:cNvGraphicFramePr>
          <p:nvPr/>
        </p:nvGraphicFramePr>
        <p:xfrm>
          <a:off x="714348" y="1357304"/>
          <a:ext cx="7215237" cy="2560320"/>
        </p:xfrm>
        <a:graphic>
          <a:graphicData uri="http://schemas.openxmlformats.org/drawingml/2006/table">
            <a:tbl>
              <a:tblPr>
                <a:tableStyleId>{D113A9D2-9D6B-4929-AA2D-F23B5EE8CBE7}</a:tableStyleId>
              </a:tblPr>
              <a:tblGrid>
                <a:gridCol w="1285884"/>
                <a:gridCol w="2357454"/>
                <a:gridCol w="3571899"/>
              </a:tblGrid>
              <a:tr h="0">
                <a:tc>
                  <a:txBody>
                    <a:bodyPr/>
                    <a:lstStyle/>
                    <a:p>
                      <a:r>
                        <a:rPr lang="en-US" dirty="0"/>
                        <a:t>Operator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Use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l-GR"/>
                        <a:t>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Select rows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l-GR"/>
                        <a:t>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Projection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Select columns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Union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Combine relations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Set Difference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Difference between relations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Cartesian 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Combine every row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Join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Combine related tables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ChangeArrowheads="1"/>
          </p:cNvSpPr>
          <p:nvPr/>
        </p:nvSpPr>
        <p:spPr bwMode="auto">
          <a:xfrm>
            <a:off x="142844" y="87797"/>
            <a:ext cx="8715436"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00B050"/>
                </a:solidFill>
                <a:effectLst/>
                <a:latin typeface="Arial" pitchFamily="34" charset="0"/>
                <a:cs typeface="Arial" pitchFamily="34" charset="0"/>
              </a:rPr>
              <a:t>Selection – σ :  </a:t>
            </a:r>
            <a:r>
              <a:rPr kumimoji="0" lang="en-US" sz="2000" b="0" i="0" u="none" strike="noStrike" cap="none" normalizeH="0" baseline="0" dirty="0" smtClean="0">
                <a:ln>
                  <a:noFill/>
                </a:ln>
                <a:solidFill>
                  <a:schemeClr val="tx1"/>
                </a:solidFill>
                <a:effectLst/>
                <a:latin typeface="Arial" pitchFamily="34" charset="0"/>
                <a:cs typeface="Arial" pitchFamily="34" charset="0"/>
              </a:rPr>
              <a:t>Selection retrieves </a:t>
            </a:r>
            <a:r>
              <a:rPr kumimoji="0" lang="en-US" sz="2000" b="1" i="0" u="none" strike="noStrike" cap="none" normalizeH="0" baseline="0" dirty="0" smtClean="0">
                <a:ln>
                  <a:noFill/>
                </a:ln>
                <a:solidFill>
                  <a:schemeClr val="tx1"/>
                </a:solidFill>
                <a:effectLst/>
                <a:latin typeface="Arial" pitchFamily="34" charset="0"/>
                <a:cs typeface="Arial" pitchFamily="34" charset="0"/>
              </a:rPr>
              <a:t>rows</a:t>
            </a:r>
            <a:r>
              <a:rPr kumimoji="0" lang="en-US" sz="2000" b="0" i="0" u="none" strike="noStrike" cap="none" normalizeH="0" baseline="0" dirty="0" smtClean="0">
                <a:ln>
                  <a:noFill/>
                </a:ln>
                <a:solidFill>
                  <a:schemeClr val="tx1"/>
                </a:solidFill>
                <a:effectLst/>
                <a:latin typeface="Arial" pitchFamily="34" charset="0"/>
                <a:cs typeface="Arial" pitchFamily="34" charset="0"/>
              </a:rPr>
              <a:t> satisfying a condition.</a:t>
            </a:r>
          </a:p>
        </p:txBody>
      </p:sp>
      <p:sp>
        <p:nvSpPr>
          <p:cNvPr id="3" name="Rectangle 2"/>
          <p:cNvSpPr/>
          <p:nvPr/>
        </p:nvSpPr>
        <p:spPr>
          <a:xfrm>
            <a:off x="214282" y="571486"/>
            <a:ext cx="8358246" cy="923330"/>
          </a:xfrm>
          <a:prstGeom prst="rect">
            <a:avLst/>
          </a:prstGeom>
        </p:spPr>
        <p:txBody>
          <a:bodyPr wrap="square">
            <a:spAutoFit/>
          </a:bodyPr>
          <a:lstStyle/>
          <a:p>
            <a:pPr lvl="0" algn="ctr"/>
            <a:r>
              <a:rPr lang="en-US" dirty="0" smtClean="0">
                <a:latin typeface="Arial Unicode MS" pitchFamily="34" charset="-128"/>
                <a:cs typeface="Arial" pitchFamily="34" charset="0"/>
              </a:rPr>
              <a:t>Ex: STUDENT(SID, SNAME, AGE, DEPT)</a:t>
            </a:r>
            <a:endParaRPr lang="en-US" dirty="0" smtClean="0">
              <a:latin typeface="Arial" pitchFamily="34" charset="0"/>
              <a:cs typeface="Arial" pitchFamily="34" charset="0"/>
            </a:endParaRPr>
          </a:p>
          <a:p>
            <a:r>
              <a:rPr lang="en-US" dirty="0" smtClean="0"/>
              <a:t>find students whose age is greater than 20:</a:t>
            </a:r>
          </a:p>
          <a:p>
            <a:r>
              <a:rPr lang="el-GR" dirty="0" smtClean="0"/>
              <a:t>σ </a:t>
            </a:r>
            <a:r>
              <a:rPr lang="en-US" dirty="0" smtClean="0"/>
              <a:t>AGE &gt; 20 (STUDENT)</a:t>
            </a:r>
            <a:endParaRPr lang="en-US" dirty="0"/>
          </a:p>
        </p:txBody>
      </p:sp>
      <p:sp>
        <p:nvSpPr>
          <p:cNvPr id="4" name="Rectangle 3"/>
          <p:cNvSpPr/>
          <p:nvPr/>
        </p:nvSpPr>
        <p:spPr>
          <a:xfrm>
            <a:off x="71406" y="1500180"/>
            <a:ext cx="8643998" cy="677108"/>
          </a:xfrm>
          <a:prstGeom prst="rect">
            <a:avLst/>
          </a:prstGeom>
        </p:spPr>
        <p:txBody>
          <a:bodyPr wrap="square">
            <a:spAutoFit/>
          </a:bodyPr>
          <a:lstStyle/>
          <a:p>
            <a:r>
              <a:rPr lang="en-US" b="1" dirty="0" smtClean="0">
                <a:solidFill>
                  <a:srgbClr val="00B050"/>
                </a:solidFill>
              </a:rPr>
              <a:t>Projection – π : </a:t>
            </a:r>
            <a:r>
              <a:rPr lang="en-US" dirty="0" smtClean="0"/>
              <a:t>Projection retrieves </a:t>
            </a:r>
            <a:r>
              <a:rPr lang="en-US" b="1" dirty="0" smtClean="0"/>
              <a:t>columns</a:t>
            </a:r>
            <a:r>
              <a:rPr lang="en-US" dirty="0" smtClean="0"/>
              <a:t>.</a:t>
            </a:r>
          </a:p>
          <a:p>
            <a:r>
              <a:rPr lang="en-US" dirty="0" smtClean="0"/>
              <a:t>To display only student names: </a:t>
            </a:r>
            <a:r>
              <a:rPr lang="el-GR" sz="2000" b="1" dirty="0" smtClean="0">
                <a:solidFill>
                  <a:srgbClr val="00B050"/>
                </a:solidFill>
              </a:rPr>
              <a:t>π </a:t>
            </a:r>
            <a:r>
              <a:rPr lang="en-US" sz="2000" b="1" dirty="0" smtClean="0">
                <a:solidFill>
                  <a:srgbClr val="00B050"/>
                </a:solidFill>
              </a:rPr>
              <a:t>SNAME (STUDENT)</a:t>
            </a:r>
            <a:endParaRPr lang="en-US" sz="2000" b="1" dirty="0">
              <a:solidFill>
                <a:srgbClr val="00B050"/>
              </a:solidFill>
            </a:endParaRPr>
          </a:p>
        </p:txBody>
      </p:sp>
      <p:sp>
        <p:nvSpPr>
          <p:cNvPr id="5" name="Rectangle 4"/>
          <p:cNvSpPr/>
          <p:nvPr/>
        </p:nvSpPr>
        <p:spPr>
          <a:xfrm>
            <a:off x="214282" y="2357436"/>
            <a:ext cx="8715436" cy="369332"/>
          </a:xfrm>
          <a:prstGeom prst="rect">
            <a:avLst/>
          </a:prstGeom>
          <a:solidFill>
            <a:srgbClr val="92D050"/>
          </a:solidFill>
        </p:spPr>
        <p:txBody>
          <a:bodyPr wrap="square">
            <a:spAutoFit/>
          </a:bodyPr>
          <a:lstStyle/>
          <a:p>
            <a:r>
              <a:rPr lang="en-US" dirty="0" smtClean="0"/>
              <a:t>find the </a:t>
            </a:r>
            <a:r>
              <a:rPr lang="en-US" b="1" dirty="0" smtClean="0"/>
              <a:t>names and departments</a:t>
            </a:r>
            <a:r>
              <a:rPr lang="en-US" dirty="0" smtClean="0"/>
              <a:t> of students whose </a:t>
            </a:r>
            <a:r>
              <a:rPr lang="en-US" b="1" dirty="0" smtClean="0"/>
              <a:t>age is greater than 20</a:t>
            </a:r>
            <a:endParaRPr lang="en-US" dirty="0"/>
          </a:p>
        </p:txBody>
      </p:sp>
      <p:sp>
        <p:nvSpPr>
          <p:cNvPr id="6" name="Rectangle 5"/>
          <p:cNvSpPr/>
          <p:nvPr/>
        </p:nvSpPr>
        <p:spPr>
          <a:xfrm>
            <a:off x="71406" y="3000378"/>
            <a:ext cx="2755883" cy="369332"/>
          </a:xfrm>
          <a:prstGeom prst="rect">
            <a:avLst/>
          </a:prstGeom>
          <a:ln>
            <a:solidFill>
              <a:schemeClr val="tx2">
                <a:lumMod val="40000"/>
                <a:lumOff val="60000"/>
              </a:schemeClr>
            </a:solidFill>
          </a:ln>
        </p:spPr>
        <p:txBody>
          <a:bodyPr wrap="none">
            <a:spAutoFit/>
          </a:bodyPr>
          <a:lstStyle/>
          <a:p>
            <a:r>
              <a:rPr lang="el-GR" dirty="0" smtClean="0"/>
              <a:t>σ </a:t>
            </a:r>
            <a:r>
              <a:rPr lang="en-US" dirty="0" smtClean="0"/>
              <a:t>AGE &gt; 20 (STUDENT)</a:t>
            </a:r>
            <a:endParaRPr lang="en-US" dirty="0"/>
          </a:p>
        </p:txBody>
      </p:sp>
      <p:sp>
        <p:nvSpPr>
          <p:cNvPr id="7" name="Rectangle 6"/>
          <p:cNvSpPr/>
          <p:nvPr/>
        </p:nvSpPr>
        <p:spPr>
          <a:xfrm>
            <a:off x="3929058" y="2988236"/>
            <a:ext cx="5143536" cy="369332"/>
          </a:xfrm>
          <a:prstGeom prst="rect">
            <a:avLst/>
          </a:prstGeom>
          <a:ln>
            <a:solidFill>
              <a:srgbClr val="00B050"/>
            </a:solidFill>
          </a:ln>
        </p:spPr>
        <p:txBody>
          <a:bodyPr wrap="square">
            <a:spAutoFit/>
          </a:bodyPr>
          <a:lstStyle/>
          <a:p>
            <a:r>
              <a:rPr lang="en-US" dirty="0" smtClean="0"/>
              <a:t>π SNAME, DEPT ( σ AGE &gt; 20 (STUDENT) )</a:t>
            </a:r>
            <a:endParaRPr lang="en-US" dirty="0"/>
          </a:p>
        </p:txBody>
      </p:sp>
      <p:cxnSp>
        <p:nvCxnSpPr>
          <p:cNvPr id="9" name="Straight Arrow Connector 8"/>
          <p:cNvCxnSpPr>
            <a:stCxn id="6" idx="3"/>
            <a:endCxn id="7" idx="1"/>
          </p:cNvCxnSpPr>
          <p:nvPr/>
        </p:nvCxnSpPr>
        <p:spPr>
          <a:xfrm flipV="1">
            <a:off x="2827289" y="3172902"/>
            <a:ext cx="1101769" cy="12142"/>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42844" y="120026"/>
          <a:ext cx="3286148" cy="4023360"/>
        </p:xfrm>
        <a:graphic>
          <a:graphicData uri="http://schemas.openxmlformats.org/drawingml/2006/table">
            <a:tbl>
              <a:tblPr>
                <a:tableStyleId>{775DCB02-9BB8-47FD-8907-85C794F793BA}</a:tableStyleId>
              </a:tblPr>
              <a:tblGrid>
                <a:gridCol w="689293"/>
                <a:gridCol w="979805"/>
                <a:gridCol w="682942"/>
                <a:gridCol w="934108"/>
              </a:tblGrid>
              <a:tr h="0">
                <a:tc>
                  <a:txBody>
                    <a:bodyPr/>
                    <a:lstStyle/>
                    <a:p>
                      <a:r>
                        <a:rPr lang="en-US" dirty="0"/>
                        <a:t>SID</a:t>
                      </a:r>
                    </a:p>
                  </a:txBody>
                  <a:tcPr anchor="ctr"/>
                </a:tc>
                <a:tc>
                  <a:txBody>
                    <a:bodyPr/>
                    <a:lstStyle/>
                    <a:p>
                      <a:r>
                        <a:rPr lang="en-US"/>
                        <a:t>Name</a:t>
                      </a:r>
                    </a:p>
                  </a:txBody>
                  <a:tcPr anchor="ctr"/>
                </a:tc>
                <a:tc>
                  <a:txBody>
                    <a:bodyPr/>
                    <a:lstStyle/>
                    <a:p>
                      <a:pPr algn="r"/>
                      <a:r>
                        <a:rPr lang="en-US"/>
                        <a:t>Age</a:t>
                      </a:r>
                    </a:p>
                  </a:txBody>
                  <a:tcPr anchor="ctr"/>
                </a:tc>
                <a:tc>
                  <a:txBody>
                    <a:bodyPr/>
                    <a:lstStyle/>
                    <a:p>
                      <a:r>
                        <a:rPr lang="en-US" dirty="0"/>
                        <a:t>Dept</a:t>
                      </a:r>
                    </a:p>
                  </a:txBody>
                  <a:tcPr anchor="ctr"/>
                </a:tc>
              </a:tr>
              <a:tr h="0">
                <a:tc>
                  <a:txBody>
                    <a:bodyPr/>
                    <a:lstStyle/>
                    <a:p>
                      <a:pPr marL="0" algn="l" rtl="0" eaLnBrk="1" latinLnBrk="0" hangingPunct="1"/>
                      <a:r>
                        <a:rPr kumimoji="0" lang="en-US" kern="1200" dirty="0" smtClean="0">
                          <a:solidFill>
                            <a:schemeClr val="dk1"/>
                          </a:solidFill>
                          <a:latin typeface="+mn-lt"/>
                          <a:ea typeface="+mn-ea"/>
                          <a:cs typeface="+mn-cs"/>
                        </a:rPr>
                        <a:t>101</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a:solidFill>
                            <a:schemeClr val="dk1"/>
                          </a:solidFill>
                          <a:latin typeface="+mn-lt"/>
                          <a:ea typeface="+mn-ea"/>
                          <a:cs typeface="+mn-cs"/>
                        </a:rPr>
                        <a:t>Ravi</a:t>
                      </a:r>
                    </a:p>
                  </a:txBody>
                  <a:tcPr anchor="ctr"/>
                </a:tc>
                <a:tc>
                  <a:txBody>
                    <a:bodyPr/>
                    <a:lstStyle/>
                    <a:p>
                      <a:pPr marL="0" algn="l" rtl="0" eaLnBrk="1" latinLnBrk="0" hangingPunct="1"/>
                      <a:r>
                        <a:rPr kumimoji="0" lang="en-US" kern="1200">
                          <a:solidFill>
                            <a:schemeClr val="dk1"/>
                          </a:solidFill>
                          <a:latin typeface="+mn-lt"/>
                          <a:ea typeface="+mn-ea"/>
                          <a:cs typeface="+mn-cs"/>
                        </a:rPr>
                        <a:t>20</a:t>
                      </a:r>
                    </a:p>
                  </a:txBody>
                  <a:tcPr anchor="ctr"/>
                </a:tc>
                <a:tc>
                  <a:txBody>
                    <a:bodyPr/>
                    <a:lstStyle/>
                    <a:p>
                      <a:pPr marL="0" algn="l" rtl="0" eaLnBrk="1" latinLnBrk="0" hangingPunct="1"/>
                      <a:r>
                        <a:rPr kumimoji="0" lang="en-US" kern="1200">
                          <a:solidFill>
                            <a:schemeClr val="dk1"/>
                          </a:solidFill>
                          <a:latin typeface="+mn-lt"/>
                          <a:ea typeface="+mn-ea"/>
                          <a:cs typeface="+mn-cs"/>
                        </a:rPr>
                        <a:t>CSE</a:t>
                      </a:r>
                    </a:p>
                  </a:txBody>
                  <a:tcPr anchor="ctr"/>
                </a:tc>
              </a:tr>
              <a:tr h="0">
                <a:tc>
                  <a:txBody>
                    <a:bodyPr/>
                    <a:lstStyle/>
                    <a:p>
                      <a:pPr marL="0" algn="l" rtl="0" eaLnBrk="1" latinLnBrk="0" hangingPunct="1"/>
                      <a:r>
                        <a:rPr kumimoji="0" lang="en-US" kern="1200" smtClean="0">
                          <a:solidFill>
                            <a:schemeClr val="dk1"/>
                          </a:solidFill>
                          <a:latin typeface="+mn-lt"/>
                          <a:ea typeface="+mn-ea"/>
                          <a:cs typeface="+mn-cs"/>
                        </a:rPr>
                        <a:t>102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Siva</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smtClean="0">
                          <a:solidFill>
                            <a:schemeClr val="dk1"/>
                          </a:solidFill>
                          <a:latin typeface="+mn-lt"/>
                          <a:ea typeface="+mn-ea"/>
                          <a:cs typeface="+mn-cs"/>
                        </a:rPr>
                        <a:t>22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ECE</a:t>
                      </a:r>
                      <a:endParaRPr kumimoji="0" lang="en-US" kern="1200" dirty="0">
                        <a:solidFill>
                          <a:schemeClr val="dk1"/>
                        </a:solidFill>
                        <a:latin typeface="+mn-lt"/>
                        <a:ea typeface="+mn-ea"/>
                        <a:cs typeface="+mn-cs"/>
                      </a:endParaRPr>
                    </a:p>
                  </a:txBody>
                  <a:tcPr anchor="ctr"/>
                </a:tc>
              </a:tr>
              <a:tr h="0">
                <a:tc>
                  <a:txBody>
                    <a:bodyPr/>
                    <a:lstStyle/>
                    <a:p>
                      <a:pPr marL="0" algn="l" rtl="0" eaLnBrk="1" latinLnBrk="0" hangingPunct="1"/>
                      <a:r>
                        <a:rPr kumimoji="0" lang="en-US" kern="1200" dirty="0" smtClean="0">
                          <a:solidFill>
                            <a:schemeClr val="dk1"/>
                          </a:solidFill>
                          <a:latin typeface="+mn-lt"/>
                          <a:ea typeface="+mn-ea"/>
                          <a:cs typeface="+mn-cs"/>
                        </a:rPr>
                        <a:t>103</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a:solidFill>
                            <a:schemeClr val="dk1"/>
                          </a:solidFill>
                          <a:latin typeface="+mn-lt"/>
                          <a:ea typeface="+mn-ea"/>
                          <a:cs typeface="+mn-cs"/>
                        </a:rPr>
                        <a:t>Kumar</a:t>
                      </a:r>
                    </a:p>
                  </a:txBody>
                  <a:tcPr anchor="ctr"/>
                </a:tc>
                <a:tc>
                  <a:txBody>
                    <a:bodyPr/>
                    <a:lstStyle/>
                    <a:p>
                      <a:pPr marL="0" algn="l" rtl="0" eaLnBrk="1" latinLnBrk="0" hangingPunct="1"/>
                      <a:r>
                        <a:rPr kumimoji="0" lang="en-US" kern="1200" dirty="0">
                          <a:solidFill>
                            <a:schemeClr val="dk1"/>
                          </a:solidFill>
                          <a:latin typeface="+mn-lt"/>
                          <a:ea typeface="+mn-ea"/>
                          <a:cs typeface="+mn-cs"/>
                        </a:rPr>
                        <a:t>21</a:t>
                      </a:r>
                    </a:p>
                  </a:txBody>
                  <a:tcPr anchor="ctr"/>
                </a:tc>
                <a:tc>
                  <a:txBody>
                    <a:bodyPr/>
                    <a:lstStyle/>
                    <a:p>
                      <a:pPr marL="0" algn="l" rtl="0" eaLnBrk="1" latinLnBrk="0" hangingPunct="1"/>
                      <a:r>
                        <a:rPr kumimoji="0" lang="en-US" kern="1200" dirty="0">
                          <a:solidFill>
                            <a:schemeClr val="dk1"/>
                          </a:solidFill>
                          <a:latin typeface="+mn-lt"/>
                          <a:ea typeface="+mn-ea"/>
                          <a:cs typeface="+mn-cs"/>
                        </a:rPr>
                        <a:t>CSE</a:t>
                      </a:r>
                    </a:p>
                  </a:txBody>
                  <a:tcPr anchor="ctr"/>
                </a:tc>
              </a:tr>
              <a:tr h="0">
                <a:tc>
                  <a:txBody>
                    <a:bodyPr/>
                    <a:lstStyle/>
                    <a:p>
                      <a:pPr marL="0" algn="l" rtl="0" eaLnBrk="1" latinLnBrk="0" hangingPunct="1"/>
                      <a:r>
                        <a:rPr kumimoji="0" lang="en-US" kern="1200">
                          <a:solidFill>
                            <a:schemeClr val="dk1"/>
                          </a:solidFill>
                          <a:latin typeface="+mn-lt"/>
                          <a:ea typeface="+mn-ea"/>
                          <a:cs typeface="+mn-cs"/>
                        </a:rPr>
                        <a:t>104</a:t>
                      </a:r>
                    </a:p>
                  </a:txBody>
                  <a:tcPr anchor="ctr"/>
                </a:tc>
                <a:tc>
                  <a:txBody>
                    <a:bodyPr/>
                    <a:lstStyle/>
                    <a:p>
                      <a:pPr marL="0" algn="l" rtl="0" eaLnBrk="1" latinLnBrk="0" hangingPunct="1"/>
                      <a:r>
                        <a:rPr kumimoji="0" lang="en-US" kern="1200">
                          <a:solidFill>
                            <a:schemeClr val="dk1"/>
                          </a:solidFill>
                          <a:latin typeface="+mn-lt"/>
                          <a:ea typeface="+mn-ea"/>
                          <a:cs typeface="+mn-cs"/>
                        </a:rPr>
                        <a:t>Anu</a:t>
                      </a:r>
                    </a:p>
                  </a:txBody>
                  <a:tcPr anchor="ctr"/>
                </a:tc>
                <a:tc>
                  <a:txBody>
                    <a:bodyPr/>
                    <a:lstStyle/>
                    <a:p>
                      <a:pPr marL="0" algn="l" rtl="0" eaLnBrk="1" latinLnBrk="0" hangingPunct="1"/>
                      <a:r>
                        <a:rPr kumimoji="0" lang="en-US" kern="1200" dirty="0">
                          <a:solidFill>
                            <a:schemeClr val="dk1"/>
                          </a:solidFill>
                          <a:latin typeface="+mn-lt"/>
                          <a:ea typeface="+mn-ea"/>
                          <a:cs typeface="+mn-cs"/>
                        </a:rPr>
                        <a:t>23</a:t>
                      </a:r>
                    </a:p>
                  </a:txBody>
                  <a:tcPr anchor="ctr"/>
                </a:tc>
                <a:tc>
                  <a:txBody>
                    <a:bodyPr/>
                    <a:lstStyle/>
                    <a:p>
                      <a:pPr marL="0" algn="l" rtl="0" eaLnBrk="1" latinLnBrk="0" hangingPunct="1"/>
                      <a:r>
                        <a:rPr kumimoji="0" lang="en-US" kern="1200" dirty="0" smtClean="0">
                          <a:solidFill>
                            <a:schemeClr val="dk1"/>
                          </a:solidFill>
                          <a:latin typeface="+mn-lt"/>
                          <a:ea typeface="+mn-ea"/>
                          <a:cs typeface="+mn-cs"/>
                        </a:rPr>
                        <a:t>EEE</a:t>
                      </a:r>
                      <a:endParaRPr kumimoji="0" lang="en-US" kern="1200" dirty="0">
                        <a:solidFill>
                          <a:schemeClr val="dk1"/>
                        </a:solidFill>
                        <a:latin typeface="+mn-lt"/>
                        <a:ea typeface="+mn-ea"/>
                        <a:cs typeface="+mn-cs"/>
                      </a:endParaRPr>
                    </a:p>
                  </a:txBody>
                  <a:tcPr anchor="ctr"/>
                </a:tc>
              </a:tr>
              <a:tr h="0">
                <a:tc>
                  <a:txBody>
                    <a:bodyPr/>
                    <a:lstStyle/>
                    <a:p>
                      <a:pPr marL="0" algn="l" rtl="0" eaLnBrk="1" latinLnBrk="0" hangingPunct="1"/>
                      <a:r>
                        <a:rPr kumimoji="0" lang="en-US" kern="1200" dirty="0" smtClean="0">
                          <a:solidFill>
                            <a:schemeClr val="dk1"/>
                          </a:solidFill>
                          <a:latin typeface="+mn-lt"/>
                          <a:ea typeface="+mn-ea"/>
                          <a:cs typeface="+mn-cs"/>
                        </a:rPr>
                        <a:t>105</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Ram</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21</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CIVIL</a:t>
                      </a:r>
                      <a:endParaRPr kumimoji="0" lang="en-US" kern="1200" dirty="0">
                        <a:solidFill>
                          <a:schemeClr val="dk1"/>
                        </a:solidFill>
                        <a:latin typeface="+mn-lt"/>
                        <a:ea typeface="+mn-ea"/>
                        <a:cs typeface="+mn-cs"/>
                      </a:endParaRPr>
                    </a:p>
                  </a:txBody>
                  <a:tcPr anchor="ctr"/>
                </a:tc>
              </a:tr>
              <a:tr h="0">
                <a:tc>
                  <a:txBody>
                    <a:bodyPr/>
                    <a:lstStyle/>
                    <a:p>
                      <a:pPr marL="0" algn="l" rtl="0" eaLnBrk="1" latinLnBrk="0" hangingPunct="1"/>
                      <a:r>
                        <a:rPr kumimoji="0" lang="en-US" kern="1200" dirty="0" smtClean="0">
                          <a:solidFill>
                            <a:schemeClr val="dk1"/>
                          </a:solidFill>
                          <a:latin typeface="+mn-lt"/>
                          <a:ea typeface="+mn-ea"/>
                          <a:cs typeface="+mn-cs"/>
                        </a:rPr>
                        <a:t>106</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err="1" smtClean="0">
                          <a:solidFill>
                            <a:schemeClr val="dk1"/>
                          </a:solidFill>
                          <a:latin typeface="+mn-lt"/>
                          <a:ea typeface="+mn-ea"/>
                          <a:cs typeface="+mn-cs"/>
                        </a:rPr>
                        <a:t>Abhi</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ECE</a:t>
                      </a:r>
                      <a:endParaRPr kumimoji="0" lang="en-US" kern="1200" dirty="0">
                        <a:solidFill>
                          <a:schemeClr val="dk1"/>
                        </a:solidFill>
                        <a:latin typeface="+mn-lt"/>
                        <a:ea typeface="+mn-ea"/>
                        <a:cs typeface="+mn-cs"/>
                      </a:endParaRPr>
                    </a:p>
                  </a:txBody>
                  <a:tcPr anchor="ctr"/>
                </a:tc>
              </a:tr>
              <a:tr h="0">
                <a:tc>
                  <a:txBody>
                    <a:bodyPr/>
                    <a:lstStyle/>
                    <a:p>
                      <a:pPr marL="0" algn="l" rtl="0" eaLnBrk="1" latinLnBrk="0" hangingPunct="1"/>
                      <a:r>
                        <a:rPr kumimoji="0" lang="en-US" kern="1200" dirty="0" smtClean="0">
                          <a:solidFill>
                            <a:schemeClr val="dk1"/>
                          </a:solidFill>
                          <a:latin typeface="+mn-lt"/>
                          <a:ea typeface="+mn-ea"/>
                          <a:cs typeface="+mn-cs"/>
                        </a:rPr>
                        <a:t>107</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err="1" smtClean="0">
                          <a:solidFill>
                            <a:schemeClr val="dk1"/>
                          </a:solidFill>
                          <a:latin typeface="+mn-lt"/>
                          <a:ea typeface="+mn-ea"/>
                          <a:cs typeface="+mn-cs"/>
                        </a:rPr>
                        <a:t>Sita</a:t>
                      </a:r>
                      <a:r>
                        <a:rPr kumimoji="0" lang="en-US" kern="1200" dirty="0" smtClean="0">
                          <a:solidFill>
                            <a:schemeClr val="dk1"/>
                          </a:solidFill>
                          <a:latin typeface="+mn-lt"/>
                          <a:ea typeface="+mn-ea"/>
                          <a:cs typeface="+mn-cs"/>
                        </a:rPr>
                        <a:t> </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21</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CSE</a:t>
                      </a:r>
                      <a:endParaRPr kumimoji="0" lang="en-US" kern="1200" dirty="0">
                        <a:solidFill>
                          <a:schemeClr val="dk1"/>
                        </a:solidFill>
                        <a:latin typeface="+mn-lt"/>
                        <a:ea typeface="+mn-ea"/>
                        <a:cs typeface="+mn-cs"/>
                      </a:endParaRPr>
                    </a:p>
                  </a:txBody>
                  <a:tcPr anchor="ctr"/>
                </a:tc>
              </a:tr>
              <a:tr h="0">
                <a:tc>
                  <a:txBody>
                    <a:bodyPr/>
                    <a:lstStyle/>
                    <a:p>
                      <a:pPr marL="0" algn="l" rtl="0" eaLnBrk="1" latinLnBrk="0" hangingPunct="1"/>
                      <a:r>
                        <a:rPr kumimoji="0" lang="en-US" kern="1200" dirty="0" smtClean="0">
                          <a:solidFill>
                            <a:schemeClr val="dk1"/>
                          </a:solidFill>
                          <a:latin typeface="+mn-lt"/>
                          <a:ea typeface="+mn-ea"/>
                          <a:cs typeface="+mn-cs"/>
                        </a:rPr>
                        <a:t>108</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err="1" smtClean="0">
                          <a:solidFill>
                            <a:schemeClr val="dk1"/>
                          </a:solidFill>
                          <a:latin typeface="+mn-lt"/>
                          <a:ea typeface="+mn-ea"/>
                          <a:cs typeface="+mn-cs"/>
                        </a:rPr>
                        <a:t>Teja</a:t>
                      </a:r>
                      <a:r>
                        <a:rPr kumimoji="0" lang="en-US" kern="1200" dirty="0" smtClean="0">
                          <a:solidFill>
                            <a:schemeClr val="dk1"/>
                          </a:solidFill>
                          <a:latin typeface="+mn-lt"/>
                          <a:ea typeface="+mn-ea"/>
                          <a:cs typeface="+mn-cs"/>
                        </a:rPr>
                        <a:t> </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CIVIL </a:t>
                      </a:r>
                      <a:endParaRPr kumimoji="0" lang="en-US" kern="1200" dirty="0">
                        <a:solidFill>
                          <a:schemeClr val="dk1"/>
                        </a:solidFill>
                        <a:latin typeface="+mn-lt"/>
                        <a:ea typeface="+mn-ea"/>
                        <a:cs typeface="+mn-cs"/>
                      </a:endParaRPr>
                    </a:p>
                  </a:txBody>
                  <a:tcPr anchor="ctr"/>
                </a:tc>
              </a:tr>
              <a:tr h="0">
                <a:tc>
                  <a:txBody>
                    <a:bodyPr/>
                    <a:lstStyle/>
                    <a:p>
                      <a:pPr marL="0" algn="l" rtl="0" eaLnBrk="1" latinLnBrk="0" hangingPunct="1"/>
                      <a:r>
                        <a:rPr kumimoji="0" lang="en-US" kern="1200" dirty="0" smtClean="0">
                          <a:solidFill>
                            <a:schemeClr val="dk1"/>
                          </a:solidFill>
                          <a:latin typeface="+mn-lt"/>
                          <a:ea typeface="+mn-ea"/>
                          <a:cs typeface="+mn-cs"/>
                        </a:rPr>
                        <a:t>109</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Siva </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smtClean="0">
                          <a:solidFill>
                            <a:schemeClr val="dk1"/>
                          </a:solidFill>
                          <a:latin typeface="+mn-lt"/>
                          <a:ea typeface="+mn-ea"/>
                          <a:cs typeface="+mn-cs"/>
                        </a:rPr>
                        <a:t>23</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EEE</a:t>
                      </a:r>
                      <a:endParaRPr kumimoji="0" lang="en-US" kern="1200" dirty="0">
                        <a:solidFill>
                          <a:schemeClr val="dk1"/>
                        </a:solidFill>
                        <a:latin typeface="+mn-lt"/>
                        <a:ea typeface="+mn-ea"/>
                        <a:cs typeface="+mn-cs"/>
                      </a:endParaRPr>
                    </a:p>
                  </a:txBody>
                  <a:tcPr anchor="ctr"/>
                </a:tc>
              </a:tr>
              <a:tr h="0">
                <a:tc>
                  <a:txBody>
                    <a:bodyPr/>
                    <a:lstStyle/>
                    <a:p>
                      <a:pPr marL="0" algn="l" rtl="0" eaLnBrk="1" latinLnBrk="0" hangingPunct="1"/>
                      <a:r>
                        <a:rPr kumimoji="0" lang="en-US" kern="1200" dirty="0" smtClean="0">
                          <a:solidFill>
                            <a:schemeClr val="dk1"/>
                          </a:solidFill>
                          <a:latin typeface="+mn-lt"/>
                          <a:ea typeface="+mn-ea"/>
                          <a:cs typeface="+mn-cs"/>
                        </a:rPr>
                        <a:t>110</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err="1" smtClean="0">
                          <a:solidFill>
                            <a:schemeClr val="dk1"/>
                          </a:solidFill>
                          <a:latin typeface="+mn-lt"/>
                          <a:ea typeface="+mn-ea"/>
                          <a:cs typeface="+mn-cs"/>
                        </a:rPr>
                        <a:t>Pqr</a:t>
                      </a:r>
                      <a:r>
                        <a:rPr kumimoji="0" lang="en-US" kern="1200" dirty="0" smtClean="0">
                          <a:solidFill>
                            <a:schemeClr val="dk1"/>
                          </a:solidFill>
                          <a:latin typeface="+mn-lt"/>
                          <a:ea typeface="+mn-ea"/>
                          <a:cs typeface="+mn-cs"/>
                        </a:rPr>
                        <a:t> </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MECH</a:t>
                      </a:r>
                      <a:endParaRPr kumimoji="0" lang="en-US" kern="1200" dirty="0">
                        <a:solidFill>
                          <a:schemeClr val="dk1"/>
                        </a:solidFill>
                        <a:latin typeface="+mn-lt"/>
                        <a:ea typeface="+mn-ea"/>
                        <a:cs typeface="+mn-cs"/>
                      </a:endParaRPr>
                    </a:p>
                  </a:txBody>
                  <a:tcPr anchor="ctr"/>
                </a:tc>
              </a:tr>
            </a:tbl>
          </a:graphicData>
        </a:graphic>
      </p:graphicFrame>
      <p:sp>
        <p:nvSpPr>
          <p:cNvPr id="3" name="Rectangle 2"/>
          <p:cNvSpPr/>
          <p:nvPr/>
        </p:nvSpPr>
        <p:spPr>
          <a:xfrm>
            <a:off x="3587671" y="214296"/>
            <a:ext cx="5556329" cy="1200329"/>
          </a:xfrm>
          <a:prstGeom prst="rect">
            <a:avLst/>
          </a:prstGeom>
        </p:spPr>
        <p:txBody>
          <a:bodyPr wrap="none">
            <a:spAutoFit/>
          </a:bodyPr>
          <a:lstStyle/>
          <a:p>
            <a:pPr marL="342900" indent="-342900">
              <a:buAutoNum type="arabicPeriod"/>
            </a:pPr>
            <a:r>
              <a:rPr lang="en-US" dirty="0" smtClean="0"/>
              <a:t>Select CSE students</a:t>
            </a:r>
          </a:p>
          <a:p>
            <a:pPr marL="342900" indent="-342900">
              <a:buAutoNum type="arabicPeriod"/>
            </a:pPr>
            <a:r>
              <a:rPr lang="en-US" dirty="0" smtClean="0"/>
              <a:t>Select students whose age is greater than 21</a:t>
            </a:r>
          </a:p>
          <a:p>
            <a:pPr marL="342900" indent="-342900">
              <a:buAutoNum type="arabicPeriod"/>
            </a:pPr>
            <a:r>
              <a:rPr lang="en-US" dirty="0" smtClean="0"/>
              <a:t>Display only student names</a:t>
            </a:r>
          </a:p>
          <a:p>
            <a:pPr marL="342900" indent="-342900">
              <a:buAutoNum type="arabicPeriod"/>
            </a:pPr>
            <a:r>
              <a:rPr lang="en-US" dirty="0" smtClean="0"/>
              <a:t>Display Name and Department</a:t>
            </a:r>
            <a:endParaRPr lang="en-US" dirty="0"/>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 y="-18"/>
            <a:ext cx="8715436" cy="1015663"/>
          </a:xfrm>
          <a:prstGeom prst="rect">
            <a:avLst/>
          </a:prstGeom>
        </p:spPr>
        <p:txBody>
          <a:bodyPr wrap="square">
            <a:spAutoFit/>
          </a:bodyPr>
          <a:lstStyle/>
          <a:p>
            <a:pPr algn="ctr"/>
            <a:r>
              <a:rPr lang="en-US" sz="2400" b="1" dirty="0" smtClean="0">
                <a:solidFill>
                  <a:srgbClr val="FF0000"/>
                </a:solidFill>
              </a:rPr>
              <a:t>6.Relational Calculus</a:t>
            </a:r>
          </a:p>
          <a:p>
            <a:r>
              <a:rPr lang="en-US" b="1" dirty="0" smtClean="0"/>
              <a:t>Relational Calculus</a:t>
            </a:r>
            <a:r>
              <a:rPr lang="en-US" dirty="0" smtClean="0"/>
              <a:t> is a </a:t>
            </a:r>
            <a:r>
              <a:rPr lang="en-US" b="1" dirty="0" smtClean="0"/>
              <a:t>non-procedural query language</a:t>
            </a:r>
            <a:r>
              <a:rPr lang="en-US" dirty="0" smtClean="0"/>
              <a:t> used in DBMS.</a:t>
            </a:r>
          </a:p>
          <a:p>
            <a:r>
              <a:rPr lang="en-US" dirty="0" smtClean="0"/>
              <a:t>It tells us </a:t>
            </a:r>
            <a:r>
              <a:rPr lang="en-US" b="1" dirty="0" smtClean="0"/>
              <a:t>what data is required</a:t>
            </a:r>
            <a:r>
              <a:rPr lang="en-US" dirty="0" smtClean="0"/>
              <a:t>, but not </a:t>
            </a:r>
            <a:r>
              <a:rPr lang="en-US" b="1" dirty="0" smtClean="0"/>
              <a:t>how to retrieve the data</a:t>
            </a:r>
            <a:r>
              <a:rPr lang="en-US" dirty="0" smtClean="0"/>
              <a:t>.</a:t>
            </a:r>
            <a:endParaRPr lang="en-US" dirty="0"/>
          </a:p>
        </p:txBody>
      </p:sp>
      <p:graphicFrame>
        <p:nvGraphicFramePr>
          <p:cNvPr id="3" name="Table 2"/>
          <p:cNvGraphicFramePr>
            <a:graphicFrameLocks noGrp="1"/>
          </p:cNvGraphicFramePr>
          <p:nvPr/>
        </p:nvGraphicFramePr>
        <p:xfrm>
          <a:off x="3929057" y="1048720"/>
          <a:ext cx="5143537" cy="4023360"/>
        </p:xfrm>
        <a:graphic>
          <a:graphicData uri="http://schemas.openxmlformats.org/drawingml/2006/table">
            <a:tbl>
              <a:tblPr>
                <a:tableStyleId>{775DCB02-9BB8-47FD-8907-85C794F793BA}</a:tableStyleId>
              </a:tblPr>
              <a:tblGrid>
                <a:gridCol w="1078893"/>
                <a:gridCol w="1533609"/>
                <a:gridCol w="1068953"/>
                <a:gridCol w="1462082"/>
              </a:tblGrid>
              <a:tr h="287829">
                <a:tc>
                  <a:txBody>
                    <a:bodyPr/>
                    <a:lstStyle/>
                    <a:p>
                      <a:r>
                        <a:rPr lang="en-US" dirty="0"/>
                        <a:t>SID</a:t>
                      </a:r>
                    </a:p>
                  </a:txBody>
                  <a:tcPr anchor="ctr"/>
                </a:tc>
                <a:tc>
                  <a:txBody>
                    <a:bodyPr/>
                    <a:lstStyle/>
                    <a:p>
                      <a:r>
                        <a:rPr lang="en-US" dirty="0"/>
                        <a:t>Name</a:t>
                      </a:r>
                    </a:p>
                  </a:txBody>
                  <a:tcPr anchor="ctr"/>
                </a:tc>
                <a:tc>
                  <a:txBody>
                    <a:bodyPr/>
                    <a:lstStyle/>
                    <a:p>
                      <a:pPr algn="r"/>
                      <a:r>
                        <a:rPr lang="en-US"/>
                        <a:t>Age</a:t>
                      </a:r>
                    </a:p>
                  </a:txBody>
                  <a:tcPr anchor="ctr"/>
                </a:tc>
                <a:tc>
                  <a:txBody>
                    <a:bodyPr/>
                    <a:lstStyle/>
                    <a:p>
                      <a:r>
                        <a:rPr lang="en-US" dirty="0"/>
                        <a:t>Dept</a:t>
                      </a:r>
                    </a:p>
                  </a:txBody>
                  <a:tcPr anchor="ctr"/>
                </a:tc>
              </a:tr>
              <a:tr h="287829">
                <a:tc>
                  <a:txBody>
                    <a:bodyPr/>
                    <a:lstStyle/>
                    <a:p>
                      <a:pPr marL="0" algn="l" rtl="0" eaLnBrk="1" latinLnBrk="0" hangingPunct="1"/>
                      <a:r>
                        <a:rPr kumimoji="0" lang="en-US" kern="1200" dirty="0" smtClean="0">
                          <a:solidFill>
                            <a:schemeClr val="dk1"/>
                          </a:solidFill>
                          <a:latin typeface="+mn-lt"/>
                          <a:ea typeface="+mn-ea"/>
                          <a:cs typeface="+mn-cs"/>
                        </a:rPr>
                        <a:t>101</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a:solidFill>
                            <a:schemeClr val="dk1"/>
                          </a:solidFill>
                          <a:latin typeface="+mn-lt"/>
                          <a:ea typeface="+mn-ea"/>
                          <a:cs typeface="+mn-cs"/>
                        </a:rPr>
                        <a:t>Ravi</a:t>
                      </a:r>
                    </a:p>
                  </a:txBody>
                  <a:tcPr anchor="ctr"/>
                </a:tc>
                <a:tc>
                  <a:txBody>
                    <a:bodyPr/>
                    <a:lstStyle/>
                    <a:p>
                      <a:pPr marL="0" algn="l" rtl="0" eaLnBrk="1" latinLnBrk="0" hangingPunct="1"/>
                      <a:r>
                        <a:rPr kumimoji="0" lang="en-US" kern="1200">
                          <a:solidFill>
                            <a:schemeClr val="dk1"/>
                          </a:solidFill>
                          <a:latin typeface="+mn-lt"/>
                          <a:ea typeface="+mn-ea"/>
                          <a:cs typeface="+mn-cs"/>
                        </a:rPr>
                        <a:t>20</a:t>
                      </a:r>
                    </a:p>
                  </a:txBody>
                  <a:tcPr anchor="ctr"/>
                </a:tc>
                <a:tc>
                  <a:txBody>
                    <a:bodyPr/>
                    <a:lstStyle/>
                    <a:p>
                      <a:pPr marL="0" algn="l" rtl="0" eaLnBrk="1" latinLnBrk="0" hangingPunct="1"/>
                      <a:r>
                        <a:rPr kumimoji="0" lang="en-US" kern="1200">
                          <a:solidFill>
                            <a:schemeClr val="dk1"/>
                          </a:solidFill>
                          <a:latin typeface="+mn-lt"/>
                          <a:ea typeface="+mn-ea"/>
                          <a:cs typeface="+mn-cs"/>
                        </a:rPr>
                        <a:t>CSE</a:t>
                      </a:r>
                    </a:p>
                  </a:txBody>
                  <a:tcPr anchor="ctr"/>
                </a:tc>
              </a:tr>
              <a:tr h="287829">
                <a:tc>
                  <a:txBody>
                    <a:bodyPr/>
                    <a:lstStyle/>
                    <a:p>
                      <a:pPr marL="0" algn="l" rtl="0" eaLnBrk="1" latinLnBrk="0" hangingPunct="1"/>
                      <a:r>
                        <a:rPr kumimoji="0" lang="en-US" kern="1200" smtClean="0">
                          <a:solidFill>
                            <a:schemeClr val="dk1"/>
                          </a:solidFill>
                          <a:latin typeface="+mn-lt"/>
                          <a:ea typeface="+mn-ea"/>
                          <a:cs typeface="+mn-cs"/>
                        </a:rPr>
                        <a:t>102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Siva</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smtClean="0">
                          <a:solidFill>
                            <a:schemeClr val="dk1"/>
                          </a:solidFill>
                          <a:latin typeface="+mn-lt"/>
                          <a:ea typeface="+mn-ea"/>
                          <a:cs typeface="+mn-cs"/>
                        </a:rPr>
                        <a:t>22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ECE</a:t>
                      </a:r>
                      <a:endParaRPr kumimoji="0" lang="en-US" kern="1200" dirty="0">
                        <a:solidFill>
                          <a:schemeClr val="dk1"/>
                        </a:solidFill>
                        <a:latin typeface="+mn-lt"/>
                        <a:ea typeface="+mn-ea"/>
                        <a:cs typeface="+mn-cs"/>
                      </a:endParaRPr>
                    </a:p>
                  </a:txBody>
                  <a:tcPr anchor="ctr"/>
                </a:tc>
              </a:tr>
              <a:tr h="287829">
                <a:tc>
                  <a:txBody>
                    <a:bodyPr/>
                    <a:lstStyle/>
                    <a:p>
                      <a:pPr marL="0" algn="l" rtl="0" eaLnBrk="1" latinLnBrk="0" hangingPunct="1"/>
                      <a:r>
                        <a:rPr kumimoji="0" lang="en-US" kern="1200" dirty="0" smtClean="0">
                          <a:solidFill>
                            <a:schemeClr val="dk1"/>
                          </a:solidFill>
                          <a:latin typeface="+mn-lt"/>
                          <a:ea typeface="+mn-ea"/>
                          <a:cs typeface="+mn-cs"/>
                        </a:rPr>
                        <a:t>103</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a:solidFill>
                            <a:schemeClr val="dk1"/>
                          </a:solidFill>
                          <a:latin typeface="+mn-lt"/>
                          <a:ea typeface="+mn-ea"/>
                          <a:cs typeface="+mn-cs"/>
                        </a:rPr>
                        <a:t>Kumar</a:t>
                      </a:r>
                    </a:p>
                  </a:txBody>
                  <a:tcPr anchor="ctr"/>
                </a:tc>
                <a:tc>
                  <a:txBody>
                    <a:bodyPr/>
                    <a:lstStyle/>
                    <a:p>
                      <a:pPr marL="0" algn="l" rtl="0" eaLnBrk="1" latinLnBrk="0" hangingPunct="1"/>
                      <a:r>
                        <a:rPr kumimoji="0" lang="en-US" kern="1200" dirty="0">
                          <a:solidFill>
                            <a:schemeClr val="dk1"/>
                          </a:solidFill>
                          <a:latin typeface="+mn-lt"/>
                          <a:ea typeface="+mn-ea"/>
                          <a:cs typeface="+mn-cs"/>
                        </a:rPr>
                        <a:t>21</a:t>
                      </a:r>
                    </a:p>
                  </a:txBody>
                  <a:tcPr anchor="ctr"/>
                </a:tc>
                <a:tc>
                  <a:txBody>
                    <a:bodyPr/>
                    <a:lstStyle/>
                    <a:p>
                      <a:pPr marL="0" algn="l" rtl="0" eaLnBrk="1" latinLnBrk="0" hangingPunct="1"/>
                      <a:r>
                        <a:rPr kumimoji="0" lang="en-US" kern="1200" dirty="0">
                          <a:solidFill>
                            <a:schemeClr val="dk1"/>
                          </a:solidFill>
                          <a:latin typeface="+mn-lt"/>
                          <a:ea typeface="+mn-ea"/>
                          <a:cs typeface="+mn-cs"/>
                        </a:rPr>
                        <a:t>CSE</a:t>
                      </a:r>
                    </a:p>
                  </a:txBody>
                  <a:tcPr anchor="ctr"/>
                </a:tc>
              </a:tr>
              <a:tr h="287829">
                <a:tc>
                  <a:txBody>
                    <a:bodyPr/>
                    <a:lstStyle/>
                    <a:p>
                      <a:pPr marL="0" algn="l" rtl="0" eaLnBrk="1" latinLnBrk="0" hangingPunct="1"/>
                      <a:r>
                        <a:rPr kumimoji="0" lang="en-US" kern="1200" dirty="0">
                          <a:solidFill>
                            <a:schemeClr val="dk1"/>
                          </a:solidFill>
                          <a:latin typeface="+mn-lt"/>
                          <a:ea typeface="+mn-ea"/>
                          <a:cs typeface="+mn-cs"/>
                        </a:rPr>
                        <a:t>104</a:t>
                      </a:r>
                    </a:p>
                  </a:txBody>
                  <a:tcPr anchor="ctr"/>
                </a:tc>
                <a:tc>
                  <a:txBody>
                    <a:bodyPr/>
                    <a:lstStyle/>
                    <a:p>
                      <a:pPr marL="0" algn="l" rtl="0" eaLnBrk="1" latinLnBrk="0" hangingPunct="1"/>
                      <a:r>
                        <a:rPr kumimoji="0" lang="en-US" kern="1200">
                          <a:solidFill>
                            <a:schemeClr val="dk1"/>
                          </a:solidFill>
                          <a:latin typeface="+mn-lt"/>
                          <a:ea typeface="+mn-ea"/>
                          <a:cs typeface="+mn-cs"/>
                        </a:rPr>
                        <a:t>Anu</a:t>
                      </a:r>
                    </a:p>
                  </a:txBody>
                  <a:tcPr anchor="ctr"/>
                </a:tc>
                <a:tc>
                  <a:txBody>
                    <a:bodyPr/>
                    <a:lstStyle/>
                    <a:p>
                      <a:pPr marL="0" algn="l" rtl="0" eaLnBrk="1" latinLnBrk="0" hangingPunct="1"/>
                      <a:r>
                        <a:rPr kumimoji="0" lang="en-US" kern="1200" dirty="0">
                          <a:solidFill>
                            <a:schemeClr val="dk1"/>
                          </a:solidFill>
                          <a:latin typeface="+mn-lt"/>
                          <a:ea typeface="+mn-ea"/>
                          <a:cs typeface="+mn-cs"/>
                        </a:rPr>
                        <a:t>23</a:t>
                      </a:r>
                    </a:p>
                  </a:txBody>
                  <a:tcPr anchor="ctr"/>
                </a:tc>
                <a:tc>
                  <a:txBody>
                    <a:bodyPr/>
                    <a:lstStyle/>
                    <a:p>
                      <a:pPr marL="0" algn="l" rtl="0" eaLnBrk="1" latinLnBrk="0" hangingPunct="1"/>
                      <a:r>
                        <a:rPr kumimoji="0" lang="en-US" kern="1200" dirty="0" smtClean="0">
                          <a:solidFill>
                            <a:schemeClr val="dk1"/>
                          </a:solidFill>
                          <a:latin typeface="+mn-lt"/>
                          <a:ea typeface="+mn-ea"/>
                          <a:cs typeface="+mn-cs"/>
                        </a:rPr>
                        <a:t>ECE</a:t>
                      </a:r>
                      <a:endParaRPr kumimoji="0" lang="en-US" kern="1200" dirty="0">
                        <a:solidFill>
                          <a:schemeClr val="dk1"/>
                        </a:solidFill>
                        <a:latin typeface="+mn-lt"/>
                        <a:ea typeface="+mn-ea"/>
                        <a:cs typeface="+mn-cs"/>
                      </a:endParaRPr>
                    </a:p>
                  </a:txBody>
                  <a:tcPr anchor="ctr"/>
                </a:tc>
              </a:tr>
              <a:tr h="287829">
                <a:tc>
                  <a:txBody>
                    <a:bodyPr/>
                    <a:lstStyle/>
                    <a:p>
                      <a:pPr marL="0" algn="l" rtl="0" eaLnBrk="1" latinLnBrk="0" hangingPunct="1"/>
                      <a:r>
                        <a:rPr kumimoji="0" lang="en-US" kern="1200" dirty="0" smtClean="0">
                          <a:solidFill>
                            <a:schemeClr val="dk1"/>
                          </a:solidFill>
                          <a:latin typeface="+mn-lt"/>
                          <a:ea typeface="+mn-ea"/>
                          <a:cs typeface="+mn-cs"/>
                        </a:rPr>
                        <a:t>105</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Ram</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21</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CIVIL</a:t>
                      </a:r>
                      <a:endParaRPr kumimoji="0" lang="en-US" kern="1200" dirty="0">
                        <a:solidFill>
                          <a:schemeClr val="dk1"/>
                        </a:solidFill>
                        <a:latin typeface="+mn-lt"/>
                        <a:ea typeface="+mn-ea"/>
                        <a:cs typeface="+mn-cs"/>
                      </a:endParaRPr>
                    </a:p>
                  </a:txBody>
                  <a:tcPr anchor="ctr"/>
                </a:tc>
              </a:tr>
              <a:tr h="287829">
                <a:tc>
                  <a:txBody>
                    <a:bodyPr/>
                    <a:lstStyle/>
                    <a:p>
                      <a:pPr marL="0" algn="l" rtl="0" eaLnBrk="1" latinLnBrk="0" hangingPunct="1"/>
                      <a:r>
                        <a:rPr kumimoji="0" lang="en-US" kern="1200" dirty="0" smtClean="0">
                          <a:solidFill>
                            <a:schemeClr val="dk1"/>
                          </a:solidFill>
                          <a:latin typeface="+mn-lt"/>
                          <a:ea typeface="+mn-ea"/>
                          <a:cs typeface="+mn-cs"/>
                        </a:rPr>
                        <a:t>106</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err="1" smtClean="0">
                          <a:solidFill>
                            <a:schemeClr val="dk1"/>
                          </a:solidFill>
                          <a:latin typeface="+mn-lt"/>
                          <a:ea typeface="+mn-ea"/>
                          <a:cs typeface="+mn-cs"/>
                        </a:rPr>
                        <a:t>Abhi</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ECE</a:t>
                      </a:r>
                      <a:endParaRPr kumimoji="0" lang="en-US" kern="1200" dirty="0">
                        <a:solidFill>
                          <a:schemeClr val="dk1"/>
                        </a:solidFill>
                        <a:latin typeface="+mn-lt"/>
                        <a:ea typeface="+mn-ea"/>
                        <a:cs typeface="+mn-cs"/>
                      </a:endParaRPr>
                    </a:p>
                  </a:txBody>
                  <a:tcPr anchor="ctr"/>
                </a:tc>
              </a:tr>
              <a:tr h="287829">
                <a:tc>
                  <a:txBody>
                    <a:bodyPr/>
                    <a:lstStyle/>
                    <a:p>
                      <a:pPr marL="0" algn="l" rtl="0" eaLnBrk="1" latinLnBrk="0" hangingPunct="1"/>
                      <a:r>
                        <a:rPr kumimoji="0" lang="en-US" kern="1200" dirty="0" smtClean="0">
                          <a:solidFill>
                            <a:schemeClr val="dk1"/>
                          </a:solidFill>
                          <a:latin typeface="+mn-lt"/>
                          <a:ea typeface="+mn-ea"/>
                          <a:cs typeface="+mn-cs"/>
                        </a:rPr>
                        <a:t>107</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err="1" smtClean="0">
                          <a:solidFill>
                            <a:schemeClr val="dk1"/>
                          </a:solidFill>
                          <a:latin typeface="+mn-lt"/>
                          <a:ea typeface="+mn-ea"/>
                          <a:cs typeface="+mn-cs"/>
                        </a:rPr>
                        <a:t>Sita</a:t>
                      </a:r>
                      <a:r>
                        <a:rPr kumimoji="0" lang="en-US" kern="1200" dirty="0" smtClean="0">
                          <a:solidFill>
                            <a:schemeClr val="dk1"/>
                          </a:solidFill>
                          <a:latin typeface="+mn-lt"/>
                          <a:ea typeface="+mn-ea"/>
                          <a:cs typeface="+mn-cs"/>
                        </a:rPr>
                        <a:t> </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21</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CSE</a:t>
                      </a:r>
                      <a:endParaRPr kumimoji="0" lang="en-US" kern="1200" dirty="0">
                        <a:solidFill>
                          <a:schemeClr val="dk1"/>
                        </a:solidFill>
                        <a:latin typeface="+mn-lt"/>
                        <a:ea typeface="+mn-ea"/>
                        <a:cs typeface="+mn-cs"/>
                      </a:endParaRPr>
                    </a:p>
                  </a:txBody>
                  <a:tcPr anchor="ctr"/>
                </a:tc>
              </a:tr>
              <a:tr h="287829">
                <a:tc>
                  <a:txBody>
                    <a:bodyPr/>
                    <a:lstStyle/>
                    <a:p>
                      <a:pPr marL="0" algn="l" rtl="0" eaLnBrk="1" latinLnBrk="0" hangingPunct="1"/>
                      <a:r>
                        <a:rPr kumimoji="0" lang="en-US" kern="1200" dirty="0" smtClean="0">
                          <a:solidFill>
                            <a:schemeClr val="dk1"/>
                          </a:solidFill>
                          <a:latin typeface="+mn-lt"/>
                          <a:ea typeface="+mn-ea"/>
                          <a:cs typeface="+mn-cs"/>
                        </a:rPr>
                        <a:t>108</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err="1" smtClean="0">
                          <a:solidFill>
                            <a:schemeClr val="dk1"/>
                          </a:solidFill>
                          <a:latin typeface="+mn-lt"/>
                          <a:ea typeface="+mn-ea"/>
                          <a:cs typeface="+mn-cs"/>
                        </a:rPr>
                        <a:t>Teja</a:t>
                      </a:r>
                      <a:r>
                        <a:rPr kumimoji="0" lang="en-US" kern="1200" dirty="0" smtClean="0">
                          <a:solidFill>
                            <a:schemeClr val="dk1"/>
                          </a:solidFill>
                          <a:latin typeface="+mn-lt"/>
                          <a:ea typeface="+mn-ea"/>
                          <a:cs typeface="+mn-cs"/>
                        </a:rPr>
                        <a:t> </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CIVIL </a:t>
                      </a:r>
                      <a:endParaRPr kumimoji="0" lang="en-US" kern="1200" dirty="0">
                        <a:solidFill>
                          <a:schemeClr val="dk1"/>
                        </a:solidFill>
                        <a:latin typeface="+mn-lt"/>
                        <a:ea typeface="+mn-ea"/>
                        <a:cs typeface="+mn-cs"/>
                      </a:endParaRPr>
                    </a:p>
                  </a:txBody>
                  <a:tcPr anchor="ctr"/>
                </a:tc>
              </a:tr>
              <a:tr h="287829">
                <a:tc>
                  <a:txBody>
                    <a:bodyPr/>
                    <a:lstStyle/>
                    <a:p>
                      <a:pPr marL="0" algn="l" rtl="0" eaLnBrk="1" latinLnBrk="0" hangingPunct="1"/>
                      <a:r>
                        <a:rPr kumimoji="0" lang="en-US" kern="1200" dirty="0" smtClean="0">
                          <a:solidFill>
                            <a:schemeClr val="dk1"/>
                          </a:solidFill>
                          <a:latin typeface="+mn-lt"/>
                          <a:ea typeface="+mn-ea"/>
                          <a:cs typeface="+mn-cs"/>
                        </a:rPr>
                        <a:t>109</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Siva </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smtClean="0">
                          <a:solidFill>
                            <a:schemeClr val="dk1"/>
                          </a:solidFill>
                          <a:latin typeface="+mn-lt"/>
                          <a:ea typeface="+mn-ea"/>
                          <a:cs typeface="+mn-cs"/>
                        </a:rPr>
                        <a:t>23</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EEE</a:t>
                      </a:r>
                      <a:endParaRPr kumimoji="0" lang="en-US" kern="1200" dirty="0">
                        <a:solidFill>
                          <a:schemeClr val="dk1"/>
                        </a:solidFill>
                        <a:latin typeface="+mn-lt"/>
                        <a:ea typeface="+mn-ea"/>
                        <a:cs typeface="+mn-cs"/>
                      </a:endParaRPr>
                    </a:p>
                  </a:txBody>
                  <a:tcPr anchor="ctr"/>
                </a:tc>
              </a:tr>
              <a:tr h="287829">
                <a:tc>
                  <a:txBody>
                    <a:bodyPr/>
                    <a:lstStyle/>
                    <a:p>
                      <a:pPr marL="0" algn="l" rtl="0" eaLnBrk="1" latinLnBrk="0" hangingPunct="1"/>
                      <a:r>
                        <a:rPr kumimoji="0" lang="en-US" kern="1200" dirty="0" smtClean="0">
                          <a:solidFill>
                            <a:schemeClr val="dk1"/>
                          </a:solidFill>
                          <a:latin typeface="+mn-lt"/>
                          <a:ea typeface="+mn-ea"/>
                          <a:cs typeface="+mn-cs"/>
                        </a:rPr>
                        <a:t>110</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err="1" smtClean="0">
                          <a:solidFill>
                            <a:schemeClr val="dk1"/>
                          </a:solidFill>
                          <a:latin typeface="+mn-lt"/>
                          <a:ea typeface="+mn-ea"/>
                          <a:cs typeface="+mn-cs"/>
                        </a:rPr>
                        <a:t>Pqr</a:t>
                      </a:r>
                      <a:r>
                        <a:rPr kumimoji="0" lang="en-US" kern="1200" dirty="0" smtClean="0">
                          <a:solidFill>
                            <a:schemeClr val="dk1"/>
                          </a:solidFill>
                          <a:latin typeface="+mn-lt"/>
                          <a:ea typeface="+mn-ea"/>
                          <a:cs typeface="+mn-cs"/>
                        </a:rPr>
                        <a:t> </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22</a:t>
                      </a:r>
                      <a:endParaRPr kumimoji="0" lang="en-US" kern="1200" dirty="0">
                        <a:solidFill>
                          <a:schemeClr val="dk1"/>
                        </a:solidFill>
                        <a:latin typeface="+mn-lt"/>
                        <a:ea typeface="+mn-ea"/>
                        <a:cs typeface="+mn-cs"/>
                      </a:endParaRPr>
                    </a:p>
                  </a:txBody>
                  <a:tcPr anchor="ctr"/>
                </a:tc>
                <a:tc>
                  <a:txBody>
                    <a:bodyPr/>
                    <a:lstStyle/>
                    <a:p>
                      <a:pPr marL="0" algn="l" rtl="0" eaLnBrk="1" latinLnBrk="0" hangingPunct="1"/>
                      <a:r>
                        <a:rPr kumimoji="0" lang="en-US" kern="1200" dirty="0" smtClean="0">
                          <a:solidFill>
                            <a:schemeClr val="dk1"/>
                          </a:solidFill>
                          <a:latin typeface="+mn-lt"/>
                          <a:ea typeface="+mn-ea"/>
                          <a:cs typeface="+mn-cs"/>
                        </a:rPr>
                        <a:t>MECH</a:t>
                      </a:r>
                      <a:endParaRPr kumimoji="0" lang="en-US" kern="1200" dirty="0">
                        <a:solidFill>
                          <a:schemeClr val="dk1"/>
                        </a:solidFill>
                        <a:latin typeface="+mn-lt"/>
                        <a:ea typeface="+mn-ea"/>
                        <a:cs typeface="+mn-cs"/>
                      </a:endParaRPr>
                    </a:p>
                  </a:txBody>
                  <a:tcPr anchor="ctr"/>
                </a:tc>
              </a:tr>
            </a:tbl>
          </a:graphicData>
        </a:graphic>
      </p:graphicFrame>
      <p:sp>
        <p:nvSpPr>
          <p:cNvPr id="33794" name="Rectangle 2"/>
          <p:cNvSpPr>
            <a:spLocks noChangeArrowheads="1"/>
          </p:cNvSpPr>
          <p:nvPr/>
        </p:nvSpPr>
        <p:spPr bwMode="auto">
          <a:xfrm>
            <a:off x="-32" y="1071552"/>
            <a:ext cx="3786214" cy="1200329"/>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Find students whose age is greater than 20.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In Relational Calculus, we specify the condition:</a:t>
            </a:r>
          </a:p>
        </p:txBody>
      </p:sp>
      <p:sp>
        <p:nvSpPr>
          <p:cNvPr id="6" name="Rectangle 5"/>
          <p:cNvSpPr/>
          <p:nvPr/>
        </p:nvSpPr>
        <p:spPr>
          <a:xfrm>
            <a:off x="71406" y="2500312"/>
            <a:ext cx="3714776" cy="830997"/>
          </a:xfrm>
          <a:prstGeom prst="rect">
            <a:avLst/>
          </a:prstGeom>
        </p:spPr>
        <p:txBody>
          <a:bodyPr wrap="square">
            <a:spAutoFit/>
          </a:bodyPr>
          <a:lstStyle/>
          <a:p>
            <a:pPr marL="342900" indent="-342900">
              <a:buAutoNum type="arabicPeriod"/>
            </a:pPr>
            <a:r>
              <a:rPr lang="fr-FR" sz="1600" dirty="0" err="1" smtClean="0"/>
              <a:t>Tuple</a:t>
            </a:r>
            <a:r>
              <a:rPr lang="fr-FR" sz="1600" dirty="0" smtClean="0"/>
              <a:t> </a:t>
            </a:r>
            <a:r>
              <a:rPr lang="fr-FR" sz="1600" dirty="0" err="1" smtClean="0"/>
              <a:t>Relational</a:t>
            </a:r>
            <a:r>
              <a:rPr lang="fr-FR" sz="1600" dirty="0" smtClean="0"/>
              <a:t> </a:t>
            </a:r>
            <a:r>
              <a:rPr lang="fr-FR" sz="1600" dirty="0" err="1" smtClean="0"/>
              <a:t>Calculus</a:t>
            </a:r>
            <a:r>
              <a:rPr lang="fr-FR" sz="1600" dirty="0" smtClean="0"/>
              <a:t> (TRC)</a:t>
            </a:r>
          </a:p>
          <a:p>
            <a:pPr marL="342900" indent="-342900">
              <a:buAutoNum type="arabicPeriod"/>
            </a:pPr>
            <a:r>
              <a:rPr lang="en-US" sz="1600" dirty="0" smtClean="0"/>
              <a:t>Domain Relational Calculus (DRC)</a:t>
            </a: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1736" y="142858"/>
            <a:ext cx="4846198" cy="461665"/>
          </a:xfrm>
          <a:prstGeom prst="rect">
            <a:avLst/>
          </a:prstGeom>
        </p:spPr>
        <p:txBody>
          <a:bodyPr wrap="none">
            <a:spAutoFit/>
          </a:bodyPr>
          <a:lstStyle/>
          <a:p>
            <a:pPr marL="342900" indent="-342900"/>
            <a:r>
              <a:rPr lang="fr-FR" sz="2400" dirty="0" err="1" smtClean="0">
                <a:solidFill>
                  <a:srgbClr val="00B0F0"/>
                </a:solidFill>
              </a:rPr>
              <a:t>Tuple</a:t>
            </a:r>
            <a:r>
              <a:rPr lang="fr-FR" sz="2400" dirty="0" smtClean="0">
                <a:solidFill>
                  <a:srgbClr val="00B0F0"/>
                </a:solidFill>
              </a:rPr>
              <a:t> </a:t>
            </a:r>
            <a:r>
              <a:rPr lang="fr-FR" sz="2400" dirty="0" err="1" smtClean="0">
                <a:solidFill>
                  <a:srgbClr val="00B0F0"/>
                </a:solidFill>
              </a:rPr>
              <a:t>Relational</a:t>
            </a:r>
            <a:r>
              <a:rPr lang="fr-FR" sz="2400" dirty="0" smtClean="0">
                <a:solidFill>
                  <a:srgbClr val="00B0F0"/>
                </a:solidFill>
              </a:rPr>
              <a:t> </a:t>
            </a:r>
            <a:r>
              <a:rPr lang="fr-FR" sz="2400" dirty="0" err="1" smtClean="0">
                <a:solidFill>
                  <a:srgbClr val="00B0F0"/>
                </a:solidFill>
              </a:rPr>
              <a:t>Calculus</a:t>
            </a:r>
            <a:r>
              <a:rPr lang="fr-FR" sz="2400" dirty="0" smtClean="0">
                <a:solidFill>
                  <a:srgbClr val="00B0F0"/>
                </a:solidFill>
              </a:rPr>
              <a:t> (TRC)</a:t>
            </a:r>
          </a:p>
        </p:txBody>
      </p:sp>
      <p:sp>
        <p:nvSpPr>
          <p:cNvPr id="3" name="Rectangle 2"/>
          <p:cNvSpPr/>
          <p:nvPr/>
        </p:nvSpPr>
        <p:spPr>
          <a:xfrm>
            <a:off x="142844" y="496659"/>
            <a:ext cx="8858312" cy="369332"/>
          </a:xfrm>
          <a:prstGeom prst="rect">
            <a:avLst/>
          </a:prstGeom>
        </p:spPr>
        <p:txBody>
          <a:bodyPr wrap="square">
            <a:spAutoFit/>
          </a:bodyPr>
          <a:lstStyle/>
          <a:p>
            <a:r>
              <a:rPr lang="en-US" dirty="0" smtClean="0"/>
              <a:t>TRC uses a </a:t>
            </a:r>
            <a:r>
              <a:rPr lang="en-US" b="1" dirty="0" err="1" smtClean="0"/>
              <a:t>tuple</a:t>
            </a:r>
            <a:r>
              <a:rPr lang="en-US" b="1" dirty="0" smtClean="0"/>
              <a:t> variable</a:t>
            </a:r>
            <a:r>
              <a:rPr lang="en-US" dirty="0" smtClean="0"/>
              <a:t> to represent a complete row of a relation.</a:t>
            </a:r>
          </a:p>
        </p:txBody>
      </p:sp>
      <p:sp>
        <p:nvSpPr>
          <p:cNvPr id="4" name="Rectangle 3"/>
          <p:cNvSpPr/>
          <p:nvPr/>
        </p:nvSpPr>
        <p:spPr>
          <a:xfrm>
            <a:off x="142844" y="857238"/>
            <a:ext cx="8858312" cy="461665"/>
          </a:xfrm>
          <a:prstGeom prst="rect">
            <a:avLst/>
          </a:prstGeom>
        </p:spPr>
        <p:txBody>
          <a:bodyPr wrap="square">
            <a:spAutoFit/>
          </a:bodyPr>
          <a:lstStyle/>
          <a:p>
            <a:r>
              <a:rPr lang="en-US" dirty="0" smtClean="0"/>
              <a:t>General form: </a:t>
            </a:r>
            <a:r>
              <a:rPr lang="en-US" sz="2400" dirty="0" smtClean="0"/>
              <a:t>{ t | P(t) }  </a:t>
            </a:r>
            <a:r>
              <a:rPr lang="en-US" dirty="0" smtClean="0"/>
              <a:t>t → </a:t>
            </a:r>
            <a:r>
              <a:rPr lang="en-US" dirty="0" err="1" smtClean="0"/>
              <a:t>tuple</a:t>
            </a:r>
            <a:r>
              <a:rPr lang="en-US" dirty="0" smtClean="0"/>
              <a:t> variable P(t) → condition/predicate</a:t>
            </a:r>
          </a:p>
        </p:txBody>
      </p:sp>
      <p:sp>
        <p:nvSpPr>
          <p:cNvPr id="5" name="Rectangle 4"/>
          <p:cNvSpPr/>
          <p:nvPr/>
        </p:nvSpPr>
        <p:spPr>
          <a:xfrm>
            <a:off x="428596" y="1500180"/>
            <a:ext cx="6559809" cy="461665"/>
          </a:xfrm>
          <a:prstGeom prst="rect">
            <a:avLst/>
          </a:prstGeom>
        </p:spPr>
        <p:txBody>
          <a:bodyPr wrap="none">
            <a:spAutoFit/>
          </a:bodyPr>
          <a:lstStyle/>
          <a:p>
            <a:r>
              <a:rPr lang="en-US" dirty="0" smtClean="0"/>
              <a:t>Example: </a:t>
            </a:r>
            <a:r>
              <a:rPr lang="de-DE" sz="2400" b="1" dirty="0" smtClean="0"/>
              <a:t>{ t | t ∈ STUDENT AND t.AGE &gt; 20 }</a:t>
            </a:r>
            <a:endParaRPr lang="en-US" b="1" dirty="0"/>
          </a:p>
        </p:txBody>
      </p:sp>
      <p:sp>
        <p:nvSpPr>
          <p:cNvPr id="6" name="Rectangle 5"/>
          <p:cNvSpPr/>
          <p:nvPr/>
        </p:nvSpPr>
        <p:spPr>
          <a:xfrm>
            <a:off x="2357422" y="2071684"/>
            <a:ext cx="5176417" cy="461665"/>
          </a:xfrm>
          <a:prstGeom prst="rect">
            <a:avLst/>
          </a:prstGeom>
        </p:spPr>
        <p:txBody>
          <a:bodyPr wrap="none">
            <a:spAutoFit/>
          </a:bodyPr>
          <a:lstStyle/>
          <a:p>
            <a:r>
              <a:rPr lang="en-US" sz="2400" dirty="0" smtClean="0">
                <a:solidFill>
                  <a:srgbClr val="00B0F0"/>
                </a:solidFill>
              </a:rPr>
              <a:t>Domain Relational Calculus (DRC</a:t>
            </a:r>
            <a:r>
              <a:rPr lang="en-US" dirty="0" smtClean="0"/>
              <a:t>)</a:t>
            </a:r>
            <a:endParaRPr lang="en-US" dirty="0"/>
          </a:p>
        </p:txBody>
      </p:sp>
      <p:sp>
        <p:nvSpPr>
          <p:cNvPr id="7" name="Rectangle 6"/>
          <p:cNvSpPr/>
          <p:nvPr/>
        </p:nvSpPr>
        <p:spPr>
          <a:xfrm>
            <a:off x="71406" y="2428874"/>
            <a:ext cx="9001188" cy="369332"/>
          </a:xfrm>
          <a:prstGeom prst="rect">
            <a:avLst/>
          </a:prstGeom>
        </p:spPr>
        <p:txBody>
          <a:bodyPr wrap="square">
            <a:spAutoFit/>
          </a:bodyPr>
          <a:lstStyle/>
          <a:p>
            <a:r>
              <a:rPr lang="en-US" dirty="0" smtClean="0"/>
              <a:t>DRC uses </a:t>
            </a:r>
            <a:r>
              <a:rPr lang="en-US" b="1" dirty="0" smtClean="0"/>
              <a:t>domain variables</a:t>
            </a:r>
            <a:r>
              <a:rPr lang="en-US" dirty="0" smtClean="0"/>
              <a:t>, which represent individual column values.</a:t>
            </a:r>
          </a:p>
        </p:txBody>
      </p:sp>
      <p:sp>
        <p:nvSpPr>
          <p:cNvPr id="8" name="Rectangle 7"/>
          <p:cNvSpPr/>
          <p:nvPr/>
        </p:nvSpPr>
        <p:spPr>
          <a:xfrm>
            <a:off x="142844" y="2928940"/>
            <a:ext cx="8858312" cy="461665"/>
          </a:xfrm>
          <a:prstGeom prst="rect">
            <a:avLst/>
          </a:prstGeom>
        </p:spPr>
        <p:txBody>
          <a:bodyPr wrap="square">
            <a:spAutoFit/>
          </a:bodyPr>
          <a:lstStyle/>
          <a:p>
            <a:r>
              <a:rPr lang="en-US" dirty="0" smtClean="0"/>
              <a:t>General form: </a:t>
            </a:r>
            <a:r>
              <a:rPr lang="en-US" sz="2400" dirty="0" smtClean="0"/>
              <a:t>{ &lt;x1, x2, ..., </a:t>
            </a:r>
            <a:r>
              <a:rPr lang="en-US" sz="2400" dirty="0" err="1" smtClean="0"/>
              <a:t>xn</a:t>
            </a:r>
            <a:r>
              <a:rPr lang="en-US" sz="2400" dirty="0" smtClean="0"/>
              <a:t>&gt; | P(x1, x2, ..., </a:t>
            </a:r>
            <a:r>
              <a:rPr lang="en-US" sz="2400" dirty="0" err="1" smtClean="0"/>
              <a:t>xn</a:t>
            </a:r>
            <a:r>
              <a:rPr lang="en-US" sz="2400" dirty="0" smtClean="0"/>
              <a:t>) }</a:t>
            </a:r>
          </a:p>
        </p:txBody>
      </p:sp>
      <p:sp>
        <p:nvSpPr>
          <p:cNvPr id="9" name="Rectangle 8"/>
          <p:cNvSpPr/>
          <p:nvPr/>
        </p:nvSpPr>
        <p:spPr>
          <a:xfrm>
            <a:off x="71406" y="3429006"/>
            <a:ext cx="8929750" cy="369332"/>
          </a:xfrm>
          <a:prstGeom prst="rect">
            <a:avLst/>
          </a:prstGeom>
        </p:spPr>
        <p:txBody>
          <a:bodyPr wrap="square">
            <a:spAutoFit/>
          </a:bodyPr>
          <a:lstStyle/>
          <a:p>
            <a:r>
              <a:rPr lang="en-US" dirty="0" smtClean="0"/>
              <a:t>To find the names of students whose age is greater than 20:</a:t>
            </a:r>
            <a:endParaRPr lang="en-US" dirty="0"/>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2143122"/>
            <a:ext cx="8929750" cy="1477328"/>
          </a:xfrm>
          <a:prstGeom prst="rect">
            <a:avLst/>
          </a:prstGeom>
        </p:spPr>
        <p:txBody>
          <a:bodyPr wrap="square">
            <a:spAutoFit/>
          </a:bodyPr>
          <a:lstStyle/>
          <a:p>
            <a:r>
              <a:rPr lang="en-US" dirty="0" smtClean="0"/>
              <a:t>&lt;name&gt;       → What do we want? → NAME</a:t>
            </a:r>
          </a:p>
          <a:p>
            <a:r>
              <a:rPr lang="en-US" dirty="0" smtClean="0"/>
              <a:t>∃            → There exists</a:t>
            </a:r>
          </a:p>
          <a:p>
            <a:r>
              <a:rPr lang="en-US" dirty="0" err="1" smtClean="0"/>
              <a:t>sid</a:t>
            </a:r>
            <a:r>
              <a:rPr lang="en-US" dirty="0" smtClean="0"/>
              <a:t>, age, dept → Other column values</a:t>
            </a:r>
          </a:p>
          <a:p>
            <a:r>
              <a:rPr lang="en-US" dirty="0" smtClean="0"/>
              <a:t>STUDENT(...) → Take values from STUDENT</a:t>
            </a:r>
          </a:p>
          <a:p>
            <a:r>
              <a:rPr lang="en-US" dirty="0" smtClean="0"/>
              <a:t>AND age &gt; 20  → Apply condition</a:t>
            </a:r>
            <a:endParaRPr lang="en-US" dirty="0"/>
          </a:p>
        </p:txBody>
      </p:sp>
      <p:sp>
        <p:nvSpPr>
          <p:cNvPr id="3" name="Rectangle 2"/>
          <p:cNvSpPr/>
          <p:nvPr/>
        </p:nvSpPr>
        <p:spPr>
          <a:xfrm>
            <a:off x="214282" y="285734"/>
            <a:ext cx="8358246" cy="923330"/>
          </a:xfrm>
          <a:prstGeom prst="rect">
            <a:avLst/>
          </a:prstGeom>
        </p:spPr>
        <p:txBody>
          <a:bodyPr wrap="square">
            <a:spAutoFit/>
          </a:bodyPr>
          <a:lstStyle/>
          <a:p>
            <a:r>
              <a:rPr lang="en-US" dirty="0" smtClean="0"/>
              <a:t>{ &lt;name&gt; | ∃ </a:t>
            </a:r>
            <a:r>
              <a:rPr lang="en-US" dirty="0" err="1" smtClean="0"/>
              <a:t>sid</a:t>
            </a:r>
            <a:r>
              <a:rPr lang="en-US" dirty="0" smtClean="0"/>
              <a:t>, age, dept</a:t>
            </a:r>
          </a:p>
          <a:p>
            <a:r>
              <a:rPr lang="en-US" dirty="0" smtClean="0"/>
              <a:t>  (STUDENT(</a:t>
            </a:r>
            <a:r>
              <a:rPr lang="en-US" dirty="0" err="1" smtClean="0"/>
              <a:t>sid</a:t>
            </a:r>
            <a:r>
              <a:rPr lang="en-US" dirty="0" smtClean="0"/>
              <a:t>, name, age, dept) AND age &gt; 20)</a:t>
            </a:r>
          </a:p>
          <a:p>
            <a:r>
              <a:rPr lang="en-US" dirty="0" smtClean="0"/>
              <a:t>}</a:t>
            </a:r>
            <a:endParaRPr lang="en-US" dirty="0"/>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42858"/>
            <a:ext cx="5796780" cy="1477328"/>
          </a:xfrm>
          <a:prstGeom prst="rect">
            <a:avLst/>
          </a:prstGeom>
        </p:spPr>
        <p:txBody>
          <a:bodyPr wrap="none">
            <a:spAutoFit/>
          </a:bodyPr>
          <a:lstStyle/>
          <a:p>
            <a:pPr marL="342900" indent="-342900">
              <a:buAutoNum type="arabicPeriod"/>
            </a:pPr>
            <a:r>
              <a:rPr lang="en-US" dirty="0" smtClean="0"/>
              <a:t>Find all students</a:t>
            </a:r>
          </a:p>
          <a:p>
            <a:pPr marL="342900" indent="-342900">
              <a:buAutoNum type="arabicPeriod"/>
            </a:pPr>
            <a:r>
              <a:rPr lang="en-US" dirty="0" smtClean="0"/>
              <a:t>Find students whose age is greater than 20</a:t>
            </a:r>
          </a:p>
          <a:p>
            <a:pPr marL="342900" indent="-342900">
              <a:buAutoNum type="arabicPeriod"/>
            </a:pPr>
            <a:r>
              <a:rPr lang="en-US" dirty="0" smtClean="0"/>
              <a:t>Find CSE students</a:t>
            </a:r>
          </a:p>
          <a:p>
            <a:pPr marL="342900" indent="-342900">
              <a:buAutoNum type="arabicPeriod"/>
            </a:pPr>
            <a:r>
              <a:rPr lang="en-US" dirty="0" smtClean="0"/>
              <a:t>Find the student whose SID is 102</a:t>
            </a:r>
          </a:p>
          <a:p>
            <a:pPr marL="342900" indent="-342900">
              <a:buAutoNum type="arabicPeriod"/>
            </a:pPr>
            <a:r>
              <a:rPr lang="en-US" dirty="0" smtClean="0"/>
              <a:t>Find students whose age is between 20 and 22</a:t>
            </a:r>
          </a:p>
        </p:txBody>
      </p:sp>
      <p:sp>
        <p:nvSpPr>
          <p:cNvPr id="3" name="Rectangle 2"/>
          <p:cNvSpPr/>
          <p:nvPr/>
        </p:nvSpPr>
        <p:spPr>
          <a:xfrm>
            <a:off x="2071670" y="3237562"/>
            <a:ext cx="6929486" cy="1477328"/>
          </a:xfrm>
          <a:prstGeom prst="rect">
            <a:avLst/>
          </a:prstGeom>
        </p:spPr>
        <p:txBody>
          <a:bodyPr wrap="square">
            <a:spAutoFit/>
          </a:bodyPr>
          <a:lstStyle/>
          <a:p>
            <a:pPr marL="342900" indent="-342900">
              <a:buAutoNum type="arabicPeriod"/>
            </a:pPr>
            <a:r>
              <a:rPr lang="en-US" dirty="0" smtClean="0"/>
              <a:t>{ t | t ∈ STUDENT }</a:t>
            </a:r>
          </a:p>
          <a:p>
            <a:pPr marL="342900" indent="-342900">
              <a:buAutoNum type="arabicPeriod"/>
            </a:pPr>
            <a:r>
              <a:rPr lang="de-DE" dirty="0" smtClean="0"/>
              <a:t>{ t | t ∈ STUDENT AND t.AGE &gt; 20 }</a:t>
            </a:r>
          </a:p>
          <a:p>
            <a:pPr marL="342900" indent="-342900">
              <a:buAutoNum type="arabicPeriod"/>
            </a:pPr>
            <a:r>
              <a:rPr lang="en-US" dirty="0" smtClean="0"/>
              <a:t>{ t | t ∈ STUDENT AND </a:t>
            </a:r>
            <a:r>
              <a:rPr lang="en-US" dirty="0" err="1" smtClean="0"/>
              <a:t>t.DEPT</a:t>
            </a:r>
            <a:r>
              <a:rPr lang="en-US" dirty="0" smtClean="0"/>
              <a:t> = 'CSE' }</a:t>
            </a:r>
          </a:p>
          <a:p>
            <a:pPr marL="342900" indent="-342900">
              <a:buAutoNum type="arabicPeriod"/>
            </a:pPr>
            <a:r>
              <a:rPr lang="de-DE" dirty="0" smtClean="0"/>
              <a:t>{ t | t ∈ STUDENT AND t.SID = 102 }</a:t>
            </a:r>
          </a:p>
          <a:p>
            <a:pPr marL="342900" indent="-342900">
              <a:buAutoNum type="arabicPeriod"/>
            </a:pPr>
            <a:r>
              <a:rPr lang="en-US" dirty="0" smtClean="0"/>
              <a:t>{ t | t ∈ STUDENT AND </a:t>
            </a:r>
            <a:r>
              <a:rPr lang="en-US" dirty="0" err="1" smtClean="0"/>
              <a:t>t.AGE</a:t>
            </a:r>
            <a:r>
              <a:rPr lang="en-US" dirty="0" smtClean="0"/>
              <a:t> &gt;= 20 AND </a:t>
            </a:r>
            <a:r>
              <a:rPr lang="en-US" dirty="0" err="1" smtClean="0"/>
              <a:t>t.AGE</a:t>
            </a:r>
            <a:r>
              <a:rPr lang="en-US" dirty="0" smtClean="0"/>
              <a:t> &lt;= 22 }</a:t>
            </a:r>
            <a:endParaRPr lang="en-US" dirty="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71420"/>
            <a:ext cx="6970178" cy="1477328"/>
          </a:xfrm>
          <a:prstGeom prst="rect">
            <a:avLst/>
          </a:prstGeom>
        </p:spPr>
        <p:txBody>
          <a:bodyPr wrap="none">
            <a:spAutoFit/>
          </a:bodyPr>
          <a:lstStyle/>
          <a:p>
            <a:pPr marL="342900" indent="-342900">
              <a:buAutoNum type="arabicPeriod"/>
            </a:pPr>
            <a:r>
              <a:rPr lang="en-US" dirty="0" smtClean="0"/>
              <a:t>Find all student names</a:t>
            </a:r>
          </a:p>
          <a:p>
            <a:pPr marL="342900" indent="-342900">
              <a:buAutoNum type="arabicPeriod"/>
            </a:pPr>
            <a:r>
              <a:rPr lang="en-US" dirty="0" smtClean="0"/>
              <a:t>Find names of students whose age is greater than 20</a:t>
            </a:r>
          </a:p>
          <a:p>
            <a:pPr marL="342900" indent="-342900">
              <a:buAutoNum type="arabicPeriod"/>
            </a:pPr>
            <a:r>
              <a:rPr lang="en-US" dirty="0" smtClean="0"/>
              <a:t>Find names of CSE students</a:t>
            </a:r>
          </a:p>
          <a:p>
            <a:pPr marL="342900" indent="-342900">
              <a:buAutoNum type="arabicPeriod"/>
            </a:pPr>
            <a:r>
              <a:rPr lang="en-US" dirty="0" smtClean="0"/>
              <a:t>Find names and ages of students</a:t>
            </a:r>
          </a:p>
          <a:p>
            <a:pPr marL="342900" indent="-342900">
              <a:buAutoNum type="arabicPeriod"/>
            </a:pPr>
            <a:r>
              <a:rPr lang="en-US" dirty="0" smtClean="0"/>
              <a:t>Find names of CSE students whose age is greater than 19</a:t>
            </a:r>
            <a:endParaRPr lang="en-US" dirty="0"/>
          </a:p>
        </p:txBody>
      </p:sp>
      <p:sp>
        <p:nvSpPr>
          <p:cNvPr id="3" name="Rectangle 2"/>
          <p:cNvSpPr/>
          <p:nvPr/>
        </p:nvSpPr>
        <p:spPr>
          <a:xfrm>
            <a:off x="71406" y="1568229"/>
            <a:ext cx="9001188" cy="646331"/>
          </a:xfrm>
          <a:prstGeom prst="rect">
            <a:avLst/>
          </a:prstGeom>
        </p:spPr>
        <p:txBody>
          <a:bodyPr wrap="square">
            <a:spAutoFit/>
          </a:bodyPr>
          <a:lstStyle/>
          <a:p>
            <a:r>
              <a:rPr lang="en-US" dirty="0" smtClean="0"/>
              <a:t>1.{ &lt;name&gt; | ∃ </a:t>
            </a:r>
            <a:r>
              <a:rPr lang="en-US" dirty="0" err="1" smtClean="0"/>
              <a:t>sid</a:t>
            </a:r>
            <a:r>
              <a:rPr lang="en-US" dirty="0" smtClean="0"/>
              <a:t>, age, dept</a:t>
            </a:r>
          </a:p>
          <a:p>
            <a:r>
              <a:rPr lang="en-US" dirty="0" smtClean="0"/>
              <a:t>  (STUDENT(</a:t>
            </a:r>
            <a:r>
              <a:rPr lang="en-US" dirty="0" err="1" smtClean="0"/>
              <a:t>sid</a:t>
            </a:r>
            <a:r>
              <a:rPr lang="en-US" dirty="0" smtClean="0"/>
              <a:t>, name, age, dept)) }</a:t>
            </a:r>
            <a:endParaRPr lang="en-US" dirty="0"/>
          </a:p>
        </p:txBody>
      </p:sp>
      <p:sp>
        <p:nvSpPr>
          <p:cNvPr id="4" name="Rectangle 3"/>
          <p:cNvSpPr/>
          <p:nvPr/>
        </p:nvSpPr>
        <p:spPr>
          <a:xfrm>
            <a:off x="71406" y="2143122"/>
            <a:ext cx="7358114" cy="646331"/>
          </a:xfrm>
          <a:prstGeom prst="rect">
            <a:avLst/>
          </a:prstGeom>
        </p:spPr>
        <p:txBody>
          <a:bodyPr wrap="square">
            <a:spAutoFit/>
          </a:bodyPr>
          <a:lstStyle/>
          <a:p>
            <a:r>
              <a:rPr lang="en-US" dirty="0" smtClean="0"/>
              <a:t>2.{ &lt;name&gt; | ∃ </a:t>
            </a:r>
            <a:r>
              <a:rPr lang="en-US" dirty="0" err="1" smtClean="0"/>
              <a:t>sid</a:t>
            </a:r>
            <a:r>
              <a:rPr lang="en-US" dirty="0" smtClean="0"/>
              <a:t>, age, dept</a:t>
            </a:r>
          </a:p>
          <a:p>
            <a:r>
              <a:rPr lang="en-US" dirty="0" smtClean="0"/>
              <a:t>  (STUDENT(</a:t>
            </a:r>
            <a:r>
              <a:rPr lang="en-US" dirty="0" err="1" smtClean="0"/>
              <a:t>sid</a:t>
            </a:r>
            <a:r>
              <a:rPr lang="en-US" dirty="0" smtClean="0"/>
              <a:t>, name, age, dept) AND age &gt; 20) }</a:t>
            </a:r>
            <a:endParaRPr lang="en-US" dirty="0"/>
          </a:p>
        </p:txBody>
      </p:sp>
      <p:sp>
        <p:nvSpPr>
          <p:cNvPr id="5" name="Rectangle 4"/>
          <p:cNvSpPr/>
          <p:nvPr/>
        </p:nvSpPr>
        <p:spPr>
          <a:xfrm>
            <a:off x="-32" y="2857502"/>
            <a:ext cx="9072594" cy="646331"/>
          </a:xfrm>
          <a:prstGeom prst="rect">
            <a:avLst/>
          </a:prstGeom>
        </p:spPr>
        <p:txBody>
          <a:bodyPr wrap="square">
            <a:spAutoFit/>
          </a:bodyPr>
          <a:lstStyle/>
          <a:p>
            <a:r>
              <a:rPr lang="en-US" dirty="0" smtClean="0"/>
              <a:t>3. { &lt;name&gt; | ∃ </a:t>
            </a:r>
            <a:r>
              <a:rPr lang="en-US" dirty="0" err="1" smtClean="0"/>
              <a:t>sid</a:t>
            </a:r>
            <a:r>
              <a:rPr lang="en-US" dirty="0" smtClean="0"/>
              <a:t>, age, dept</a:t>
            </a:r>
          </a:p>
          <a:p>
            <a:r>
              <a:rPr lang="en-US" dirty="0" smtClean="0"/>
              <a:t>  (STUDENT(</a:t>
            </a:r>
            <a:r>
              <a:rPr lang="en-US" dirty="0" err="1" smtClean="0"/>
              <a:t>sid</a:t>
            </a:r>
            <a:r>
              <a:rPr lang="en-US" dirty="0" smtClean="0"/>
              <a:t>, name, age, dept) AND dept=‘</a:t>
            </a:r>
            <a:r>
              <a:rPr lang="en-US" dirty="0" err="1" smtClean="0"/>
              <a:t>cse</a:t>
            </a:r>
            <a:r>
              <a:rPr lang="en-US" dirty="0" smtClean="0"/>
              <a:t>’) }</a:t>
            </a:r>
            <a:endParaRPr lang="en-US" dirty="0"/>
          </a:p>
        </p:txBody>
      </p:sp>
      <p:sp>
        <p:nvSpPr>
          <p:cNvPr id="6" name="Rectangle 5"/>
          <p:cNvSpPr/>
          <p:nvPr/>
        </p:nvSpPr>
        <p:spPr>
          <a:xfrm>
            <a:off x="71406" y="3500444"/>
            <a:ext cx="8501122" cy="646331"/>
          </a:xfrm>
          <a:prstGeom prst="rect">
            <a:avLst/>
          </a:prstGeom>
        </p:spPr>
        <p:txBody>
          <a:bodyPr wrap="square">
            <a:spAutoFit/>
          </a:bodyPr>
          <a:lstStyle/>
          <a:p>
            <a:r>
              <a:rPr lang="en-US" dirty="0" smtClean="0"/>
              <a:t>4. { &lt;</a:t>
            </a:r>
            <a:r>
              <a:rPr lang="en-US" dirty="0" err="1" smtClean="0"/>
              <a:t>name,age</a:t>
            </a:r>
            <a:r>
              <a:rPr lang="en-US" dirty="0" smtClean="0"/>
              <a:t>&gt; | ∃ </a:t>
            </a:r>
            <a:r>
              <a:rPr lang="en-US" dirty="0" err="1" smtClean="0"/>
              <a:t>sid</a:t>
            </a:r>
            <a:r>
              <a:rPr lang="en-US" dirty="0" smtClean="0"/>
              <a:t>, dept</a:t>
            </a:r>
          </a:p>
          <a:p>
            <a:r>
              <a:rPr lang="en-US" dirty="0" smtClean="0"/>
              <a:t>  (STUDENT(</a:t>
            </a:r>
            <a:r>
              <a:rPr lang="en-US" dirty="0" err="1" smtClean="0"/>
              <a:t>sid</a:t>
            </a:r>
            <a:r>
              <a:rPr lang="en-US" dirty="0" smtClean="0"/>
              <a:t>, name, age, dept)) }</a:t>
            </a:r>
            <a:endParaRPr lang="en-US" dirty="0"/>
          </a:p>
        </p:txBody>
      </p:sp>
      <p:sp>
        <p:nvSpPr>
          <p:cNvPr id="7" name="Rectangle 6"/>
          <p:cNvSpPr/>
          <p:nvPr/>
        </p:nvSpPr>
        <p:spPr>
          <a:xfrm>
            <a:off x="4214810" y="4071948"/>
            <a:ext cx="4857784" cy="923330"/>
          </a:xfrm>
          <a:prstGeom prst="rect">
            <a:avLst/>
          </a:prstGeom>
        </p:spPr>
        <p:txBody>
          <a:bodyPr wrap="square">
            <a:spAutoFit/>
          </a:bodyPr>
          <a:lstStyle/>
          <a:p>
            <a:r>
              <a:rPr lang="en-US" dirty="0" smtClean="0"/>
              <a:t>5.{ &lt;name&gt; | ∃ </a:t>
            </a:r>
            <a:r>
              <a:rPr lang="en-US" dirty="0" err="1" smtClean="0"/>
              <a:t>sid</a:t>
            </a:r>
            <a:r>
              <a:rPr lang="en-US" dirty="0" smtClean="0"/>
              <a:t>, age, dept</a:t>
            </a:r>
          </a:p>
          <a:p>
            <a:r>
              <a:rPr lang="en-US" dirty="0" smtClean="0"/>
              <a:t>  (STUDENT(</a:t>
            </a:r>
            <a:r>
              <a:rPr lang="en-US" dirty="0" err="1" smtClean="0"/>
              <a:t>sid</a:t>
            </a:r>
            <a:r>
              <a:rPr lang="en-US" dirty="0" smtClean="0"/>
              <a:t>, name, age, dept)</a:t>
            </a:r>
          </a:p>
          <a:p>
            <a:r>
              <a:rPr lang="en-US" dirty="0" smtClean="0"/>
              <a:t>   AND dept = 'CSE’ AND age &gt; 19) }</a:t>
            </a:r>
            <a:endParaRPr lang="en-US" dirty="0"/>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71420"/>
            <a:ext cx="8358246" cy="369332"/>
          </a:xfrm>
          <a:prstGeom prst="rect">
            <a:avLst/>
          </a:prstGeom>
        </p:spPr>
        <p:txBody>
          <a:bodyPr wrap="square">
            <a:spAutoFit/>
          </a:bodyPr>
          <a:lstStyle/>
          <a:p>
            <a:r>
              <a:rPr lang="en-US" dirty="0" smtClean="0">
                <a:solidFill>
                  <a:srgbClr val="00B0F0"/>
                </a:solidFill>
              </a:rPr>
              <a:t>Consider Schema</a:t>
            </a:r>
            <a:r>
              <a:rPr lang="en-US" b="1" dirty="0" smtClean="0">
                <a:solidFill>
                  <a:srgbClr val="00B0F0"/>
                </a:solidFill>
              </a:rPr>
              <a:t>:    EMP(EID, ENAME, ADDRESS, SALARY, PHNO, EXP)</a:t>
            </a:r>
            <a:endParaRPr lang="en-US" b="1" dirty="0">
              <a:solidFill>
                <a:srgbClr val="00B0F0"/>
              </a:solidFill>
            </a:endParaRPr>
          </a:p>
        </p:txBody>
      </p:sp>
      <p:sp>
        <p:nvSpPr>
          <p:cNvPr id="145409" name="Rectangle 1"/>
          <p:cNvSpPr>
            <a:spLocks noChangeArrowheads="1"/>
          </p:cNvSpPr>
          <p:nvPr/>
        </p:nvSpPr>
        <p:spPr bwMode="auto">
          <a:xfrm>
            <a:off x="0" y="512752"/>
            <a:ext cx="9215470"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lang="en-US" b="1" dirty="0" smtClean="0">
                <a:solidFill>
                  <a:srgbClr val="92D050"/>
                </a:solidFill>
              </a:rPr>
              <a:t>Write the </a:t>
            </a:r>
            <a:r>
              <a:rPr lang="en-US" b="1" dirty="0" err="1" smtClean="0">
                <a:solidFill>
                  <a:srgbClr val="92D050"/>
                </a:solidFill>
              </a:rPr>
              <a:t>Tuple</a:t>
            </a:r>
            <a:r>
              <a:rPr lang="en-US" b="1" dirty="0" smtClean="0">
                <a:solidFill>
                  <a:srgbClr val="92D050"/>
                </a:solidFill>
              </a:rPr>
              <a:t> Relational Calculus (TRC) expressions for:</a:t>
            </a:r>
          </a:p>
          <a:p>
            <a:pPr marL="0" marR="0" lvl="0" indent="0" algn="l" defTabSz="914400" rtl="0" eaLnBrk="1" fontAlgn="base" latinLnBrk="0" hangingPunct="1">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charset="0"/>
                <a:cs typeface="Arial" charset="0"/>
              </a:rPr>
              <a:t> </a:t>
            </a:r>
          </a:p>
          <a:p>
            <a:pPr lvl="0" fontAlgn="base">
              <a:spcBef>
                <a:spcPct val="0"/>
              </a:spcBef>
              <a:spcAft>
                <a:spcPct val="0"/>
              </a:spcAft>
              <a:buFontTx/>
              <a:buChar char="•"/>
            </a:pPr>
            <a:r>
              <a:rPr lang="en-US" dirty="0" smtClean="0">
                <a:latin typeface="Arial" charset="0"/>
                <a:cs typeface="Arial" charset="0"/>
              </a:rPr>
              <a:t>Find all employees.</a:t>
            </a: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employees whose salary is greater than 50000.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employees whose experience is greater than 5 years.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employees who live in Hyderabad.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employees whose salary is equal to 60000.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the employee whose EID is 103.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employees whose experience is less than 5 years.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employees whose salary is greater than 40000 and experience is greater than 3yrs.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employees who live in Hyderabad and have a salary greater than 50000.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Find employees whose salary is between 40000 and 60000. </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101630"/>
            <a:ext cx="9001188" cy="3970318"/>
          </a:xfrm>
          <a:prstGeom prst="rect">
            <a:avLst/>
          </a:prstGeom>
        </p:spPr>
        <p:txBody>
          <a:bodyPr wrap="square">
            <a:spAutoFit/>
          </a:bodyPr>
          <a:lstStyle/>
          <a:p>
            <a:pPr algn="ctr"/>
            <a:r>
              <a:rPr lang="en-US" b="1" dirty="0" smtClean="0">
                <a:solidFill>
                  <a:srgbClr val="92D050"/>
                </a:solidFill>
              </a:rPr>
              <a:t>Write the Domain Relational Calculus (DRC) expressions for:</a:t>
            </a:r>
          </a:p>
          <a:p>
            <a:r>
              <a:rPr lang="en-US" dirty="0" smtClean="0">
                <a:sym typeface="Wingdings" pitchFamily="2" charset="2"/>
              </a:rPr>
              <a:t> </a:t>
            </a:r>
            <a:r>
              <a:rPr lang="en-US" dirty="0" smtClean="0"/>
              <a:t>Find the names of all employees. </a:t>
            </a:r>
          </a:p>
          <a:p>
            <a:r>
              <a:rPr lang="en-US" dirty="0" smtClean="0">
                <a:sym typeface="Wingdings" pitchFamily="2" charset="2"/>
              </a:rPr>
              <a:t> </a:t>
            </a:r>
            <a:r>
              <a:rPr lang="en-US" dirty="0" smtClean="0"/>
              <a:t>Find the names of employees whose salary is greater than 50000. </a:t>
            </a:r>
          </a:p>
          <a:p>
            <a:r>
              <a:rPr lang="en-US" dirty="0" smtClean="0">
                <a:sym typeface="Wingdings" pitchFamily="2" charset="2"/>
              </a:rPr>
              <a:t> </a:t>
            </a:r>
            <a:r>
              <a:rPr lang="en-US" dirty="0" smtClean="0"/>
              <a:t>Find the names of employees whose experience is greater than 5 years. </a:t>
            </a:r>
          </a:p>
          <a:p>
            <a:r>
              <a:rPr lang="en-US" dirty="0" smtClean="0">
                <a:sym typeface="Wingdings" pitchFamily="2" charset="2"/>
              </a:rPr>
              <a:t> </a:t>
            </a:r>
            <a:r>
              <a:rPr lang="en-US" dirty="0" smtClean="0"/>
              <a:t>Find the names of employees who live in Hyderabad. </a:t>
            </a:r>
          </a:p>
          <a:p>
            <a:r>
              <a:rPr lang="en-US" dirty="0" smtClean="0">
                <a:sym typeface="Wingdings" pitchFamily="2" charset="2"/>
              </a:rPr>
              <a:t> </a:t>
            </a:r>
            <a:r>
              <a:rPr lang="en-US" dirty="0" smtClean="0"/>
              <a:t>Find the names of employees whose salary is equal to 60000. </a:t>
            </a:r>
          </a:p>
          <a:p>
            <a:r>
              <a:rPr lang="en-US" dirty="0" smtClean="0">
                <a:sym typeface="Wingdings" pitchFamily="2" charset="2"/>
              </a:rPr>
              <a:t> </a:t>
            </a:r>
            <a:r>
              <a:rPr lang="en-US" dirty="0" smtClean="0"/>
              <a:t>Find the name of the employee whose EID is 103. </a:t>
            </a:r>
          </a:p>
          <a:p>
            <a:r>
              <a:rPr lang="en-US" dirty="0" smtClean="0">
                <a:sym typeface="Wingdings" pitchFamily="2" charset="2"/>
              </a:rPr>
              <a:t> </a:t>
            </a:r>
            <a:r>
              <a:rPr lang="en-US" dirty="0" smtClean="0"/>
              <a:t>Find the names of employees whose experience is less than 5 years. </a:t>
            </a:r>
          </a:p>
          <a:p>
            <a:pPr>
              <a:buFont typeface="Wingdings"/>
              <a:buChar char="à"/>
            </a:pPr>
            <a:r>
              <a:rPr lang="en-US" dirty="0" smtClean="0"/>
              <a:t>Find the names of employees whose salary is greater than 40000 and  </a:t>
            </a:r>
          </a:p>
          <a:p>
            <a:r>
              <a:rPr lang="en-US" dirty="0" smtClean="0"/>
              <a:t>      experience is greater than 3 years. </a:t>
            </a:r>
          </a:p>
          <a:p>
            <a:pPr>
              <a:buFont typeface="Wingdings"/>
              <a:buChar char="à"/>
            </a:pPr>
            <a:r>
              <a:rPr lang="en-US" dirty="0" smtClean="0"/>
              <a:t>Find the names of employees who live in Hyderabad and have a salary  </a:t>
            </a:r>
          </a:p>
          <a:p>
            <a:r>
              <a:rPr lang="en-US" dirty="0" smtClean="0"/>
              <a:t>       greater than 50000. </a:t>
            </a:r>
          </a:p>
          <a:p>
            <a:pPr>
              <a:buFont typeface="Wingdings"/>
              <a:buChar char="à"/>
            </a:pPr>
            <a:r>
              <a:rPr lang="en-US" dirty="0" smtClean="0"/>
              <a:t>Find the names and salaries of employees whose salary is between 40000 </a:t>
            </a:r>
          </a:p>
          <a:p>
            <a:r>
              <a:rPr lang="en-US" dirty="0" smtClean="0"/>
              <a:t>       and 60000.</a:t>
            </a:r>
            <a:endParaRPr lang="en-US" dirty="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1406" y="500048"/>
          <a:ext cx="8786874" cy="2194560"/>
        </p:xfrm>
        <a:graphic>
          <a:graphicData uri="http://schemas.openxmlformats.org/drawingml/2006/table">
            <a:tbl>
              <a:tblPr>
                <a:tableStyleId>{775DCB02-9BB8-47FD-8907-85C794F793BA}</a:tableStyleId>
              </a:tblPr>
              <a:tblGrid>
                <a:gridCol w="3857652"/>
                <a:gridCol w="4929222"/>
              </a:tblGrid>
              <a:tr h="0">
                <a:tc>
                  <a:txBody>
                    <a:bodyPr/>
                    <a:lstStyle/>
                    <a:p>
                      <a:r>
                        <a:rPr lang="en-US"/>
                        <a:t>Relational Algebra</a:t>
                      </a:r>
                    </a:p>
                  </a:txBody>
                  <a:tcPr anchor="ctr"/>
                </a:tc>
                <a:tc>
                  <a:txBody>
                    <a:bodyPr/>
                    <a:lstStyle/>
                    <a:p>
                      <a:r>
                        <a:rPr lang="en-US"/>
                        <a:t>Relational Calculus</a:t>
                      </a:r>
                    </a:p>
                  </a:txBody>
                  <a:tcPr anchor="ctr"/>
                </a:tc>
              </a:tr>
              <a:tr h="0">
                <a:tc>
                  <a:txBody>
                    <a:bodyPr/>
                    <a:lstStyle/>
                    <a:p>
                      <a:r>
                        <a:rPr lang="en-US"/>
                        <a:t>Procedural</a:t>
                      </a:r>
                    </a:p>
                  </a:txBody>
                  <a:tcPr anchor="ctr"/>
                </a:tc>
                <a:tc>
                  <a:txBody>
                    <a:bodyPr/>
                    <a:lstStyle/>
                    <a:p>
                      <a:r>
                        <a:rPr lang="en-US"/>
                        <a:t>Non-procedural</a:t>
                      </a:r>
                    </a:p>
                  </a:txBody>
                  <a:tcPr anchor="ctr"/>
                </a:tc>
              </a:tr>
              <a:tr h="0">
                <a:tc>
                  <a:txBody>
                    <a:bodyPr/>
                    <a:lstStyle/>
                    <a:p>
                      <a:r>
                        <a:rPr lang="en-US"/>
                        <a:t>Specifies how to retrieve data</a:t>
                      </a:r>
                    </a:p>
                  </a:txBody>
                  <a:tcPr anchor="ctr"/>
                </a:tc>
                <a:tc>
                  <a:txBody>
                    <a:bodyPr/>
                    <a:lstStyle/>
                    <a:p>
                      <a:r>
                        <a:rPr lang="en-US"/>
                        <a:t>Specifies what data is required</a:t>
                      </a:r>
                    </a:p>
                  </a:txBody>
                  <a:tcPr anchor="ctr"/>
                </a:tc>
              </a:tr>
              <a:tr h="0">
                <a:tc>
                  <a:txBody>
                    <a:bodyPr/>
                    <a:lstStyle/>
                    <a:p>
                      <a:r>
                        <a:rPr lang="en-US"/>
                        <a:t>Uses operators</a:t>
                      </a:r>
                    </a:p>
                  </a:txBody>
                  <a:tcPr anchor="ctr"/>
                </a:tc>
                <a:tc>
                  <a:txBody>
                    <a:bodyPr/>
                    <a:lstStyle/>
                    <a:p>
                      <a:r>
                        <a:rPr lang="en-US"/>
                        <a:t>Uses predicates and logical expressions</a:t>
                      </a:r>
                    </a:p>
                  </a:txBody>
                  <a:tcPr anchor="ctr"/>
                </a:tc>
              </a:tr>
              <a:tr h="0">
                <a:tc>
                  <a:txBody>
                    <a:bodyPr/>
                    <a:lstStyle/>
                    <a:p>
                      <a:r>
                        <a:rPr lang="en-US"/>
                        <a:t>Selection, Projection, Join</a:t>
                      </a:r>
                    </a:p>
                  </a:txBody>
                  <a:tcPr anchor="ctr"/>
                </a:tc>
                <a:tc>
                  <a:txBody>
                    <a:bodyPr/>
                    <a:lstStyle/>
                    <a:p>
                      <a:r>
                        <a:rPr lang="en-US"/>
                        <a:t>TRC and DRC</a:t>
                      </a:r>
                    </a:p>
                  </a:txBody>
                  <a:tcPr anchor="ctr"/>
                </a:tc>
              </a:tr>
              <a:tr h="0">
                <a:tc>
                  <a:txBody>
                    <a:bodyPr/>
                    <a:lstStyle/>
                    <a:p>
                      <a:r>
                        <a:rPr lang="en-US"/>
                        <a:t>Example: </a:t>
                      </a:r>
                      <a:r>
                        <a:rPr lang="el-GR"/>
                        <a:t>σ </a:t>
                      </a:r>
                      <a:r>
                        <a:rPr lang="en-US"/>
                        <a:t>AGE &gt; 20(STUDENT)</a:t>
                      </a:r>
                    </a:p>
                  </a:txBody>
                  <a:tcPr anchor="ctr"/>
                </a:tc>
                <a:tc>
                  <a:txBody>
                    <a:bodyPr/>
                    <a:lstStyle/>
                    <a:p>
                      <a:r>
                        <a:rPr lang="en-US" dirty="0"/>
                        <a:t>{t | t ∈ STUDENT AND </a:t>
                      </a:r>
                      <a:r>
                        <a:rPr lang="en-US" dirty="0" err="1"/>
                        <a:t>t.AGE</a:t>
                      </a:r>
                      <a:r>
                        <a:rPr lang="en-US" dirty="0"/>
                        <a:t> &gt; 20}</a:t>
                      </a:r>
                    </a:p>
                  </a:txBody>
                  <a:tcPr anchor="ctr"/>
                </a:tc>
              </a:tr>
            </a:tbl>
          </a:graphicData>
        </a:graphic>
      </p:graphicFrame>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18"/>
            <a:ext cx="9001188" cy="515526"/>
          </a:xfrm>
          <a:prstGeom prst="rect">
            <a:avLst/>
          </a:prstGeom>
        </p:spPr>
        <p:txBody>
          <a:bodyPr wrap="square">
            <a:spAutoFit/>
          </a:bodyPr>
          <a:lstStyle/>
          <a:p>
            <a:pPr algn="ctr">
              <a:lnSpc>
                <a:spcPct val="150000"/>
              </a:lnSpc>
            </a:pPr>
            <a:r>
              <a:rPr lang="en-US" sz="2000" dirty="0" smtClean="0">
                <a:solidFill>
                  <a:srgbClr val="FF0000"/>
                </a:solidFill>
              </a:rPr>
              <a:t>7. Basic SQL querying (select and project) using where clause</a:t>
            </a:r>
            <a:r>
              <a:rPr lang="en-US" dirty="0" smtClean="0"/>
              <a:t> </a:t>
            </a:r>
          </a:p>
        </p:txBody>
      </p:sp>
      <p:sp>
        <p:nvSpPr>
          <p:cNvPr id="33793" name="Rectangle 1"/>
          <p:cNvSpPr>
            <a:spLocks noChangeArrowheads="1"/>
          </p:cNvSpPr>
          <p:nvPr/>
        </p:nvSpPr>
        <p:spPr bwMode="auto">
          <a:xfrm>
            <a:off x="71406" y="916534"/>
            <a:ext cx="8501122"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dirty="0" smtClean="0"/>
              <a:t>SELECT is used to retrieve data from a table. </a:t>
            </a:r>
          </a:p>
        </p:txBody>
      </p:sp>
      <p:sp>
        <p:nvSpPr>
          <p:cNvPr id="4" name="Rectangle 3"/>
          <p:cNvSpPr/>
          <p:nvPr/>
        </p:nvSpPr>
        <p:spPr>
          <a:xfrm>
            <a:off x="214282" y="1428742"/>
            <a:ext cx="8429684" cy="369332"/>
          </a:xfrm>
          <a:prstGeom prst="rect">
            <a:avLst/>
          </a:prstGeom>
        </p:spPr>
        <p:txBody>
          <a:bodyPr wrap="square">
            <a:spAutoFit/>
          </a:bodyPr>
          <a:lstStyle/>
          <a:p>
            <a:r>
              <a:rPr lang="en-US" dirty="0" smtClean="0"/>
              <a:t>Display all columns :   SELECT * FROM STUDENT;                                                                    </a:t>
            </a:r>
            <a:endParaRPr lang="en-US" dirty="0"/>
          </a:p>
        </p:txBody>
      </p:sp>
      <p:sp>
        <p:nvSpPr>
          <p:cNvPr id="5" name="Rectangle 4"/>
          <p:cNvSpPr/>
          <p:nvPr/>
        </p:nvSpPr>
        <p:spPr>
          <a:xfrm>
            <a:off x="142844" y="1857370"/>
            <a:ext cx="8572560" cy="369332"/>
          </a:xfrm>
          <a:prstGeom prst="rect">
            <a:avLst/>
          </a:prstGeom>
        </p:spPr>
        <p:txBody>
          <a:bodyPr wrap="square">
            <a:spAutoFit/>
          </a:bodyPr>
          <a:lstStyle/>
          <a:p>
            <a:r>
              <a:rPr lang="en-US" dirty="0" smtClean="0"/>
              <a:t>Display selected columns: SELECT SID, SNAME FROM STUDENT;                                           </a:t>
            </a:r>
            <a:endParaRPr lang="en-US" dirty="0"/>
          </a:p>
        </p:txBody>
      </p:sp>
      <p:sp>
        <p:nvSpPr>
          <p:cNvPr id="6" name="Rectangle 5"/>
          <p:cNvSpPr/>
          <p:nvPr/>
        </p:nvSpPr>
        <p:spPr>
          <a:xfrm>
            <a:off x="357158" y="2428874"/>
            <a:ext cx="7925568" cy="369332"/>
          </a:xfrm>
          <a:prstGeom prst="rect">
            <a:avLst/>
          </a:prstGeom>
        </p:spPr>
        <p:txBody>
          <a:bodyPr wrap="none">
            <a:spAutoFit/>
          </a:bodyPr>
          <a:lstStyle/>
          <a:p>
            <a:r>
              <a:rPr lang="en-US" b="1" dirty="0" smtClean="0">
                <a:solidFill>
                  <a:srgbClr val="00B050"/>
                </a:solidFill>
              </a:rPr>
              <a:t>WHERE Clause:  </a:t>
            </a:r>
            <a:r>
              <a:rPr lang="en-US" dirty="0" smtClean="0"/>
              <a:t>it is used to specify a condition.</a:t>
            </a:r>
            <a:r>
              <a:rPr lang="en-US" b="1" dirty="0" smtClean="0">
                <a:solidFill>
                  <a:srgbClr val="00B050"/>
                </a:solidFill>
              </a:rPr>
              <a:t>                                </a:t>
            </a:r>
            <a:endParaRPr lang="en-US" b="1" dirty="0">
              <a:solidFill>
                <a:srgbClr val="00B050"/>
              </a:solidFill>
            </a:endParaRPr>
          </a:p>
        </p:txBody>
      </p:sp>
      <p:sp>
        <p:nvSpPr>
          <p:cNvPr id="7" name="Rectangle 6"/>
          <p:cNvSpPr/>
          <p:nvPr/>
        </p:nvSpPr>
        <p:spPr>
          <a:xfrm>
            <a:off x="714348" y="3000378"/>
            <a:ext cx="6929486" cy="369332"/>
          </a:xfrm>
          <a:prstGeom prst="rect">
            <a:avLst/>
          </a:prstGeom>
        </p:spPr>
        <p:txBody>
          <a:bodyPr wrap="square">
            <a:spAutoFit/>
          </a:bodyPr>
          <a:lstStyle/>
          <a:p>
            <a:r>
              <a:rPr lang="en-US" dirty="0" smtClean="0"/>
              <a:t>SELECT  * FROM STUDENT WHERE DEPT= 'CSE';</a:t>
            </a:r>
            <a:endParaRPr lang="en-US" dirty="0"/>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5984" y="68031"/>
            <a:ext cx="5208477" cy="646331"/>
          </a:xfrm>
          <a:prstGeom prst="rect">
            <a:avLst/>
          </a:prstGeom>
        </p:spPr>
        <p:txBody>
          <a:bodyPr wrap="square">
            <a:spAutoFit/>
          </a:bodyPr>
          <a:lstStyle/>
          <a:p>
            <a:pPr>
              <a:lnSpc>
                <a:spcPct val="150000"/>
              </a:lnSpc>
            </a:pPr>
            <a:r>
              <a:rPr lang="en-US" sz="2400" b="1" dirty="0" smtClean="0">
                <a:solidFill>
                  <a:srgbClr val="FF0000"/>
                </a:solidFill>
              </a:rPr>
              <a:t>8.Arithmetic &amp; logical operations </a:t>
            </a:r>
          </a:p>
        </p:txBody>
      </p:sp>
      <p:sp>
        <p:nvSpPr>
          <p:cNvPr id="3" name="Rectangle 2"/>
          <p:cNvSpPr/>
          <p:nvPr/>
        </p:nvSpPr>
        <p:spPr>
          <a:xfrm>
            <a:off x="142844" y="571486"/>
            <a:ext cx="8858312" cy="461665"/>
          </a:xfrm>
          <a:prstGeom prst="rect">
            <a:avLst/>
          </a:prstGeom>
        </p:spPr>
        <p:txBody>
          <a:bodyPr wrap="square">
            <a:spAutoFit/>
          </a:bodyPr>
          <a:lstStyle/>
          <a:p>
            <a:r>
              <a:rPr lang="en-US" sz="2400" b="1" dirty="0" smtClean="0">
                <a:solidFill>
                  <a:srgbClr val="FF0000"/>
                </a:solidFill>
              </a:rPr>
              <a:t>Arithmetic operators : </a:t>
            </a:r>
            <a:r>
              <a:rPr lang="en-US" sz="2400" dirty="0" smtClean="0"/>
              <a:t>Perform mathematical calculations.</a:t>
            </a:r>
            <a:endParaRPr lang="en-US" sz="2400" dirty="0"/>
          </a:p>
        </p:txBody>
      </p:sp>
      <p:graphicFrame>
        <p:nvGraphicFramePr>
          <p:cNvPr id="4" name="Table 3"/>
          <p:cNvGraphicFramePr>
            <a:graphicFrameLocks noGrp="1"/>
          </p:cNvGraphicFramePr>
          <p:nvPr/>
        </p:nvGraphicFramePr>
        <p:xfrm>
          <a:off x="214282" y="1000114"/>
          <a:ext cx="3013711" cy="1828800"/>
        </p:xfrm>
        <a:graphic>
          <a:graphicData uri="http://schemas.openxmlformats.org/drawingml/2006/table">
            <a:tbl>
              <a:tblPr>
                <a:tableStyleId>{35758FB7-9AC5-4552-8A53-C91805E547FA}</a:tableStyleId>
              </a:tblPr>
              <a:tblGrid>
                <a:gridCol w="1244918"/>
                <a:gridCol w="1768793"/>
              </a:tblGrid>
              <a:tr h="0">
                <a:tc>
                  <a:txBody>
                    <a:bodyPr/>
                    <a:lstStyle/>
                    <a:p>
                      <a:r>
                        <a:rPr lang="en-US" dirty="0"/>
                        <a:t>Operator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Operation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Addition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Subtraction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Multiplication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Division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Rectangle 4"/>
          <p:cNvSpPr/>
          <p:nvPr/>
        </p:nvSpPr>
        <p:spPr>
          <a:xfrm>
            <a:off x="2857488" y="2930916"/>
            <a:ext cx="6215106" cy="1569660"/>
          </a:xfrm>
          <a:prstGeom prst="rect">
            <a:avLst/>
          </a:prstGeom>
        </p:spPr>
        <p:txBody>
          <a:bodyPr wrap="square">
            <a:spAutoFit/>
          </a:bodyPr>
          <a:lstStyle/>
          <a:p>
            <a:r>
              <a:rPr lang="en-US" sz="2400" b="1" dirty="0" smtClean="0">
                <a:solidFill>
                  <a:srgbClr val="FF0000"/>
                </a:solidFill>
              </a:rPr>
              <a:t>Logical operations: </a:t>
            </a:r>
            <a:r>
              <a:rPr lang="en-US" sz="2400" dirty="0" smtClean="0"/>
              <a:t>Combine conditions.</a:t>
            </a:r>
          </a:p>
          <a:p>
            <a:r>
              <a:rPr lang="en-US" sz="2400" dirty="0" smtClean="0"/>
              <a:t>AND   : Both conditions must be true. </a:t>
            </a:r>
            <a:br>
              <a:rPr lang="en-US" sz="2400" dirty="0" smtClean="0"/>
            </a:br>
            <a:r>
              <a:rPr lang="en-US" sz="2400" dirty="0" smtClean="0"/>
              <a:t>OR     : Any one condition must be true.</a:t>
            </a:r>
          </a:p>
          <a:p>
            <a:r>
              <a:rPr lang="en-US" sz="2400" dirty="0" smtClean="0"/>
              <a:t>NOT	:</a:t>
            </a:r>
            <a:r>
              <a:rPr lang="en-US" sz="2400" b="1" dirty="0" smtClean="0">
                <a:solidFill>
                  <a:srgbClr val="FF0000"/>
                </a:solidFill>
              </a:rPr>
              <a:t> </a:t>
            </a:r>
            <a:r>
              <a:rPr lang="en-US" sz="2400" dirty="0" smtClean="0"/>
              <a:t>Reverses the condition.</a:t>
            </a:r>
            <a:endParaRPr lang="en-US" sz="2400" b="1" dirty="0" smtClean="0">
              <a:solidFill>
                <a:srgbClr val="FF0000"/>
              </a:solidFill>
            </a:endParaRP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1736" y="38383"/>
            <a:ext cx="4065537" cy="461665"/>
          </a:xfrm>
          <a:prstGeom prst="rect">
            <a:avLst/>
          </a:prstGeom>
        </p:spPr>
        <p:txBody>
          <a:bodyPr wrap="none">
            <a:spAutoFit/>
          </a:bodyPr>
          <a:lstStyle/>
          <a:p>
            <a:pPr algn="ctr"/>
            <a:r>
              <a:rPr lang="en-US" sz="2400" dirty="0" smtClean="0">
                <a:solidFill>
                  <a:srgbClr val="FF0000"/>
                </a:solidFill>
              </a:rPr>
              <a:t>9.</a:t>
            </a:r>
            <a:r>
              <a:rPr lang="en-US" sz="2400" b="1" dirty="0" smtClean="0"/>
              <a:t> </a:t>
            </a:r>
            <a:r>
              <a:rPr lang="en-US" sz="2400" b="1" dirty="0" smtClean="0">
                <a:solidFill>
                  <a:srgbClr val="FF0000"/>
                </a:solidFill>
              </a:rPr>
              <a:t>Comparison Operators</a:t>
            </a:r>
            <a:r>
              <a:rPr lang="en-US" sz="2400" dirty="0" smtClean="0">
                <a:solidFill>
                  <a:srgbClr val="FF0000"/>
                </a:solidFill>
              </a:rPr>
              <a:t> </a:t>
            </a:r>
            <a:endParaRPr lang="en-US" sz="2400" dirty="0">
              <a:solidFill>
                <a:srgbClr val="FF0000"/>
              </a:solidFill>
            </a:endParaRPr>
          </a:p>
        </p:txBody>
      </p:sp>
      <p:graphicFrame>
        <p:nvGraphicFramePr>
          <p:cNvPr id="3" name="Table 2"/>
          <p:cNvGraphicFramePr>
            <a:graphicFrameLocks noGrp="1"/>
          </p:cNvGraphicFramePr>
          <p:nvPr/>
        </p:nvGraphicFramePr>
        <p:xfrm>
          <a:off x="142844" y="511496"/>
          <a:ext cx="3857652" cy="2560320"/>
        </p:xfrm>
        <a:graphic>
          <a:graphicData uri="http://schemas.openxmlformats.org/drawingml/2006/table">
            <a:tbl>
              <a:tblPr>
                <a:tableStyleId>{775DCB02-9BB8-47FD-8907-85C794F793BA}</a:tableStyleId>
              </a:tblPr>
              <a:tblGrid>
                <a:gridCol w="1251147"/>
                <a:gridCol w="2606505"/>
              </a:tblGrid>
              <a:tr h="304527">
                <a:tc>
                  <a:txBody>
                    <a:bodyPr/>
                    <a:lstStyle/>
                    <a:p>
                      <a:r>
                        <a:rPr lang="en-US" dirty="0"/>
                        <a:t>Operator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Name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4527">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Equal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4527">
                <a:tc>
                  <a:txBody>
                    <a:bodyPr/>
                    <a:lstStyle/>
                    <a:p>
                      <a:r>
                        <a:rPr lang="en-US"/>
                        <a:t>&gt;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Greater 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4527">
                <a:tc>
                  <a:txBody>
                    <a:bodyPr/>
                    <a:lstStyle/>
                    <a:p>
                      <a:r>
                        <a:rPr lang="en-US"/>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Less 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4527">
                <a:tc>
                  <a:txBody>
                    <a:bodyPr/>
                    <a:lstStyle/>
                    <a:p>
                      <a:r>
                        <a:rPr lang="en-US"/>
                        <a:t>&gt;=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Greater than or equal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4527">
                <a:tc>
                  <a:txBody>
                    <a:bodyPr/>
                    <a:lstStyle/>
                    <a:p>
                      <a:r>
                        <a:rPr lang="en-US"/>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Less than or equal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4527">
                <a:tc>
                  <a:txBody>
                    <a:bodyPr/>
                    <a:lstStyle/>
                    <a:p>
                      <a:r>
                        <a:rPr lang="en-US"/>
                        <a:t>&lt;&gt;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Not equal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1802" y="142858"/>
            <a:ext cx="2781531" cy="461665"/>
          </a:xfrm>
          <a:prstGeom prst="rect">
            <a:avLst/>
          </a:prstGeom>
        </p:spPr>
        <p:txBody>
          <a:bodyPr wrap="none">
            <a:spAutoFit/>
          </a:bodyPr>
          <a:lstStyle/>
          <a:p>
            <a:r>
              <a:rPr lang="en-US" sz="2400" dirty="0" smtClean="0">
                <a:solidFill>
                  <a:srgbClr val="FF0000"/>
                </a:solidFill>
              </a:rPr>
              <a:t>10.SQL Functions</a:t>
            </a:r>
            <a:endParaRPr lang="en-US" sz="2400" dirty="0">
              <a:solidFill>
                <a:srgbClr val="FF0000"/>
              </a:solidFill>
            </a:endParaRPr>
          </a:p>
        </p:txBody>
      </p:sp>
      <p:sp>
        <p:nvSpPr>
          <p:cNvPr id="3" name="Rectangle 2"/>
          <p:cNvSpPr/>
          <p:nvPr/>
        </p:nvSpPr>
        <p:spPr>
          <a:xfrm>
            <a:off x="214282" y="500048"/>
            <a:ext cx="8715436" cy="1938992"/>
          </a:xfrm>
          <a:prstGeom prst="rect">
            <a:avLst/>
          </a:prstGeom>
        </p:spPr>
        <p:txBody>
          <a:bodyPr wrap="square">
            <a:spAutoFit/>
          </a:bodyPr>
          <a:lstStyle/>
          <a:p>
            <a:r>
              <a:rPr lang="en-US" sz="2000" dirty="0" smtClean="0"/>
              <a:t>SQL provides built-in functions for performing operations on data.</a:t>
            </a:r>
          </a:p>
          <a:p>
            <a:r>
              <a:rPr lang="en-US" sz="2000" dirty="0" smtClean="0"/>
              <a:t>SQL Functions are classified into :</a:t>
            </a:r>
          </a:p>
          <a:p>
            <a:r>
              <a:rPr lang="en-US" sz="2000" b="1" dirty="0" smtClean="0">
                <a:solidFill>
                  <a:srgbClr val="99FF99"/>
                </a:solidFill>
              </a:rPr>
              <a:t>Date and Time Functions </a:t>
            </a:r>
          </a:p>
          <a:p>
            <a:r>
              <a:rPr lang="en-US" sz="2000" b="1" dirty="0" smtClean="0">
                <a:solidFill>
                  <a:srgbClr val="99FF99"/>
                </a:solidFill>
              </a:rPr>
              <a:t>Numeric Functions </a:t>
            </a:r>
          </a:p>
          <a:p>
            <a:r>
              <a:rPr lang="en-US" sz="2000" b="1" dirty="0" smtClean="0">
                <a:solidFill>
                  <a:srgbClr val="99FF99"/>
                </a:solidFill>
              </a:rPr>
              <a:t>String Functions </a:t>
            </a:r>
          </a:p>
          <a:p>
            <a:r>
              <a:rPr lang="en-US" sz="2000" b="1" dirty="0" smtClean="0">
                <a:solidFill>
                  <a:srgbClr val="99FF99"/>
                </a:solidFill>
              </a:rPr>
              <a:t>Conversion Functions</a:t>
            </a:r>
            <a:endParaRPr lang="en-US" sz="2000" b="1" dirty="0">
              <a:solidFill>
                <a:srgbClr val="99FF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285734"/>
            <a:ext cx="6354625" cy="369332"/>
          </a:xfrm>
          <a:prstGeom prst="rect">
            <a:avLst/>
          </a:prstGeom>
        </p:spPr>
        <p:txBody>
          <a:bodyPr wrap="none">
            <a:spAutoFit/>
          </a:bodyPr>
          <a:lstStyle/>
          <a:p>
            <a:r>
              <a:rPr lang="en-US" b="1" dirty="0" smtClean="0">
                <a:solidFill>
                  <a:srgbClr val="99FF99"/>
                </a:solidFill>
              </a:rPr>
              <a:t>Date and Time Functions::  </a:t>
            </a:r>
            <a:r>
              <a:rPr lang="en-US" b="1" dirty="0" smtClean="0"/>
              <a:t>Handle with date and time</a:t>
            </a:r>
            <a:r>
              <a:rPr lang="en-US" b="1" dirty="0" smtClean="0">
                <a:solidFill>
                  <a:srgbClr val="99FF99"/>
                </a:solidFill>
              </a:rPr>
              <a:t> </a:t>
            </a:r>
          </a:p>
        </p:txBody>
      </p:sp>
      <p:sp>
        <p:nvSpPr>
          <p:cNvPr id="3" name="Rectangle 2"/>
          <p:cNvSpPr/>
          <p:nvPr/>
        </p:nvSpPr>
        <p:spPr>
          <a:xfrm>
            <a:off x="0" y="857238"/>
            <a:ext cx="9144000" cy="1200329"/>
          </a:xfrm>
          <a:prstGeom prst="rect">
            <a:avLst/>
          </a:prstGeom>
        </p:spPr>
        <p:txBody>
          <a:bodyPr wrap="square">
            <a:spAutoFit/>
          </a:bodyPr>
          <a:lstStyle/>
          <a:p>
            <a:r>
              <a:rPr lang="en-US" dirty="0" smtClean="0"/>
              <a:t>SYSDATE                :  Returns the current system date and time.</a:t>
            </a:r>
          </a:p>
          <a:p>
            <a:r>
              <a:rPr lang="en-US" dirty="0" smtClean="0"/>
              <a:t>CURRENT_DATE      : Returns the current date based on the session   time zone.</a:t>
            </a:r>
          </a:p>
          <a:p>
            <a:r>
              <a:rPr lang="en-US" dirty="0" smtClean="0"/>
              <a:t>ADD_MONTHS        : Adds months to a date</a:t>
            </a:r>
          </a:p>
          <a:p>
            <a:r>
              <a:rPr lang="en-US" dirty="0" smtClean="0"/>
              <a:t>MONTHS_BETWEEN : number of months between two dates.</a:t>
            </a: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214296"/>
            <a:ext cx="2755883" cy="400110"/>
          </a:xfrm>
          <a:prstGeom prst="rect">
            <a:avLst/>
          </a:prstGeom>
        </p:spPr>
        <p:txBody>
          <a:bodyPr wrap="none">
            <a:spAutoFit/>
          </a:bodyPr>
          <a:lstStyle/>
          <a:p>
            <a:r>
              <a:rPr lang="en-US" sz="2000" b="1" dirty="0" smtClean="0">
                <a:solidFill>
                  <a:srgbClr val="99FF99"/>
                </a:solidFill>
              </a:rPr>
              <a:t>Numeric Functions : </a:t>
            </a:r>
          </a:p>
        </p:txBody>
      </p:sp>
      <p:sp>
        <p:nvSpPr>
          <p:cNvPr id="3" name="Rectangle 2"/>
          <p:cNvSpPr/>
          <p:nvPr/>
        </p:nvSpPr>
        <p:spPr>
          <a:xfrm>
            <a:off x="357158" y="642924"/>
            <a:ext cx="8715436" cy="2031325"/>
          </a:xfrm>
          <a:prstGeom prst="rect">
            <a:avLst/>
          </a:prstGeom>
        </p:spPr>
        <p:txBody>
          <a:bodyPr wrap="square">
            <a:spAutoFit/>
          </a:bodyPr>
          <a:lstStyle/>
          <a:p>
            <a:r>
              <a:rPr lang="en-US" dirty="0" smtClean="0"/>
              <a:t>ROUND  :Rounds a number</a:t>
            </a:r>
          </a:p>
          <a:p>
            <a:r>
              <a:rPr lang="en-US" dirty="0" smtClean="0"/>
              <a:t>CEIL       :Returns the smallest integer greater than or equal to the number.</a:t>
            </a:r>
          </a:p>
          <a:p>
            <a:r>
              <a:rPr lang="en-US" dirty="0" smtClean="0"/>
              <a:t>FLOOR   : Returns the largest integer less than or equal to the number</a:t>
            </a:r>
          </a:p>
          <a:p>
            <a:r>
              <a:rPr lang="en-US" dirty="0" smtClean="0"/>
              <a:t>MOD      : Returns the remainder</a:t>
            </a:r>
          </a:p>
          <a:p>
            <a:r>
              <a:rPr lang="en-US" b="1" dirty="0" smtClean="0"/>
              <a:t>ABS        :  </a:t>
            </a:r>
            <a:r>
              <a:rPr lang="en-US" dirty="0" smtClean="0"/>
              <a:t>Returns the absolute value</a:t>
            </a:r>
          </a:p>
          <a:p>
            <a:r>
              <a:rPr lang="en-US" b="1" dirty="0" smtClean="0"/>
              <a:t>SQRT</a:t>
            </a:r>
            <a:br>
              <a:rPr lang="en-US" b="1" dirty="0" smtClean="0"/>
            </a:br>
            <a:r>
              <a:rPr lang="en-US" b="1" dirty="0" smtClean="0"/>
              <a:t>POWER</a:t>
            </a: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71420"/>
            <a:ext cx="4572000" cy="369332"/>
          </a:xfrm>
          <a:prstGeom prst="rect">
            <a:avLst/>
          </a:prstGeom>
        </p:spPr>
        <p:txBody>
          <a:bodyPr>
            <a:spAutoFit/>
          </a:bodyPr>
          <a:lstStyle/>
          <a:p>
            <a:r>
              <a:rPr lang="en-US" b="1" dirty="0" smtClean="0">
                <a:solidFill>
                  <a:srgbClr val="99FF99"/>
                </a:solidFill>
              </a:rPr>
              <a:t>String Functions</a:t>
            </a:r>
            <a:endParaRPr lang="en-US" b="1" dirty="0">
              <a:solidFill>
                <a:srgbClr val="99FF99"/>
              </a:solidFill>
            </a:endParaRPr>
          </a:p>
        </p:txBody>
      </p:sp>
      <p:sp>
        <p:nvSpPr>
          <p:cNvPr id="3" name="Rectangle 2"/>
          <p:cNvSpPr/>
          <p:nvPr/>
        </p:nvSpPr>
        <p:spPr>
          <a:xfrm>
            <a:off x="142844" y="571486"/>
            <a:ext cx="3836307" cy="369332"/>
          </a:xfrm>
          <a:prstGeom prst="rect">
            <a:avLst/>
          </a:prstGeom>
        </p:spPr>
        <p:txBody>
          <a:bodyPr wrap="none">
            <a:spAutoFit/>
          </a:bodyPr>
          <a:lstStyle/>
          <a:p>
            <a:r>
              <a:rPr lang="en-US" dirty="0" smtClean="0"/>
              <a:t>String functions operate on text.</a:t>
            </a:r>
            <a:endParaRPr lang="en-US" dirty="0"/>
          </a:p>
        </p:txBody>
      </p:sp>
      <p:sp>
        <p:nvSpPr>
          <p:cNvPr id="4" name="Rectangle 3"/>
          <p:cNvSpPr/>
          <p:nvPr/>
        </p:nvSpPr>
        <p:spPr>
          <a:xfrm>
            <a:off x="285720" y="1000114"/>
            <a:ext cx="8643998" cy="2585323"/>
          </a:xfrm>
          <a:prstGeom prst="rect">
            <a:avLst/>
          </a:prstGeom>
        </p:spPr>
        <p:txBody>
          <a:bodyPr wrap="square">
            <a:spAutoFit/>
          </a:bodyPr>
          <a:lstStyle/>
          <a:p>
            <a:r>
              <a:rPr lang="en-US" dirty="0" smtClean="0"/>
              <a:t>UPPER    :  SELECT UPPER(‘S‘) FROM DUAL;</a:t>
            </a:r>
          </a:p>
          <a:p>
            <a:r>
              <a:rPr lang="en-US" dirty="0" smtClean="0"/>
              <a:t>LOWER   : SELECT ULOWER(‘S‘) FROM DUAL;</a:t>
            </a:r>
          </a:p>
          <a:p>
            <a:r>
              <a:rPr lang="en-US" dirty="0" smtClean="0"/>
              <a:t>LENGTH : SELECT LENGTH(‘S') FROM DUAL;</a:t>
            </a:r>
          </a:p>
          <a:p>
            <a:r>
              <a:rPr lang="en-US" dirty="0" smtClean="0"/>
              <a:t>SUBSTR  :  SELECT SUBSTR(‘S', SP, </a:t>
            </a:r>
            <a:r>
              <a:rPr lang="en-US" dirty="0" err="1" smtClean="0"/>
              <a:t>len</a:t>
            </a:r>
            <a:r>
              <a:rPr lang="en-US" dirty="0" smtClean="0"/>
              <a:t>)FROM DUAL;</a:t>
            </a:r>
          </a:p>
          <a:p>
            <a:r>
              <a:rPr lang="en-US" dirty="0" smtClean="0"/>
              <a:t>CONCAT: SELECT CONCAT(‘S1', ‘S2‘) FROM DUAL;</a:t>
            </a:r>
          </a:p>
          <a:p>
            <a:r>
              <a:rPr lang="en-US" dirty="0" smtClean="0"/>
              <a:t>INITCAP :</a:t>
            </a:r>
          </a:p>
          <a:p>
            <a:r>
              <a:rPr lang="en-US" dirty="0" smtClean="0"/>
              <a:t>PAD       :</a:t>
            </a:r>
          </a:p>
          <a:p>
            <a:r>
              <a:rPr lang="en-US" dirty="0" smtClean="0"/>
              <a:t>TRIM      :</a:t>
            </a:r>
          </a:p>
          <a:p>
            <a:r>
              <a:rPr lang="en-US" dirty="0" smtClean="0"/>
              <a:t>INSTR     :</a:t>
            </a:r>
            <a:endParaRPr lang="en-US" dirty="0"/>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14296"/>
            <a:ext cx="2600392" cy="369332"/>
          </a:xfrm>
          <a:prstGeom prst="rect">
            <a:avLst/>
          </a:prstGeom>
        </p:spPr>
        <p:txBody>
          <a:bodyPr wrap="none">
            <a:spAutoFit/>
          </a:bodyPr>
          <a:lstStyle/>
          <a:p>
            <a:r>
              <a:rPr lang="en-US" b="1" dirty="0" smtClean="0">
                <a:solidFill>
                  <a:srgbClr val="99FF99"/>
                </a:solidFill>
              </a:rPr>
              <a:t>Conversion Functions</a:t>
            </a:r>
            <a:endParaRPr lang="en-US" b="1" dirty="0">
              <a:solidFill>
                <a:srgbClr val="99FF99"/>
              </a:solidFill>
            </a:endParaRPr>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160719"/>
            <a:ext cx="8929718" cy="3046988"/>
          </a:xfrm>
          <a:prstGeom prst="rect">
            <a:avLst/>
          </a:prstGeom>
        </p:spPr>
        <p:txBody>
          <a:bodyPr wrap="square">
            <a:spAutoFit/>
          </a:bodyPr>
          <a:lstStyle/>
          <a:p>
            <a:r>
              <a:rPr lang="en-US" sz="2400" dirty="0" smtClean="0"/>
              <a:t>Table definitions (create, alter) </a:t>
            </a:r>
          </a:p>
          <a:p>
            <a:r>
              <a:rPr lang="en-US" sz="2400" dirty="0" smtClean="0"/>
              <a:t>Different DML operations (insert, delete, update).</a:t>
            </a:r>
          </a:p>
          <a:p>
            <a:r>
              <a:rPr lang="en-US" sz="2400" dirty="0" smtClean="0"/>
              <a:t>Basic SQL querying (select and project) using where clause</a:t>
            </a:r>
          </a:p>
          <a:p>
            <a:r>
              <a:rPr lang="en-US" sz="2400" dirty="0" smtClean="0"/>
              <a:t>Arithmetic &amp; logical operations</a:t>
            </a:r>
          </a:p>
          <a:p>
            <a:endParaRPr lang="en-US" sz="2400" dirty="0" smtClean="0"/>
          </a:p>
          <a:p>
            <a:r>
              <a:rPr lang="en-US" sz="2400" dirty="0" smtClean="0"/>
              <a:t>Relational set operations.</a:t>
            </a:r>
          </a:p>
          <a:p>
            <a:r>
              <a:rPr lang="en-US" sz="2400" dirty="0" smtClean="0"/>
              <a:t>SQL functions (Date and Time, Numeric, String conversion).</a:t>
            </a: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107141"/>
            <a:ext cx="8715436" cy="5478423"/>
          </a:xfrm>
          <a:prstGeom prst="rect">
            <a:avLst/>
          </a:prstGeom>
        </p:spPr>
        <p:txBody>
          <a:bodyPr wrap="square">
            <a:spAutoFit/>
          </a:bodyPr>
          <a:lstStyle/>
          <a:p>
            <a:pPr algn="ctr"/>
            <a:r>
              <a:rPr lang="en-US" sz="2000" dirty="0" smtClean="0"/>
              <a:t>Relational set operations</a:t>
            </a:r>
            <a:endParaRPr lang="en-US" sz="1600" b="1" dirty="0" smtClean="0"/>
          </a:p>
          <a:p>
            <a:r>
              <a:rPr lang="en-US" sz="1600" b="1" dirty="0" smtClean="0"/>
              <a:t>UNION</a:t>
            </a:r>
          </a:p>
          <a:p>
            <a:pPr lvl="1"/>
            <a:r>
              <a:rPr lang="en-US" sz="1600" dirty="0" smtClean="0"/>
              <a:t>The SQL Union operation is used to combine the result of two or more SQL SELECT queries.</a:t>
            </a:r>
          </a:p>
          <a:p>
            <a:endParaRPr lang="en-US" sz="1600" dirty="0" smtClean="0"/>
          </a:p>
          <a:p>
            <a:pPr lvl="1"/>
            <a:r>
              <a:rPr lang="en-US" sz="1600" dirty="0" smtClean="0"/>
              <a:t>The union operation eliminates the duplicate rows from its </a:t>
            </a:r>
            <a:r>
              <a:rPr lang="en-US" sz="1600" dirty="0" err="1" smtClean="0"/>
              <a:t>resultset</a:t>
            </a:r>
            <a:r>
              <a:rPr lang="en-US" sz="1600" dirty="0" smtClean="0"/>
              <a:t>.</a:t>
            </a:r>
          </a:p>
          <a:p>
            <a:endParaRPr lang="en-US" sz="1600" dirty="0" smtClean="0"/>
          </a:p>
          <a:p>
            <a:r>
              <a:rPr lang="en-US" sz="1600" b="1" dirty="0" smtClean="0"/>
              <a:t>UNION ALL</a:t>
            </a:r>
          </a:p>
          <a:p>
            <a:pPr lvl="1"/>
            <a:r>
              <a:rPr lang="en-US" sz="1600" dirty="0" smtClean="0"/>
              <a:t>Union All operation is equal to the Union operation. It returns the set without removing duplication</a:t>
            </a:r>
          </a:p>
          <a:p>
            <a:pPr marL="0" lvl="1"/>
            <a:endParaRPr lang="en-US" sz="1600" b="1" dirty="0" smtClean="0"/>
          </a:p>
          <a:p>
            <a:pPr marL="0" lvl="1"/>
            <a:r>
              <a:rPr lang="en-US" sz="1600" b="1" dirty="0" smtClean="0"/>
              <a:t>INTERSECT</a:t>
            </a:r>
          </a:p>
          <a:p>
            <a:pPr marL="457200" lvl="2"/>
            <a:r>
              <a:rPr lang="en-US" sz="1600" dirty="0" smtClean="0"/>
              <a:t>It is used to combine two SELECT statements. The Intersect operation returns the common rows from both the SELECT statements.</a:t>
            </a:r>
          </a:p>
          <a:p>
            <a:pPr marL="0" lvl="1"/>
            <a:endParaRPr lang="en-US" sz="1600" b="1" dirty="0" smtClean="0"/>
          </a:p>
          <a:p>
            <a:pPr marL="0" lvl="1"/>
            <a:r>
              <a:rPr lang="en-US" sz="1600" b="1" dirty="0" smtClean="0"/>
              <a:t>Minus</a:t>
            </a:r>
          </a:p>
          <a:p>
            <a:pPr lvl="1"/>
            <a:r>
              <a:rPr lang="en-US" sz="1600" dirty="0" smtClean="0"/>
              <a:t>It combines the result of two SELECT statements. Minus operator is used to display the rows which are present in the first query but absent in the second query.</a:t>
            </a:r>
          </a:p>
          <a:p>
            <a:pPr lvl="1"/>
            <a:endParaRPr lang="en-US" sz="1400" dirty="0" smtClean="0"/>
          </a:p>
          <a:p>
            <a:pPr lvl="1"/>
            <a:endParaRPr lang="en-US" sz="1400" dirty="0" smtClean="0"/>
          </a:p>
          <a:p>
            <a:endParaRPr lang="en-US" sz="1400" dirty="0"/>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42844" y="267875"/>
          <a:ext cx="8643998" cy="3911233"/>
        </p:xfrm>
        <a:graphic>
          <a:graphicData uri="http://schemas.openxmlformats.org/drawingml/2006/table">
            <a:tbl>
              <a:tblPr/>
              <a:tblGrid>
                <a:gridCol w="1357321"/>
                <a:gridCol w="7286677"/>
              </a:tblGrid>
              <a:tr h="470361">
                <a:tc>
                  <a:txBody>
                    <a:bodyPr/>
                    <a:lstStyle/>
                    <a:p>
                      <a:pPr algn="ctr" fontAlgn="b"/>
                      <a:r>
                        <a:rPr lang="en-US" sz="1400" b="1" i="0" u="none" strike="noStrike" dirty="0">
                          <a:solidFill>
                            <a:srgbClr val="000000"/>
                          </a:solidFill>
                          <a:latin typeface="Arial"/>
                        </a:rPr>
                        <a:t>Operator</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400" b="1" i="0" u="none" strike="noStrike">
                          <a:solidFill>
                            <a:srgbClr val="000000"/>
                          </a:solidFill>
                          <a:latin typeface="Arial"/>
                        </a:rPr>
                        <a:t>Description</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288037">
                <a:tc>
                  <a:txBody>
                    <a:bodyPr/>
                    <a:lstStyle/>
                    <a:p>
                      <a:pPr algn="l" fontAlgn="b"/>
                      <a:r>
                        <a:rPr lang="en-US" sz="1400" b="0" i="0" u="none" strike="noStrike" dirty="0">
                          <a:solidFill>
                            <a:srgbClr val="4A4A4A"/>
                          </a:solidFill>
                          <a:latin typeface="Arial"/>
                        </a:rPr>
                        <a:t>ALL</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4A4A4A"/>
                          </a:solidFill>
                          <a:latin typeface="Arial"/>
                        </a:rPr>
                        <a:t>Used to compare a specific value to all other values in a set</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8037">
                <a:tc>
                  <a:txBody>
                    <a:bodyPr/>
                    <a:lstStyle/>
                    <a:p>
                      <a:pPr algn="l" fontAlgn="b"/>
                      <a:r>
                        <a:rPr lang="en-US" sz="1400" b="0" i="0" u="none" strike="noStrike">
                          <a:solidFill>
                            <a:srgbClr val="4A4A4A"/>
                          </a:solidFill>
                          <a:latin typeface="Arial"/>
                        </a:rPr>
                        <a:t>ANY</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4A4A4A"/>
                          </a:solidFill>
                          <a:latin typeface="Arial"/>
                        </a:rPr>
                        <a:t>Compares a specific value to any of the values present in a set.</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8037">
                <a:tc>
                  <a:txBody>
                    <a:bodyPr/>
                    <a:lstStyle/>
                    <a:p>
                      <a:pPr algn="l" fontAlgn="b"/>
                      <a:r>
                        <a:rPr lang="en-US" sz="1400" b="0" i="0" u="none" strike="noStrike">
                          <a:solidFill>
                            <a:srgbClr val="4A4A4A"/>
                          </a:solidFill>
                          <a:latin typeface="Arial"/>
                        </a:rPr>
                        <a:t>IN</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4A4A4A"/>
                          </a:solidFill>
                          <a:latin typeface="Arial"/>
                        </a:rPr>
                        <a:t>Used to compare a specific value to the literal values mentioned.</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8288">
                <a:tc>
                  <a:txBody>
                    <a:bodyPr/>
                    <a:lstStyle/>
                    <a:p>
                      <a:pPr algn="l" fontAlgn="b"/>
                      <a:r>
                        <a:rPr lang="en-US" sz="1400" b="0" i="0" u="none" strike="noStrike">
                          <a:solidFill>
                            <a:srgbClr val="4A4A4A"/>
                          </a:solidFill>
                          <a:latin typeface="Arial"/>
                        </a:rPr>
                        <a:t>BETWEEN</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a:solidFill>
                            <a:srgbClr val="4A4A4A"/>
                          </a:solidFill>
                          <a:latin typeface="Arial"/>
                        </a:rPr>
                        <a:t>Searches for values within the range mentioned.</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8037">
                <a:tc>
                  <a:txBody>
                    <a:bodyPr/>
                    <a:lstStyle/>
                    <a:p>
                      <a:pPr algn="l" fontAlgn="b"/>
                      <a:r>
                        <a:rPr lang="en-US" sz="1400" b="0" i="0" u="none" strike="noStrike">
                          <a:solidFill>
                            <a:srgbClr val="4A4A4A"/>
                          </a:solidFill>
                          <a:latin typeface="Arial"/>
                        </a:rPr>
                        <a:t>AND</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4A4A4A"/>
                          </a:solidFill>
                          <a:latin typeface="Arial"/>
                        </a:rPr>
                        <a:t>Allows the user to mention multiple conditions in a WHERE clause.</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8037">
                <a:tc>
                  <a:txBody>
                    <a:bodyPr/>
                    <a:lstStyle/>
                    <a:p>
                      <a:pPr marL="0" algn="l" rtl="0" eaLnBrk="1" fontAlgn="b" latinLnBrk="0" hangingPunct="1"/>
                      <a:r>
                        <a:rPr kumimoji="0" lang="en-US" sz="1400" b="0" i="0" u="none" strike="noStrike" kern="1200" dirty="0">
                          <a:solidFill>
                            <a:srgbClr val="4A4A4A"/>
                          </a:solidFill>
                          <a:latin typeface="Arial"/>
                          <a:ea typeface="+mn-ea"/>
                          <a:cs typeface="+mn-cs"/>
                        </a:rPr>
                        <a:t>OR</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4A4A4A"/>
                          </a:solidFill>
                          <a:latin typeface="Arial"/>
                        </a:rPr>
                        <a:t>Combines multiple conditions in a WHERE clause.</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8037">
                <a:tc>
                  <a:txBody>
                    <a:bodyPr/>
                    <a:lstStyle/>
                    <a:p>
                      <a:pPr marL="0" algn="l" rtl="0" eaLnBrk="1" fontAlgn="b" latinLnBrk="0" hangingPunct="1"/>
                      <a:r>
                        <a:rPr kumimoji="0" lang="en-US" sz="1400" b="0" i="0" u="none" strike="noStrike" kern="1200" dirty="0">
                          <a:solidFill>
                            <a:srgbClr val="4A4A4A"/>
                          </a:solidFill>
                          <a:latin typeface="Arial"/>
                          <a:ea typeface="+mn-ea"/>
                          <a:cs typeface="+mn-cs"/>
                        </a:rPr>
                        <a:t>NOT</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4A4A4A"/>
                          </a:solidFill>
                          <a:latin typeface="Arial"/>
                        </a:rPr>
                        <a:t>A negate operators, used to reverse the output of the logical operator.</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8037">
                <a:tc>
                  <a:txBody>
                    <a:bodyPr/>
                    <a:lstStyle/>
                    <a:p>
                      <a:pPr marL="0" algn="l" rtl="0" eaLnBrk="1" fontAlgn="b" latinLnBrk="0" hangingPunct="1"/>
                      <a:r>
                        <a:rPr kumimoji="0" lang="en-US" sz="1400" b="0" i="0" u="none" strike="noStrike" kern="1200" dirty="0">
                          <a:solidFill>
                            <a:srgbClr val="4A4A4A"/>
                          </a:solidFill>
                          <a:latin typeface="Arial"/>
                          <a:ea typeface="+mn-ea"/>
                          <a:cs typeface="+mn-cs"/>
                        </a:rPr>
                        <a:t>EXISTS</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4A4A4A"/>
                          </a:solidFill>
                          <a:latin typeface="Arial"/>
                        </a:rPr>
                        <a:t>Used to search for the row’s presence in the table.</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88037">
                <a:tc>
                  <a:txBody>
                    <a:bodyPr/>
                    <a:lstStyle/>
                    <a:p>
                      <a:pPr marL="0" algn="l" rtl="0" eaLnBrk="1" fontAlgn="b" latinLnBrk="0" hangingPunct="1"/>
                      <a:r>
                        <a:rPr kumimoji="0" lang="en-US" sz="1400" b="0" i="0" u="none" strike="noStrike" kern="1200" dirty="0">
                          <a:solidFill>
                            <a:srgbClr val="4A4A4A"/>
                          </a:solidFill>
                          <a:latin typeface="Arial"/>
                          <a:ea typeface="+mn-ea"/>
                          <a:cs typeface="+mn-cs"/>
                          <a:hlinkClick r:id="rId2"/>
                        </a:rPr>
                        <a:t>LIKE</a:t>
                      </a:r>
                      <a:endParaRPr kumimoji="0" lang="en-US" sz="1400" b="0" i="0" u="none" strike="noStrike" kern="1200" dirty="0">
                        <a:solidFill>
                          <a:srgbClr val="4A4A4A"/>
                        </a:solidFill>
                        <a:latin typeface="Arial"/>
                        <a:ea typeface="+mn-ea"/>
                        <a:cs typeface="+mn-cs"/>
                      </a:endParaRP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4A4A4A"/>
                          </a:solidFill>
                          <a:latin typeface="Arial"/>
                        </a:rPr>
                        <a:t>Compares a pattern using wildcard operators.</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8288">
                <a:tc>
                  <a:txBody>
                    <a:bodyPr/>
                    <a:lstStyle/>
                    <a:p>
                      <a:pPr marL="0" algn="l" rtl="0" eaLnBrk="1" fontAlgn="b" latinLnBrk="0" hangingPunct="1"/>
                      <a:r>
                        <a:rPr kumimoji="0" lang="en-US" sz="1400" b="0" i="0" u="none" strike="noStrike" kern="1200" dirty="0">
                          <a:solidFill>
                            <a:srgbClr val="4A4A4A"/>
                          </a:solidFill>
                          <a:latin typeface="Arial"/>
                          <a:ea typeface="+mn-ea"/>
                          <a:cs typeface="+mn-cs"/>
                        </a:rPr>
                        <a:t>SOME</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4A4A4A"/>
                          </a:solidFill>
                          <a:latin typeface="Arial"/>
                        </a:rPr>
                        <a:t>Similar to the ANY operator, and is used compares a specific value to some of the values present in a set.</a:t>
                      </a:r>
                    </a:p>
                  </a:txBody>
                  <a:tcPr marL="7620" marR="7620" marT="57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321455"/>
            <a:ext cx="6429420" cy="2585323"/>
          </a:xfrm>
          <a:prstGeom prst="rect">
            <a:avLst/>
          </a:prstGeom>
          <a:noFill/>
        </p:spPr>
        <p:txBody>
          <a:bodyPr wrap="square" rtlCol="0">
            <a:spAutoFit/>
          </a:bodyPr>
          <a:lstStyle/>
          <a:p>
            <a:pPr algn="ctr"/>
            <a:r>
              <a:rPr lang="en-US" sz="2400" dirty="0" smtClean="0"/>
              <a:t>JOINS</a:t>
            </a:r>
          </a:p>
          <a:p>
            <a:pPr algn="ctr"/>
            <a:r>
              <a:rPr lang="en-US" sz="2400" dirty="0" smtClean="0"/>
              <a:t>Inner joins           outer joins</a:t>
            </a:r>
          </a:p>
          <a:p>
            <a:pPr algn="ctr"/>
            <a:r>
              <a:rPr lang="en-US" sz="2400" dirty="0" smtClean="0"/>
              <a:t>Theta  natural       left  right  full</a:t>
            </a:r>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3" name="TextBox 2"/>
          <p:cNvSpPr txBox="1"/>
          <p:nvPr/>
        </p:nvSpPr>
        <p:spPr>
          <a:xfrm>
            <a:off x="785786" y="1768074"/>
            <a:ext cx="5072098" cy="1661993"/>
          </a:xfrm>
          <a:prstGeom prst="rect">
            <a:avLst/>
          </a:prstGeom>
          <a:noFill/>
        </p:spPr>
        <p:txBody>
          <a:bodyPr wrap="square" rtlCol="0">
            <a:spAutoFit/>
          </a:bodyPr>
          <a:lstStyle/>
          <a:p>
            <a:r>
              <a:rPr lang="en-US" sz="2800" dirty="0" smtClean="0"/>
              <a:t>Select list from table1</a:t>
            </a:r>
          </a:p>
          <a:p>
            <a:r>
              <a:rPr lang="en-US" sz="2800" dirty="0" smtClean="0"/>
              <a:t>Join </a:t>
            </a:r>
          </a:p>
          <a:p>
            <a:r>
              <a:rPr lang="en-US" sz="2800" dirty="0" smtClean="0"/>
              <a:t>table2 on Condition</a:t>
            </a:r>
          </a:p>
          <a:p>
            <a:endParaRPr lang="en-US" dirty="0"/>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214296"/>
            <a:ext cx="8858280" cy="4832092"/>
          </a:xfrm>
          <a:prstGeom prst="rect">
            <a:avLst/>
          </a:prstGeom>
        </p:spPr>
        <p:txBody>
          <a:bodyPr wrap="square">
            <a:spAutoFit/>
          </a:bodyPr>
          <a:lstStyle/>
          <a:p>
            <a:pPr algn="ctr"/>
            <a:r>
              <a:rPr lang="en-IN" sz="2800" b="1" dirty="0" smtClean="0"/>
              <a:t>Unit-IV Schema Refinement (Normalization):</a:t>
            </a:r>
            <a:r>
              <a:rPr lang="en-IN" sz="2800" dirty="0" smtClean="0"/>
              <a:t> </a:t>
            </a:r>
          </a:p>
          <a:p>
            <a:r>
              <a:rPr lang="en-IN" sz="2800" dirty="0" smtClean="0">
                <a:sym typeface="Wingdings" pitchFamily="2" charset="2"/>
              </a:rPr>
              <a:t></a:t>
            </a:r>
            <a:r>
              <a:rPr lang="en-IN" sz="2800" dirty="0" smtClean="0"/>
              <a:t>Purpose of Normalization or schema refinement</a:t>
            </a:r>
          </a:p>
          <a:p>
            <a:r>
              <a:rPr lang="en-IN" sz="2800" dirty="0" smtClean="0">
                <a:sym typeface="Wingdings" pitchFamily="2" charset="2"/>
              </a:rPr>
              <a:t></a:t>
            </a:r>
            <a:r>
              <a:rPr lang="en-IN" sz="2800" dirty="0" smtClean="0"/>
              <a:t>concept of functional dependency </a:t>
            </a:r>
          </a:p>
          <a:p>
            <a:r>
              <a:rPr lang="en-IN" sz="2800" dirty="0" smtClean="0">
                <a:sym typeface="Wingdings" pitchFamily="2" charset="2"/>
              </a:rPr>
              <a:t></a:t>
            </a:r>
            <a:r>
              <a:rPr lang="en-IN" sz="2800" dirty="0" smtClean="0"/>
              <a:t>normal forms based on functional dependency </a:t>
            </a:r>
          </a:p>
          <a:p>
            <a:r>
              <a:rPr lang="en-IN" sz="2800" dirty="0" smtClean="0">
                <a:sym typeface="Wingdings" pitchFamily="2" charset="2"/>
              </a:rPr>
              <a:t></a:t>
            </a:r>
            <a:r>
              <a:rPr lang="en-IN" sz="2800" dirty="0" smtClean="0"/>
              <a:t>Lossless join and dependency preserving decomposition</a:t>
            </a:r>
          </a:p>
          <a:p>
            <a:r>
              <a:rPr lang="en-IN" sz="2800" dirty="0" smtClean="0">
                <a:sym typeface="Wingdings" pitchFamily="2" charset="2"/>
              </a:rPr>
              <a:t></a:t>
            </a:r>
            <a:r>
              <a:rPr lang="en-IN" sz="2800" dirty="0" smtClean="0"/>
              <a:t>(1NF, 2NF and 3 NF)</a:t>
            </a:r>
          </a:p>
          <a:p>
            <a:r>
              <a:rPr lang="en-IN" sz="2800" dirty="0" smtClean="0">
                <a:sym typeface="Wingdings" pitchFamily="2" charset="2"/>
              </a:rPr>
              <a:t></a:t>
            </a:r>
            <a:r>
              <a:rPr lang="en-IN" sz="2800" dirty="0" smtClean="0"/>
              <a:t>concept of surrogate key</a:t>
            </a:r>
          </a:p>
          <a:p>
            <a:r>
              <a:rPr lang="en-IN" sz="2800" dirty="0" smtClean="0">
                <a:sym typeface="Wingdings" pitchFamily="2" charset="2"/>
              </a:rPr>
              <a:t></a:t>
            </a:r>
            <a:r>
              <a:rPr lang="en-IN" sz="2800" dirty="0" smtClean="0"/>
              <a:t>Boyce-</a:t>
            </a:r>
            <a:r>
              <a:rPr lang="en-IN" sz="2800" dirty="0" err="1" smtClean="0"/>
              <a:t>Codd</a:t>
            </a:r>
            <a:r>
              <a:rPr lang="en-IN" sz="2800" dirty="0" smtClean="0"/>
              <a:t> normal form(BCNF)</a:t>
            </a:r>
          </a:p>
          <a:p>
            <a:r>
              <a:rPr lang="en-IN" sz="2800" dirty="0" smtClean="0">
                <a:sym typeface="Wingdings" pitchFamily="2" charset="2"/>
              </a:rPr>
              <a:t></a:t>
            </a:r>
            <a:r>
              <a:rPr lang="en-IN" sz="2800" dirty="0" smtClean="0"/>
              <a:t>Fourth normal form(4NF)</a:t>
            </a:r>
          </a:p>
          <a:p>
            <a:r>
              <a:rPr lang="en-IN" sz="2800" dirty="0" smtClean="0">
                <a:sym typeface="Wingdings" pitchFamily="2" charset="2"/>
              </a:rPr>
              <a:t></a:t>
            </a:r>
            <a:r>
              <a:rPr lang="en-IN" sz="2800" dirty="0" smtClean="0"/>
              <a:t>Fifth Normal Form(5NF).</a:t>
            </a:r>
            <a:endParaRPr lang="en-US" dirty="0"/>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7" y="71420"/>
            <a:ext cx="3430747" cy="400110"/>
          </a:xfrm>
          <a:prstGeom prst="rect">
            <a:avLst/>
          </a:prstGeom>
        </p:spPr>
        <p:txBody>
          <a:bodyPr wrap="none">
            <a:spAutoFit/>
          </a:bodyPr>
          <a:lstStyle/>
          <a:p>
            <a:r>
              <a:rPr lang="en-IN" sz="2000" dirty="0" smtClean="0"/>
              <a:t>Purpose of Normalization </a:t>
            </a:r>
            <a:endParaRPr lang="en-US" sz="2000" dirty="0"/>
          </a:p>
        </p:txBody>
      </p:sp>
      <p:sp>
        <p:nvSpPr>
          <p:cNvPr id="2049" name="Rectangle 1"/>
          <p:cNvSpPr>
            <a:spLocks noChangeArrowheads="1"/>
          </p:cNvSpPr>
          <p:nvPr/>
        </p:nvSpPr>
        <p:spPr bwMode="auto">
          <a:xfrm>
            <a:off x="285720" y="428610"/>
            <a:ext cx="8501090"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Normalization enhances databases by: </a:t>
            </a:r>
            <a:r>
              <a:rPr kumimoji="0" lang="en-US" sz="2000" b="0" i="0" u="none" strike="noStrike" cap="none" normalizeH="0" baseline="0" dirty="0" smtClean="0">
                <a:ln>
                  <a:noFill/>
                </a:ln>
                <a:solidFill>
                  <a:schemeClr val="tx1"/>
                </a:solidFill>
                <a:effectLst/>
                <a:latin typeface="Arial" charset="0"/>
                <a:cs typeface="Arial" charset="0"/>
                <a:sym typeface="Wingdings" pitchFamily="2" charset="2"/>
              </a:rPr>
              <a:t></a:t>
            </a:r>
            <a:r>
              <a:rPr kumimoji="0" lang="en-US" sz="2400" b="0" i="0" u="none" strike="noStrike" cap="none" normalizeH="0" baseline="0" dirty="0" smtClean="0">
                <a:ln>
                  <a:noFill/>
                </a:ln>
                <a:solidFill>
                  <a:schemeClr val="tx1"/>
                </a:solidFill>
                <a:effectLst/>
                <a:latin typeface="Arial" charset="0"/>
                <a:cs typeface="Arial" charset="0"/>
              </a:rPr>
              <a:t>reducing redundancy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sym typeface="Wingdings" pitchFamily="2" charset="2"/>
              </a:rPr>
              <a:t></a:t>
            </a:r>
            <a:r>
              <a:rPr kumimoji="0" lang="en-US" sz="2400" b="0" i="0" u="none" strike="noStrike" cap="none" normalizeH="0" baseline="0" dirty="0" smtClean="0">
                <a:ln>
                  <a:noFill/>
                </a:ln>
                <a:solidFill>
                  <a:schemeClr val="tx1"/>
                </a:solidFill>
                <a:effectLst/>
                <a:latin typeface="Arial" charset="0"/>
                <a:cs typeface="Arial" charset="0"/>
              </a:rPr>
              <a:t>minimizing anomalies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sym typeface="Wingdings" pitchFamily="2" charset="2"/>
              </a:rPr>
              <a:t></a:t>
            </a:r>
            <a:r>
              <a:rPr kumimoji="0" lang="en-US" sz="2400" b="0" i="0" u="none" strike="noStrike" cap="none" normalizeH="0" baseline="0" dirty="0" smtClean="0">
                <a:ln>
                  <a:noFill/>
                </a:ln>
                <a:solidFill>
                  <a:schemeClr val="tx1"/>
                </a:solidFill>
                <a:effectLst/>
                <a:latin typeface="Arial" charset="0"/>
                <a:cs typeface="Arial" charset="0"/>
              </a:rPr>
              <a:t>improving integrity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sym typeface="Wingdings" pitchFamily="2" charset="2"/>
              </a:rPr>
              <a:t></a:t>
            </a:r>
            <a:r>
              <a:rPr kumimoji="0" lang="en-US" sz="2400" b="0" i="0" u="none" strike="noStrike" cap="none" normalizeH="0" baseline="0" dirty="0" smtClean="0">
                <a:ln>
                  <a:noFill/>
                </a:ln>
                <a:solidFill>
                  <a:schemeClr val="tx1"/>
                </a:solidFill>
                <a:effectLst/>
                <a:latin typeface="Arial" charset="0"/>
                <a:cs typeface="Arial" charset="0"/>
              </a:rPr>
              <a:t>optimizing storage, and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Arial" charset="0"/>
              </a:rPr>
              <a:t> </a:t>
            </a:r>
            <a:r>
              <a:rPr kumimoji="0" lang="en-US" sz="2400" b="0" i="0" u="none" strike="noStrike" cap="none" normalizeH="0" baseline="0" dirty="0" smtClean="0">
                <a:ln>
                  <a:noFill/>
                </a:ln>
                <a:solidFill>
                  <a:schemeClr val="tx1"/>
                </a:solidFill>
                <a:effectLst/>
                <a:latin typeface="Arial" charset="0"/>
                <a:cs typeface="Arial" charset="0"/>
                <a:sym typeface="Wingdings" pitchFamily="2" charset="2"/>
              </a:rPr>
              <a:t></a:t>
            </a:r>
            <a:r>
              <a:rPr kumimoji="0" lang="en-US" sz="2400" b="0" i="0" u="none" strike="noStrike" cap="none" normalizeH="0" baseline="0" dirty="0" smtClean="0">
                <a:ln>
                  <a:noFill/>
                </a:ln>
                <a:solidFill>
                  <a:schemeClr val="tx1"/>
                </a:solidFill>
                <a:effectLst/>
                <a:latin typeface="Arial" charset="0"/>
                <a:cs typeface="Arial" charset="0"/>
              </a:rPr>
              <a:t>simplifying maintenance.</a:t>
            </a:r>
          </a:p>
        </p:txBody>
      </p:sp>
      <p:sp>
        <p:nvSpPr>
          <p:cNvPr id="4" name="Rectangle 3"/>
          <p:cNvSpPr/>
          <p:nvPr/>
        </p:nvSpPr>
        <p:spPr>
          <a:xfrm>
            <a:off x="71406" y="2571750"/>
            <a:ext cx="8929686" cy="1569660"/>
          </a:xfrm>
          <a:prstGeom prst="rect">
            <a:avLst/>
          </a:prstGeom>
        </p:spPr>
        <p:txBody>
          <a:bodyPr wrap="square">
            <a:spAutoFit/>
          </a:bodyPr>
          <a:lstStyle/>
          <a:p>
            <a:r>
              <a:rPr lang="en-US" sz="2400" dirty="0" smtClean="0"/>
              <a:t>Anomalies: Anomalies refers to the problems occurred after poorly planned and </a:t>
            </a:r>
            <a:r>
              <a:rPr lang="en-US" sz="2400" dirty="0" err="1" smtClean="0"/>
              <a:t>normalised</a:t>
            </a:r>
            <a:r>
              <a:rPr lang="en-US" sz="2400" dirty="0" smtClean="0"/>
              <a:t> databases where all the data is stored in one table which is sometimes called a flat file database</a:t>
            </a:r>
            <a:endParaRPr lang="en-US" sz="2400" dirty="0"/>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42859"/>
            <a:ext cx="8358246" cy="3323987"/>
          </a:xfrm>
          <a:prstGeom prst="rect">
            <a:avLst/>
          </a:prstGeom>
        </p:spPr>
        <p:txBody>
          <a:bodyPr wrap="square">
            <a:spAutoFit/>
          </a:bodyPr>
          <a:lstStyle/>
          <a:p>
            <a:r>
              <a:rPr lang="en-US" sz="2100" b="1" dirty="0" smtClean="0">
                <a:solidFill>
                  <a:srgbClr val="FF0000"/>
                </a:solidFill>
              </a:rPr>
              <a:t>Due to redundancy of data we may get the following problems:</a:t>
            </a:r>
          </a:p>
          <a:p>
            <a:pPr marL="342900" indent="-342900">
              <a:buAutoNum type="arabicPeriod"/>
            </a:pPr>
            <a:r>
              <a:rPr lang="en-US" sz="2100" dirty="0" smtClean="0">
                <a:solidFill>
                  <a:srgbClr val="FF0000"/>
                </a:solidFill>
              </a:rPr>
              <a:t>insertion anomalies :</a:t>
            </a:r>
            <a:r>
              <a:rPr lang="en-US" sz="2100" dirty="0" smtClean="0"/>
              <a:t> It may not be possible to store some information unless some other information is stored as well. </a:t>
            </a:r>
          </a:p>
          <a:p>
            <a:pPr marL="342900" indent="-342900">
              <a:buAutoNum type="arabicPeriod"/>
            </a:pPr>
            <a:r>
              <a:rPr lang="en-US" sz="2100" dirty="0" smtClean="0">
                <a:solidFill>
                  <a:srgbClr val="FF0000"/>
                </a:solidFill>
              </a:rPr>
              <a:t>update anomalies: </a:t>
            </a:r>
            <a:r>
              <a:rPr lang="en-US" sz="2100" dirty="0" smtClean="0"/>
              <a:t>If one copy of redundant data is updated, then inconsistency is created unless all redundant copies of data are updated. </a:t>
            </a:r>
          </a:p>
          <a:p>
            <a:pPr marL="342900" indent="-342900"/>
            <a:r>
              <a:rPr lang="en-US" sz="2100" dirty="0" smtClean="0">
                <a:solidFill>
                  <a:srgbClr val="FF0000"/>
                </a:solidFill>
              </a:rPr>
              <a:t>3. deletion anomalies: </a:t>
            </a:r>
            <a:r>
              <a:rPr lang="en-US" sz="2100" dirty="0" smtClean="0"/>
              <a:t>It may not be possible to delete some information without losing some other information as well. </a:t>
            </a:r>
            <a:endParaRPr lang="en-US" sz="2100" dirty="0"/>
          </a:p>
        </p:txBody>
      </p:sp>
      <p:pic>
        <p:nvPicPr>
          <p:cNvPr id="76802" name="Picture 2"/>
          <p:cNvPicPr>
            <a:picLocks noChangeAspect="1" noChangeArrowheads="1"/>
          </p:cNvPicPr>
          <p:nvPr/>
        </p:nvPicPr>
        <p:blipFill>
          <a:blip r:embed="rId2"/>
          <a:srcRect/>
          <a:stretch>
            <a:fillRect/>
          </a:stretch>
        </p:blipFill>
        <p:spPr bwMode="auto">
          <a:xfrm>
            <a:off x="4786314" y="3330778"/>
            <a:ext cx="4143404" cy="1812740"/>
          </a:xfrm>
          <a:prstGeom prst="rect">
            <a:avLst/>
          </a:prstGeom>
          <a:noFill/>
          <a:ln w="9525">
            <a:noFill/>
            <a:miter lim="800000"/>
            <a:headEnd/>
            <a:tailEnd/>
          </a:ln>
          <a:effectLst/>
        </p:spPr>
      </p:pic>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a:srcRect/>
          <a:stretch>
            <a:fillRect/>
          </a:stretch>
        </p:blipFill>
        <p:spPr bwMode="auto">
          <a:xfrm>
            <a:off x="176534" y="589346"/>
            <a:ext cx="8610308" cy="3148027"/>
          </a:xfrm>
          <a:prstGeom prst="rect">
            <a:avLst/>
          </a:prstGeom>
          <a:noFill/>
          <a:ln w="9525">
            <a:noFill/>
            <a:miter lim="800000"/>
            <a:headEnd/>
            <a:tailEnd/>
          </a:ln>
          <a:effectLst/>
        </p:spPr>
      </p:pic>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2"/>
          <a:srcRect/>
          <a:stretch>
            <a:fillRect/>
          </a:stretch>
        </p:blipFill>
        <p:spPr bwMode="auto">
          <a:xfrm>
            <a:off x="428596" y="482190"/>
            <a:ext cx="6572296" cy="1714512"/>
          </a:xfrm>
          <a:prstGeom prst="rect">
            <a:avLst/>
          </a:prstGeom>
          <a:noFill/>
          <a:ln w="9525">
            <a:solidFill>
              <a:schemeClr val="bg1"/>
            </a:solidFill>
            <a:miter lim="800000"/>
            <a:headEnd/>
            <a:tailEnd/>
          </a:ln>
          <a:effectLst/>
        </p:spPr>
      </p:pic>
    </p:spTree>
  </p:cSld>
  <p:clrMapOvr>
    <a:masterClrMapping/>
  </p:clrMapOvr>
  <p:transition>
    <p:wedge/>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2"/>
          <a:srcRect/>
          <a:stretch>
            <a:fillRect/>
          </a:stretch>
        </p:blipFill>
        <p:spPr bwMode="auto">
          <a:xfrm>
            <a:off x="357161" y="535767"/>
            <a:ext cx="8177977" cy="369691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214295"/>
            <a:ext cx="6572296" cy="523220"/>
          </a:xfrm>
          <a:prstGeom prst="rect">
            <a:avLst/>
          </a:prstGeom>
        </p:spPr>
        <p:txBody>
          <a:bodyPr wrap="square">
            <a:spAutoFit/>
          </a:bodyPr>
          <a:lstStyle/>
          <a:p>
            <a:r>
              <a:rPr lang="en-IN" sz="2800" dirty="0" smtClean="0">
                <a:solidFill>
                  <a:schemeClr val="accent1"/>
                </a:solidFill>
              </a:rPr>
              <a:t>Concept of functional dependency:</a:t>
            </a:r>
            <a:endParaRPr lang="en-US" sz="2800" dirty="0" smtClean="0">
              <a:solidFill>
                <a:schemeClr val="accent1"/>
              </a:solidFill>
            </a:endParaRPr>
          </a:p>
        </p:txBody>
      </p:sp>
      <p:sp>
        <p:nvSpPr>
          <p:cNvPr id="3" name="Rectangle 2"/>
          <p:cNvSpPr/>
          <p:nvPr/>
        </p:nvSpPr>
        <p:spPr>
          <a:xfrm>
            <a:off x="285720" y="589347"/>
            <a:ext cx="8715436" cy="1015663"/>
          </a:xfrm>
          <a:prstGeom prst="rect">
            <a:avLst/>
          </a:prstGeom>
        </p:spPr>
        <p:txBody>
          <a:bodyPr wrap="square">
            <a:spAutoFit/>
          </a:bodyPr>
          <a:lstStyle/>
          <a:p>
            <a:r>
              <a:rPr lang="en-US" sz="2800" dirty="0" smtClean="0"/>
              <a:t>In A relationship where one/</a:t>
            </a:r>
            <a:r>
              <a:rPr lang="en-US" sz="2800" dirty="0" err="1" smtClean="0"/>
              <a:t>mpre</a:t>
            </a:r>
            <a:r>
              <a:rPr lang="en-US" sz="2800" dirty="0" smtClean="0"/>
              <a:t> attribute/s uniquely determines another.</a:t>
            </a:r>
            <a:r>
              <a:rPr lang="en-US" sz="2800" dirty="0" smtClean="0">
                <a:solidFill>
                  <a:srgbClr val="FF0000"/>
                </a:solidFill>
                <a:sym typeface="Wingdings" pitchFamily="2" charset="2"/>
              </a:rPr>
              <a:t> </a:t>
            </a:r>
            <a:r>
              <a:rPr lang="en-US" sz="3200" dirty="0" smtClean="0">
                <a:solidFill>
                  <a:srgbClr val="FF0000"/>
                </a:solidFill>
                <a:sym typeface="Wingdings" pitchFamily="2" charset="2"/>
              </a:rPr>
              <a:t></a:t>
            </a:r>
            <a:endParaRPr lang="en-US" sz="2800" dirty="0"/>
          </a:p>
        </p:txBody>
      </p:sp>
      <p:sp>
        <p:nvSpPr>
          <p:cNvPr id="5" name="Rectangle 4"/>
          <p:cNvSpPr/>
          <p:nvPr/>
        </p:nvSpPr>
        <p:spPr>
          <a:xfrm>
            <a:off x="785786" y="1339445"/>
            <a:ext cx="8143932" cy="523220"/>
          </a:xfrm>
          <a:prstGeom prst="rect">
            <a:avLst/>
          </a:prstGeom>
        </p:spPr>
        <p:txBody>
          <a:bodyPr wrap="square">
            <a:spAutoFit/>
          </a:bodyPr>
          <a:lstStyle/>
          <a:p>
            <a:r>
              <a:rPr lang="en-US" dirty="0" smtClean="0">
                <a:solidFill>
                  <a:srgbClr val="FF0000"/>
                </a:solidFill>
              </a:rPr>
              <a:t>EX: STUDENT(</a:t>
            </a:r>
            <a:r>
              <a:rPr lang="en-US" dirty="0" err="1" smtClean="0">
                <a:solidFill>
                  <a:srgbClr val="FF0000"/>
                </a:solidFill>
              </a:rPr>
              <a:t>htno</a:t>
            </a:r>
            <a:r>
              <a:rPr lang="en-US" dirty="0" smtClean="0">
                <a:solidFill>
                  <a:srgbClr val="FF0000"/>
                </a:solidFill>
              </a:rPr>
              <a:t>, Name, Age, add)         </a:t>
            </a:r>
            <a:r>
              <a:rPr lang="en-US" sz="2800" dirty="0" err="1" smtClean="0">
                <a:solidFill>
                  <a:srgbClr val="FF0000"/>
                </a:solidFill>
              </a:rPr>
              <a:t>htno</a:t>
            </a:r>
            <a:r>
              <a:rPr lang="en-US" sz="2800" dirty="0" smtClean="0">
                <a:solidFill>
                  <a:srgbClr val="FF0000"/>
                </a:solidFill>
              </a:rPr>
              <a:t> -&gt; Name</a:t>
            </a:r>
            <a:endParaRPr lang="en-US" dirty="0">
              <a:solidFill>
                <a:srgbClr val="FF0000"/>
              </a:solidFill>
            </a:endParaRPr>
          </a:p>
        </p:txBody>
      </p:sp>
      <p:sp>
        <p:nvSpPr>
          <p:cNvPr id="9" name="Rectangle 8"/>
          <p:cNvSpPr/>
          <p:nvPr/>
        </p:nvSpPr>
        <p:spPr>
          <a:xfrm>
            <a:off x="428596" y="2196701"/>
            <a:ext cx="8358246" cy="2677656"/>
          </a:xfrm>
          <a:prstGeom prst="rect">
            <a:avLst/>
          </a:prstGeom>
        </p:spPr>
        <p:txBody>
          <a:bodyPr wrap="square">
            <a:spAutoFit/>
          </a:bodyPr>
          <a:lstStyle/>
          <a:p>
            <a:r>
              <a:rPr lang="en-US" sz="2800" dirty="0" smtClean="0"/>
              <a:t>A functional dependency A--&gt;B in a relation holds true if two </a:t>
            </a:r>
            <a:r>
              <a:rPr lang="en-US" sz="2800" dirty="0" err="1" smtClean="0"/>
              <a:t>tuples</a:t>
            </a:r>
            <a:r>
              <a:rPr lang="en-US" sz="2800" dirty="0" smtClean="0"/>
              <a:t> having the same value of attribute A also have the same value of attribute B </a:t>
            </a:r>
          </a:p>
          <a:p>
            <a:r>
              <a:rPr lang="en-US" sz="2800" dirty="0" smtClean="0"/>
              <a:t>IF t1.X=t2.X then t1.Y=t2.Y where t1,t2 are </a:t>
            </a:r>
            <a:r>
              <a:rPr lang="en-US" sz="2800" dirty="0" err="1" smtClean="0"/>
              <a:t>tuples</a:t>
            </a:r>
            <a:r>
              <a:rPr lang="en-US" sz="2800" dirty="0" smtClean="0"/>
              <a:t> and X,Y are attributes.</a:t>
            </a:r>
            <a:endParaRPr lang="en-US" sz="2800" dirty="0"/>
          </a:p>
        </p:txBody>
      </p:sp>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7" y="107140"/>
            <a:ext cx="4248279" cy="461665"/>
          </a:xfrm>
          <a:prstGeom prst="rect">
            <a:avLst/>
          </a:prstGeom>
        </p:spPr>
        <p:txBody>
          <a:bodyPr wrap="none">
            <a:spAutoFit/>
          </a:bodyPr>
          <a:lstStyle/>
          <a:p>
            <a:r>
              <a:rPr lang="en-IN" sz="2400" b="1" dirty="0" smtClean="0">
                <a:solidFill>
                  <a:schemeClr val="accent1"/>
                </a:solidFill>
              </a:rPr>
              <a:t>Types</a:t>
            </a:r>
            <a:r>
              <a:rPr lang="en-IN" b="1" dirty="0" smtClean="0">
                <a:solidFill>
                  <a:schemeClr val="accent1"/>
                </a:solidFill>
              </a:rPr>
              <a:t> of functional dependencies:</a:t>
            </a:r>
            <a:endParaRPr lang="en-US" b="1" dirty="0">
              <a:solidFill>
                <a:schemeClr val="accent1"/>
              </a:solidFill>
            </a:endParaRPr>
          </a:p>
        </p:txBody>
      </p:sp>
      <p:sp>
        <p:nvSpPr>
          <p:cNvPr id="3" name="Rectangle 2"/>
          <p:cNvSpPr/>
          <p:nvPr/>
        </p:nvSpPr>
        <p:spPr>
          <a:xfrm>
            <a:off x="357158" y="428611"/>
            <a:ext cx="8572560" cy="3970318"/>
          </a:xfrm>
          <a:prstGeom prst="rect">
            <a:avLst/>
          </a:prstGeom>
        </p:spPr>
        <p:txBody>
          <a:bodyPr wrap="square">
            <a:spAutoFit/>
          </a:bodyPr>
          <a:lstStyle/>
          <a:p>
            <a:r>
              <a:rPr lang="en-US" sz="3600" b="1" dirty="0" smtClean="0">
                <a:sym typeface="Wingdings" pitchFamily="2" charset="2"/>
              </a:rPr>
              <a:t></a:t>
            </a:r>
            <a:r>
              <a:rPr lang="en-US" sz="3600" b="1" dirty="0" smtClean="0"/>
              <a:t>Trivial Functional Dependency</a:t>
            </a:r>
          </a:p>
          <a:p>
            <a:r>
              <a:rPr lang="en-US" sz="3600" b="1" dirty="0" smtClean="0">
                <a:sym typeface="Wingdings" pitchFamily="2" charset="2"/>
              </a:rPr>
              <a:t></a:t>
            </a:r>
            <a:r>
              <a:rPr lang="en-US" sz="3600" b="1" dirty="0" smtClean="0"/>
              <a:t>Non-Trivial Functional Dependency</a:t>
            </a:r>
          </a:p>
          <a:p>
            <a:r>
              <a:rPr lang="en-US" sz="3600" b="1" dirty="0" smtClean="0">
                <a:sym typeface="Wingdings" pitchFamily="2" charset="2"/>
              </a:rPr>
              <a:t></a:t>
            </a:r>
            <a:r>
              <a:rPr lang="en-US" sz="3600" b="1" dirty="0" err="1" smtClean="0"/>
              <a:t>Multivalued</a:t>
            </a:r>
            <a:r>
              <a:rPr lang="en-US" sz="3600" b="1" dirty="0" smtClean="0"/>
              <a:t> Functional Dependency</a:t>
            </a:r>
          </a:p>
          <a:p>
            <a:r>
              <a:rPr lang="en-US" sz="3600" b="1" dirty="0" smtClean="0">
                <a:sym typeface="Wingdings" pitchFamily="2" charset="2"/>
              </a:rPr>
              <a:t></a:t>
            </a:r>
            <a:r>
              <a:rPr lang="en-US" sz="3600" b="1" dirty="0" smtClean="0"/>
              <a:t>Transitive Functional Dependency</a:t>
            </a:r>
          </a:p>
          <a:p>
            <a:r>
              <a:rPr lang="en-US" sz="3600" b="1" dirty="0" smtClean="0">
                <a:sym typeface="Wingdings" pitchFamily="2" charset="2"/>
              </a:rPr>
              <a:t></a:t>
            </a:r>
            <a:r>
              <a:rPr lang="en-US" sz="3600" b="1" dirty="0" smtClean="0"/>
              <a:t>Fully Functional Dependency</a:t>
            </a:r>
          </a:p>
          <a:p>
            <a:r>
              <a:rPr lang="en-US" sz="3600" b="1" dirty="0" smtClean="0">
                <a:sym typeface="Wingdings" pitchFamily="2" charset="2"/>
              </a:rPr>
              <a:t></a:t>
            </a:r>
            <a:r>
              <a:rPr lang="en-US" sz="3600" b="1" dirty="0" smtClean="0"/>
              <a:t>Partial Functional Dependency</a:t>
            </a:r>
          </a:p>
          <a:p>
            <a:endParaRPr lang="en-US" sz="3600" b="1" dirty="0"/>
          </a:p>
        </p:txBody>
      </p:sp>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160719"/>
            <a:ext cx="8858280" cy="1200329"/>
          </a:xfrm>
          <a:prstGeom prst="rect">
            <a:avLst/>
          </a:prstGeom>
        </p:spPr>
        <p:txBody>
          <a:bodyPr wrap="square">
            <a:spAutoFit/>
          </a:bodyPr>
          <a:lstStyle/>
          <a:p>
            <a:r>
              <a:rPr lang="en-US" sz="2400" dirty="0" smtClean="0"/>
              <a:t>Trivial functional dependency:-If X--&gt;Y is a functional dependency where Y is subset of X, these type of FD’s called as trivial functional dependency. </a:t>
            </a:r>
            <a:endParaRPr lang="en-US" sz="2400" dirty="0"/>
          </a:p>
        </p:txBody>
      </p:sp>
      <p:sp>
        <p:nvSpPr>
          <p:cNvPr id="3" name="Rectangle 2"/>
          <p:cNvSpPr/>
          <p:nvPr/>
        </p:nvSpPr>
        <p:spPr>
          <a:xfrm>
            <a:off x="357158" y="1232289"/>
            <a:ext cx="8358246" cy="1200329"/>
          </a:xfrm>
          <a:prstGeom prst="rect">
            <a:avLst/>
          </a:prstGeom>
        </p:spPr>
        <p:txBody>
          <a:bodyPr wrap="square">
            <a:spAutoFit/>
          </a:bodyPr>
          <a:lstStyle/>
          <a:p>
            <a:r>
              <a:rPr lang="en-US" sz="2400" dirty="0" smtClean="0"/>
              <a:t>Non-trivial functional dependency:-If X--&gt;Y and Y is not subset of X then it is called non-trivial functional dependency.</a:t>
            </a:r>
            <a:endParaRPr lang="en-US" sz="2400" dirty="0"/>
          </a:p>
        </p:txBody>
      </p:sp>
      <p:sp>
        <p:nvSpPr>
          <p:cNvPr id="4" name="Rectangle 3"/>
          <p:cNvSpPr/>
          <p:nvPr/>
        </p:nvSpPr>
        <p:spPr>
          <a:xfrm>
            <a:off x="571472" y="2089545"/>
            <a:ext cx="7643866" cy="1384995"/>
          </a:xfrm>
          <a:prstGeom prst="rect">
            <a:avLst/>
          </a:prstGeom>
        </p:spPr>
        <p:txBody>
          <a:bodyPr wrap="square">
            <a:spAutoFit/>
          </a:bodyPr>
          <a:lstStyle/>
          <a:p>
            <a:r>
              <a:rPr lang="en-US" sz="2800" dirty="0" smtClean="0"/>
              <a:t>Transitive dependency – If A-&gt;B and B-&gt;C are two FDs then A-&gt;C is called transitive dependency. </a:t>
            </a:r>
            <a:endParaRPr lang="en-US" sz="2800" dirty="0"/>
          </a:p>
        </p:txBody>
      </p:sp>
      <p:sp>
        <p:nvSpPr>
          <p:cNvPr id="5" name="Rectangle 4"/>
          <p:cNvSpPr/>
          <p:nvPr/>
        </p:nvSpPr>
        <p:spPr>
          <a:xfrm>
            <a:off x="642910" y="3161113"/>
            <a:ext cx="7929618" cy="1815882"/>
          </a:xfrm>
          <a:prstGeom prst="rect">
            <a:avLst/>
          </a:prstGeom>
        </p:spPr>
        <p:txBody>
          <a:bodyPr wrap="square">
            <a:spAutoFit/>
          </a:bodyPr>
          <a:lstStyle/>
          <a:p>
            <a:r>
              <a:rPr lang="en-US" sz="2800" dirty="0" smtClean="0"/>
              <a:t>MVD or </a:t>
            </a:r>
            <a:r>
              <a:rPr lang="en-US" sz="2800" dirty="0" err="1" smtClean="0"/>
              <a:t>multivalued</a:t>
            </a:r>
            <a:r>
              <a:rPr lang="en-US" sz="2800" dirty="0" smtClean="0"/>
              <a:t> dependency means that for a single value of attribute ‘a’ multiple values of attribute ‘b’ exist. We write it as,</a:t>
            </a:r>
          </a:p>
          <a:p>
            <a:r>
              <a:rPr lang="en-US" sz="2800" dirty="0" smtClean="0"/>
              <a:t> a --&gt; --&gt; b</a:t>
            </a:r>
            <a:endParaRPr lang="en-US" sz="2800" dirty="0"/>
          </a:p>
        </p:txBody>
      </p:sp>
    </p:spTree>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589346"/>
            <a:ext cx="8358246" cy="5324535"/>
          </a:xfrm>
          <a:prstGeom prst="rect">
            <a:avLst/>
          </a:prstGeom>
        </p:spPr>
        <p:txBody>
          <a:bodyPr wrap="square">
            <a:spAutoFit/>
          </a:bodyPr>
          <a:lstStyle/>
          <a:p>
            <a:r>
              <a:rPr lang="en-US" sz="2800" dirty="0" err="1" smtClean="0"/>
              <a:t>Normalisation</a:t>
            </a:r>
            <a:r>
              <a:rPr lang="en-US" sz="2800" dirty="0" smtClean="0"/>
              <a:t> removes data redundancy and it will helps in designing a good data base which involves a set of normal forms as follows – </a:t>
            </a:r>
          </a:p>
          <a:p>
            <a:r>
              <a:rPr lang="en-US" sz="3200" dirty="0" smtClean="0"/>
              <a:t>1)First normal form(1NF) </a:t>
            </a:r>
          </a:p>
          <a:p>
            <a:r>
              <a:rPr lang="en-US" sz="3200" dirty="0" smtClean="0"/>
              <a:t>2)Second normal form(2NF) </a:t>
            </a:r>
          </a:p>
          <a:p>
            <a:r>
              <a:rPr lang="en-US" sz="3200" dirty="0" smtClean="0"/>
              <a:t>3)Third normal form(3NF) </a:t>
            </a:r>
          </a:p>
          <a:p>
            <a:r>
              <a:rPr lang="en-US" sz="3200" dirty="0" smtClean="0"/>
              <a:t>4)Boyce coded normal form(BCNF) </a:t>
            </a:r>
          </a:p>
          <a:p>
            <a:r>
              <a:rPr lang="en-US" sz="3200" dirty="0" smtClean="0"/>
              <a:t>5)Forth normal form(4NF) </a:t>
            </a:r>
          </a:p>
          <a:p>
            <a:r>
              <a:rPr lang="en-US" sz="3200" dirty="0" smtClean="0"/>
              <a:t>6)Fifth normal form(5NF) </a:t>
            </a:r>
          </a:p>
          <a:p>
            <a:r>
              <a:rPr lang="en-US" sz="3200" dirty="0" smtClean="0"/>
              <a:t>7)Sixth normal form(6NF) </a:t>
            </a:r>
          </a:p>
          <a:p>
            <a:r>
              <a:rPr lang="en-US" sz="3200" dirty="0" smtClean="0"/>
              <a:t>8)Domain key normal form.</a:t>
            </a:r>
            <a:endParaRPr lang="en-US" sz="3200" dirty="0"/>
          </a:p>
        </p:txBody>
      </p:sp>
      <p:sp>
        <p:nvSpPr>
          <p:cNvPr id="3" name="Rectangle 2"/>
          <p:cNvSpPr/>
          <p:nvPr/>
        </p:nvSpPr>
        <p:spPr>
          <a:xfrm>
            <a:off x="428596" y="267876"/>
            <a:ext cx="7858180" cy="461665"/>
          </a:xfrm>
          <a:prstGeom prst="rect">
            <a:avLst/>
          </a:prstGeom>
        </p:spPr>
        <p:txBody>
          <a:bodyPr wrap="square">
            <a:spAutoFit/>
          </a:bodyPr>
          <a:lstStyle/>
          <a:p>
            <a:r>
              <a:rPr lang="en-US" sz="2400" dirty="0" smtClean="0">
                <a:solidFill>
                  <a:srgbClr val="FF0000"/>
                </a:solidFill>
              </a:rPr>
              <a:t>Normal forms based on Functional dependency:</a:t>
            </a:r>
            <a:endParaRPr lang="en-US" sz="2400" dirty="0">
              <a:solidFill>
                <a:srgbClr val="FF0000"/>
              </a:solidFill>
            </a:endParaRPr>
          </a:p>
        </p:txBody>
      </p:sp>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7158" y="267874"/>
            <a:ext cx="6804934" cy="400110"/>
          </a:xfrm>
          <a:prstGeom prst="rect">
            <a:avLst/>
          </a:prstGeom>
          <a:noFill/>
        </p:spPr>
        <p:txBody>
          <a:bodyPr wrap="square" lIns="91440" tIns="45720" rIns="91440" bIns="45720">
            <a:spAutoFit/>
          </a:bodyPr>
          <a:lstStyle/>
          <a:p>
            <a:r>
              <a:rPr lang="en-US" sz="20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Keys in </a:t>
            </a:r>
            <a:r>
              <a:rPr lang="en-US" sz="2000" b="1" cap="all" spc="0" dirty="0" err="1"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dbms</a:t>
            </a:r>
            <a:r>
              <a:rPr lang="en-US" sz="20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a:t>
            </a:r>
            <a:endParaRPr lang="en-US" sz="20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4" name="Rectangle 3"/>
          <p:cNvSpPr/>
          <p:nvPr/>
        </p:nvSpPr>
        <p:spPr>
          <a:xfrm>
            <a:off x="357158" y="535767"/>
            <a:ext cx="6429420" cy="3908762"/>
          </a:xfrm>
          <a:prstGeom prst="rect">
            <a:avLst/>
          </a:prstGeom>
        </p:spPr>
        <p:txBody>
          <a:bodyPr wrap="square">
            <a:spAutoFit/>
          </a:bodyPr>
          <a:lstStyle/>
          <a:p>
            <a:r>
              <a:rPr lang="en-US" sz="2800" b="1" dirty="0" smtClean="0"/>
              <a:t>Super Key</a:t>
            </a:r>
          </a:p>
          <a:p>
            <a:r>
              <a:rPr lang="en-US" sz="2800" b="1" dirty="0" smtClean="0"/>
              <a:t>Candidate key </a:t>
            </a:r>
          </a:p>
          <a:p>
            <a:r>
              <a:rPr lang="en-US" sz="2800" b="1" dirty="0" smtClean="0"/>
              <a:t>Primary Key</a:t>
            </a:r>
          </a:p>
          <a:p>
            <a:r>
              <a:rPr lang="en-US" sz="2800" b="1" dirty="0" smtClean="0"/>
              <a:t>Alternate Key</a:t>
            </a:r>
          </a:p>
          <a:p>
            <a:r>
              <a:rPr lang="en-US" sz="2800" b="1" dirty="0" smtClean="0"/>
              <a:t>Foreign Key</a:t>
            </a:r>
          </a:p>
          <a:p>
            <a:r>
              <a:rPr lang="en-US" sz="2800" b="1" dirty="0" smtClean="0"/>
              <a:t>Composite Key</a:t>
            </a:r>
          </a:p>
          <a:p>
            <a:r>
              <a:rPr lang="en-US" sz="2800" b="1" dirty="0" smtClean="0"/>
              <a:t>Compound Key</a:t>
            </a:r>
          </a:p>
          <a:p>
            <a:r>
              <a:rPr lang="en-IN" sz="2800" b="1" dirty="0" smtClean="0"/>
              <a:t>surrogate key</a:t>
            </a:r>
            <a:endParaRPr lang="en-US" sz="2800" b="1" dirty="0" smtClean="0"/>
          </a:p>
          <a:p>
            <a:endParaRPr lang="en-US" sz="2400" b="1" dirty="0" smtClean="0"/>
          </a:p>
        </p:txBody>
      </p:sp>
    </p:spTree>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321453"/>
            <a:ext cx="8501122" cy="707886"/>
          </a:xfrm>
          <a:prstGeom prst="rect">
            <a:avLst/>
          </a:prstGeom>
        </p:spPr>
        <p:txBody>
          <a:bodyPr wrap="square">
            <a:spAutoFit/>
          </a:bodyPr>
          <a:lstStyle/>
          <a:p>
            <a:r>
              <a:rPr lang="en-US" sz="2000" b="1" dirty="0" smtClean="0">
                <a:solidFill>
                  <a:srgbClr val="FF0000"/>
                </a:solidFill>
              </a:rPr>
              <a:t>Super Key: </a:t>
            </a:r>
            <a:r>
              <a:rPr lang="en-US" sz="2000" dirty="0" smtClean="0"/>
              <a:t>A super key is a set of one or more keys that are used to identify data or records uniquely in a database table.</a:t>
            </a:r>
            <a:endParaRPr lang="en-US" sz="2000" b="1" dirty="0" smtClean="0"/>
          </a:p>
        </p:txBody>
      </p:sp>
      <p:sp>
        <p:nvSpPr>
          <p:cNvPr id="3" name="Rectangle 2"/>
          <p:cNvSpPr/>
          <p:nvPr/>
        </p:nvSpPr>
        <p:spPr>
          <a:xfrm>
            <a:off x="428596" y="910816"/>
            <a:ext cx="8097088" cy="400110"/>
          </a:xfrm>
          <a:prstGeom prst="rect">
            <a:avLst/>
          </a:prstGeom>
        </p:spPr>
        <p:txBody>
          <a:bodyPr wrap="none">
            <a:spAutoFit/>
          </a:bodyPr>
          <a:lstStyle/>
          <a:p>
            <a:r>
              <a:rPr lang="en-US" sz="2000" b="1" dirty="0" smtClean="0">
                <a:solidFill>
                  <a:srgbClr val="FF0000"/>
                </a:solidFill>
              </a:rPr>
              <a:t>Candidate key:  </a:t>
            </a:r>
            <a:r>
              <a:rPr lang="en-US" sz="2000" dirty="0" smtClean="0"/>
              <a:t>Minimal sub set of a super key not a super key</a:t>
            </a:r>
            <a:r>
              <a:rPr lang="en-US" sz="2000" b="1" dirty="0" smtClean="0"/>
              <a:t> </a:t>
            </a:r>
          </a:p>
        </p:txBody>
      </p:sp>
      <p:sp>
        <p:nvSpPr>
          <p:cNvPr id="4" name="Rectangle 3"/>
          <p:cNvSpPr/>
          <p:nvPr/>
        </p:nvSpPr>
        <p:spPr>
          <a:xfrm>
            <a:off x="357161" y="1285866"/>
            <a:ext cx="4297971" cy="400110"/>
          </a:xfrm>
          <a:prstGeom prst="rect">
            <a:avLst/>
          </a:prstGeom>
        </p:spPr>
        <p:txBody>
          <a:bodyPr wrap="none">
            <a:spAutoFit/>
          </a:bodyPr>
          <a:lstStyle/>
          <a:p>
            <a:r>
              <a:rPr lang="en-US" sz="2000" b="1" dirty="0" smtClean="0">
                <a:solidFill>
                  <a:srgbClr val="FF0000"/>
                </a:solidFill>
              </a:rPr>
              <a:t>Primary Key: </a:t>
            </a:r>
            <a:r>
              <a:rPr lang="en-US" sz="2000" dirty="0" smtClean="0"/>
              <a:t>It is a candidate key</a:t>
            </a:r>
            <a:endParaRPr lang="en-US" sz="2000" b="1" dirty="0" smtClean="0"/>
          </a:p>
        </p:txBody>
      </p:sp>
      <p:sp>
        <p:nvSpPr>
          <p:cNvPr id="5" name="Rectangle 4"/>
          <p:cNvSpPr/>
          <p:nvPr/>
        </p:nvSpPr>
        <p:spPr>
          <a:xfrm>
            <a:off x="500034" y="1660915"/>
            <a:ext cx="8286808" cy="707886"/>
          </a:xfrm>
          <a:prstGeom prst="rect">
            <a:avLst/>
          </a:prstGeom>
        </p:spPr>
        <p:txBody>
          <a:bodyPr wrap="square">
            <a:spAutoFit/>
          </a:bodyPr>
          <a:lstStyle/>
          <a:p>
            <a:r>
              <a:rPr lang="en-US" sz="2000" b="1" dirty="0" smtClean="0">
                <a:solidFill>
                  <a:srgbClr val="FF0000"/>
                </a:solidFill>
              </a:rPr>
              <a:t>Alternate Key :</a:t>
            </a:r>
            <a:r>
              <a:rPr lang="en-US" sz="2000" b="1" dirty="0" smtClean="0"/>
              <a:t> </a:t>
            </a:r>
            <a:r>
              <a:rPr lang="en-US" sz="2000" dirty="0" smtClean="0"/>
              <a:t>among candidate keys one of the key is PK remaining CKs are AKS (except PK)</a:t>
            </a:r>
            <a:endParaRPr lang="en-US" sz="2000" b="1" dirty="0" smtClean="0"/>
          </a:p>
        </p:txBody>
      </p:sp>
      <p:sp>
        <p:nvSpPr>
          <p:cNvPr id="6" name="Rectangle 5"/>
          <p:cNvSpPr/>
          <p:nvPr/>
        </p:nvSpPr>
        <p:spPr>
          <a:xfrm>
            <a:off x="571472" y="2464593"/>
            <a:ext cx="5857916" cy="400110"/>
          </a:xfrm>
          <a:prstGeom prst="rect">
            <a:avLst/>
          </a:prstGeom>
        </p:spPr>
        <p:txBody>
          <a:bodyPr wrap="square">
            <a:spAutoFit/>
          </a:bodyPr>
          <a:lstStyle/>
          <a:p>
            <a:r>
              <a:rPr lang="en-US" sz="2000" b="1" dirty="0" smtClean="0">
                <a:solidFill>
                  <a:srgbClr val="FF0000"/>
                </a:solidFill>
              </a:rPr>
              <a:t>Foreign Key:  </a:t>
            </a:r>
            <a:r>
              <a:rPr lang="en-US" sz="2000" dirty="0" smtClean="0"/>
              <a:t>maintain integrity  example</a:t>
            </a:r>
            <a:r>
              <a:rPr lang="en-US" sz="2000" dirty="0" smtClean="0">
                <a:solidFill>
                  <a:srgbClr val="FF0000"/>
                </a:solidFill>
              </a:rPr>
              <a:t> </a:t>
            </a:r>
          </a:p>
        </p:txBody>
      </p:sp>
      <p:sp>
        <p:nvSpPr>
          <p:cNvPr id="7" name="Rectangle 6"/>
          <p:cNvSpPr/>
          <p:nvPr/>
        </p:nvSpPr>
        <p:spPr>
          <a:xfrm>
            <a:off x="642910" y="3107535"/>
            <a:ext cx="7643866" cy="400110"/>
          </a:xfrm>
          <a:prstGeom prst="rect">
            <a:avLst/>
          </a:prstGeom>
        </p:spPr>
        <p:txBody>
          <a:bodyPr wrap="square">
            <a:spAutoFit/>
          </a:bodyPr>
          <a:lstStyle/>
          <a:p>
            <a:r>
              <a:rPr lang="en-US" sz="2000" b="1" dirty="0" smtClean="0">
                <a:solidFill>
                  <a:srgbClr val="FF0000"/>
                </a:solidFill>
              </a:rPr>
              <a:t>Composite Key: </a:t>
            </a:r>
            <a:r>
              <a:rPr lang="en-US" sz="2000" dirty="0" smtClean="0"/>
              <a:t>it is key with combination of attribute </a:t>
            </a:r>
          </a:p>
        </p:txBody>
      </p:sp>
      <p:sp>
        <p:nvSpPr>
          <p:cNvPr id="8" name="Rectangle 7"/>
          <p:cNvSpPr/>
          <p:nvPr/>
        </p:nvSpPr>
        <p:spPr>
          <a:xfrm>
            <a:off x="642910" y="3696898"/>
            <a:ext cx="5139548" cy="400110"/>
          </a:xfrm>
          <a:prstGeom prst="rect">
            <a:avLst/>
          </a:prstGeom>
        </p:spPr>
        <p:txBody>
          <a:bodyPr wrap="none">
            <a:spAutoFit/>
          </a:bodyPr>
          <a:lstStyle/>
          <a:p>
            <a:r>
              <a:rPr lang="en-US" sz="2000" b="1" dirty="0" smtClean="0">
                <a:solidFill>
                  <a:srgbClr val="FF0000"/>
                </a:solidFill>
              </a:rPr>
              <a:t>Compound Key: </a:t>
            </a:r>
            <a:r>
              <a:rPr lang="en-US" sz="2000" dirty="0" smtClean="0"/>
              <a:t>except Composite keys</a:t>
            </a:r>
            <a:endParaRPr lang="en-US" sz="2000" dirty="0"/>
          </a:p>
        </p:txBody>
      </p:sp>
      <p:sp>
        <p:nvSpPr>
          <p:cNvPr id="9" name="Rectangle 8"/>
          <p:cNvSpPr/>
          <p:nvPr/>
        </p:nvSpPr>
        <p:spPr>
          <a:xfrm>
            <a:off x="642910" y="4071948"/>
            <a:ext cx="3786214" cy="400110"/>
          </a:xfrm>
          <a:prstGeom prst="rect">
            <a:avLst/>
          </a:prstGeom>
        </p:spPr>
        <p:txBody>
          <a:bodyPr wrap="square">
            <a:spAutoFit/>
          </a:bodyPr>
          <a:lstStyle/>
          <a:p>
            <a:r>
              <a:rPr lang="en-IN" sz="2000" b="1" dirty="0" smtClean="0">
                <a:solidFill>
                  <a:srgbClr val="FF0000"/>
                </a:solidFill>
              </a:rPr>
              <a:t>surrogate key: </a:t>
            </a:r>
            <a:r>
              <a:rPr lang="en-IN" sz="2000" dirty="0" smtClean="0"/>
              <a:t>adding key</a:t>
            </a:r>
            <a:endParaRPr lang="en-US" sz="2000" dirty="0" smtClean="0"/>
          </a:p>
        </p:txBody>
      </p:sp>
    </p:spTree>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214299"/>
            <a:ext cx="8786874" cy="5262979"/>
          </a:xfrm>
          <a:prstGeom prst="rect">
            <a:avLst/>
          </a:prstGeom>
          <a:noFill/>
        </p:spPr>
        <p:txBody>
          <a:bodyPr wrap="square" rtlCol="0">
            <a:spAutoFit/>
          </a:bodyPr>
          <a:lstStyle/>
          <a:p>
            <a:pPr algn="ctr"/>
            <a:r>
              <a:rPr lang="en-US" sz="2400" dirty="0" smtClean="0">
                <a:solidFill>
                  <a:srgbClr val="FF0000"/>
                </a:solidFill>
              </a:rPr>
              <a:t>Rules for FDS: Armstrong axiom rules 7</a:t>
            </a:r>
          </a:p>
          <a:p>
            <a:r>
              <a:rPr lang="en-US" sz="2400" dirty="0" smtClean="0">
                <a:solidFill>
                  <a:srgbClr val="FF0000"/>
                </a:solidFill>
              </a:rPr>
              <a:t>Primary: </a:t>
            </a:r>
          </a:p>
          <a:p>
            <a:r>
              <a:rPr lang="en-US" sz="2400" dirty="0" smtClean="0">
                <a:solidFill>
                  <a:srgbClr val="FF0000"/>
                </a:solidFill>
              </a:rPr>
              <a:t>1.Reflexivity A</a:t>
            </a:r>
            <a:r>
              <a:rPr lang="en-US" sz="2400" dirty="0" smtClean="0">
                <a:solidFill>
                  <a:srgbClr val="FF0000"/>
                </a:solidFill>
                <a:sym typeface="Wingdings" pitchFamily="2" charset="2"/>
              </a:rPr>
              <a:t>A  AB  B is subset of A Trivial</a:t>
            </a:r>
          </a:p>
          <a:p>
            <a:r>
              <a:rPr lang="en-US" sz="2400" dirty="0" smtClean="0">
                <a:solidFill>
                  <a:srgbClr val="FF0000"/>
                </a:solidFill>
              </a:rPr>
              <a:t>2. Transitivity if A</a:t>
            </a:r>
            <a:r>
              <a:rPr lang="en-US" sz="2400" dirty="0" smtClean="0">
                <a:solidFill>
                  <a:srgbClr val="FF0000"/>
                </a:solidFill>
                <a:sym typeface="Wingdings" pitchFamily="2" charset="2"/>
              </a:rPr>
              <a:t>B  BC  then AC transitive FD</a:t>
            </a:r>
            <a:endParaRPr lang="en-US" sz="2400" dirty="0" smtClean="0">
              <a:solidFill>
                <a:srgbClr val="FF0000"/>
              </a:solidFill>
            </a:endParaRPr>
          </a:p>
          <a:p>
            <a:r>
              <a:rPr lang="en-US" sz="2400" dirty="0" smtClean="0">
                <a:solidFill>
                  <a:srgbClr val="FF0000"/>
                </a:solidFill>
              </a:rPr>
              <a:t>3.Augumentation if A</a:t>
            </a:r>
            <a:r>
              <a:rPr lang="en-US" sz="2400" dirty="0" smtClean="0">
                <a:solidFill>
                  <a:srgbClr val="FF0000"/>
                </a:solidFill>
                <a:sym typeface="Wingdings" pitchFamily="2" charset="2"/>
              </a:rPr>
              <a:t>B then AXBX</a:t>
            </a:r>
            <a:endParaRPr lang="en-US" sz="2400" dirty="0" smtClean="0">
              <a:solidFill>
                <a:srgbClr val="FF0000"/>
              </a:solidFill>
            </a:endParaRPr>
          </a:p>
          <a:p>
            <a:endParaRPr lang="en-US" sz="2400" dirty="0" smtClean="0">
              <a:solidFill>
                <a:srgbClr val="FF0000"/>
              </a:solidFill>
            </a:endParaRPr>
          </a:p>
          <a:p>
            <a:endParaRPr lang="en-US" sz="2400" dirty="0" smtClean="0">
              <a:solidFill>
                <a:srgbClr val="FF0000"/>
              </a:solidFill>
            </a:endParaRPr>
          </a:p>
          <a:p>
            <a:endParaRPr lang="en-US" sz="2400" dirty="0" smtClean="0">
              <a:solidFill>
                <a:srgbClr val="FF0000"/>
              </a:solidFill>
            </a:endParaRPr>
          </a:p>
          <a:p>
            <a:r>
              <a:rPr lang="en-US" sz="2400" dirty="0" smtClean="0">
                <a:solidFill>
                  <a:srgbClr val="FF0000"/>
                </a:solidFill>
              </a:rPr>
              <a:t>Secondary:</a:t>
            </a:r>
          </a:p>
          <a:p>
            <a:endParaRPr lang="en-US" sz="2400" dirty="0" smtClean="0">
              <a:solidFill>
                <a:srgbClr val="FF0000"/>
              </a:solidFill>
            </a:endParaRPr>
          </a:p>
          <a:p>
            <a:pPr marL="342900" indent="-342900">
              <a:buAutoNum type="arabicPeriod"/>
            </a:pPr>
            <a:r>
              <a:rPr lang="en-US" sz="2400" dirty="0" smtClean="0">
                <a:solidFill>
                  <a:srgbClr val="FF0000"/>
                </a:solidFill>
              </a:rPr>
              <a:t>Union A</a:t>
            </a:r>
            <a:r>
              <a:rPr lang="en-US" sz="2400" dirty="0" smtClean="0">
                <a:solidFill>
                  <a:srgbClr val="FF0000"/>
                </a:solidFill>
                <a:sym typeface="Wingdings" pitchFamily="2" charset="2"/>
              </a:rPr>
              <a:t>B and AC then ABC</a:t>
            </a:r>
          </a:p>
          <a:p>
            <a:pPr marL="342900" indent="-342900">
              <a:buAutoNum type="arabicPeriod"/>
            </a:pPr>
            <a:r>
              <a:rPr lang="en-US" sz="2400" dirty="0" smtClean="0">
                <a:solidFill>
                  <a:srgbClr val="FF0000"/>
                </a:solidFill>
                <a:sym typeface="Wingdings" pitchFamily="2" charset="2"/>
              </a:rPr>
              <a:t>Splitting or Decomposition ABC then </a:t>
            </a:r>
            <a:r>
              <a:rPr lang="en-US" sz="2400" dirty="0" smtClean="0">
                <a:solidFill>
                  <a:srgbClr val="FF0000"/>
                </a:solidFill>
              </a:rPr>
              <a:t>A</a:t>
            </a:r>
            <a:r>
              <a:rPr lang="en-US" sz="2400" dirty="0" smtClean="0">
                <a:solidFill>
                  <a:srgbClr val="FF0000"/>
                </a:solidFill>
                <a:sym typeface="Wingdings" pitchFamily="2" charset="2"/>
              </a:rPr>
              <a:t>B </a:t>
            </a:r>
            <a:r>
              <a:rPr lang="en-US" sz="2400" dirty="0" smtClean="0">
                <a:solidFill>
                  <a:srgbClr val="FF0000"/>
                </a:solidFill>
              </a:rPr>
              <a:t>A</a:t>
            </a:r>
            <a:r>
              <a:rPr lang="en-US" sz="2400" dirty="0" smtClean="0">
                <a:solidFill>
                  <a:srgbClr val="FF0000"/>
                </a:solidFill>
                <a:sym typeface="Wingdings" pitchFamily="2" charset="2"/>
              </a:rPr>
              <a:t>C</a:t>
            </a:r>
          </a:p>
          <a:p>
            <a:pPr marL="342900" indent="-342900">
              <a:buAutoNum type="arabicPeriod"/>
            </a:pPr>
            <a:r>
              <a:rPr lang="en-US" sz="2400" dirty="0" smtClean="0">
                <a:solidFill>
                  <a:srgbClr val="FF0000"/>
                </a:solidFill>
                <a:sym typeface="Wingdings" pitchFamily="2" charset="2"/>
              </a:rPr>
              <a:t>Pseudo </a:t>
            </a:r>
            <a:r>
              <a:rPr lang="en-US" sz="2400" dirty="0" smtClean="0">
                <a:solidFill>
                  <a:srgbClr val="FF0000"/>
                </a:solidFill>
              </a:rPr>
              <a:t>Transitivity if X</a:t>
            </a:r>
            <a:r>
              <a:rPr lang="en-US" sz="2400" dirty="0" smtClean="0">
                <a:solidFill>
                  <a:srgbClr val="FF0000"/>
                </a:solidFill>
                <a:sym typeface="Wingdings" pitchFamily="2" charset="2"/>
              </a:rPr>
              <a:t>Y and YZA then XZA</a:t>
            </a:r>
          </a:p>
          <a:p>
            <a:pPr marL="342900" indent="-342900">
              <a:buAutoNum type="arabicPeriod"/>
            </a:pPr>
            <a:r>
              <a:rPr lang="en-US" sz="2400" dirty="0" smtClean="0">
                <a:solidFill>
                  <a:srgbClr val="FF0000"/>
                </a:solidFill>
                <a:sym typeface="Wingdings" pitchFamily="2" charset="2"/>
              </a:rPr>
              <a:t>Composition XY and AB then XAYB</a:t>
            </a:r>
            <a:endParaRPr lang="en-US" sz="2400" dirty="0" smtClean="0">
              <a:solidFill>
                <a:srgbClr val="FF0000"/>
              </a:solidFill>
            </a:endParaRP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160720"/>
            <a:ext cx="6215090" cy="800219"/>
          </a:xfrm>
          <a:prstGeom prst="rect">
            <a:avLst/>
          </a:prstGeom>
        </p:spPr>
        <p:txBody>
          <a:bodyPr wrap="square">
            <a:spAutoFit/>
          </a:bodyPr>
          <a:lstStyle/>
          <a:p>
            <a:r>
              <a:rPr lang="en-US" sz="2800" dirty="0" smtClean="0"/>
              <a:t>1)First normal form(1NF)</a:t>
            </a:r>
            <a:r>
              <a:rPr lang="en-US" dirty="0" smtClean="0"/>
              <a:t> </a:t>
            </a:r>
          </a:p>
          <a:p>
            <a:r>
              <a:rPr lang="en-US" dirty="0" smtClean="0"/>
              <a:t> </a:t>
            </a:r>
          </a:p>
        </p:txBody>
      </p:sp>
      <p:sp>
        <p:nvSpPr>
          <p:cNvPr id="3" name="TextBox 2"/>
          <p:cNvSpPr txBox="1"/>
          <p:nvPr/>
        </p:nvSpPr>
        <p:spPr>
          <a:xfrm>
            <a:off x="642910" y="589346"/>
            <a:ext cx="8072494" cy="2308324"/>
          </a:xfrm>
          <a:prstGeom prst="rect">
            <a:avLst/>
          </a:prstGeom>
          <a:noFill/>
        </p:spPr>
        <p:txBody>
          <a:bodyPr wrap="square" rtlCol="0">
            <a:spAutoFit/>
          </a:bodyPr>
          <a:lstStyle/>
          <a:p>
            <a:r>
              <a:rPr lang="en-US" sz="2400" dirty="0" smtClean="0"/>
              <a:t>If a relation in 1NF it Follows:</a:t>
            </a:r>
          </a:p>
          <a:p>
            <a:pPr marL="342900" indent="-342900">
              <a:buAutoNum type="arabicPeriod"/>
            </a:pPr>
            <a:r>
              <a:rPr lang="en-US" sz="2400" dirty="0" smtClean="0"/>
              <a:t>It have all single valued attributes</a:t>
            </a:r>
          </a:p>
          <a:p>
            <a:pPr marL="342900" indent="-342900">
              <a:buAutoNum type="arabicPeriod"/>
            </a:pPr>
            <a:r>
              <a:rPr lang="en-US" sz="2400" dirty="0" smtClean="0"/>
              <a:t>Values under </a:t>
            </a:r>
            <a:r>
              <a:rPr lang="en-US" sz="2400" dirty="0" err="1" smtClean="0"/>
              <a:t>col</a:t>
            </a:r>
            <a:r>
              <a:rPr lang="en-US" sz="2400" dirty="0" smtClean="0"/>
              <a:t> should be same domain</a:t>
            </a:r>
          </a:p>
          <a:p>
            <a:pPr marL="342900" indent="-342900">
              <a:buAutoNum type="arabicPeriod"/>
            </a:pPr>
            <a:r>
              <a:rPr lang="en-US" sz="2400" dirty="0" smtClean="0"/>
              <a:t>All cols have unique names</a:t>
            </a:r>
          </a:p>
          <a:p>
            <a:pPr marL="342900" indent="-342900">
              <a:buAutoNum type="arabicPeriod"/>
            </a:pPr>
            <a:r>
              <a:rPr lang="en-US" sz="2400" dirty="0" smtClean="0"/>
              <a:t>The order of storing does not mater</a:t>
            </a:r>
          </a:p>
          <a:p>
            <a:pPr marL="342900" indent="-342900">
              <a:buAutoNum type="arabicPeriod"/>
            </a:pPr>
            <a:r>
              <a:rPr lang="en-US" sz="2400" dirty="0" smtClean="0"/>
              <a:t>Each record should be unique</a:t>
            </a:r>
            <a:endParaRPr lang="en-US" dirty="0"/>
          </a:p>
        </p:txBody>
      </p:sp>
      <p:sp>
        <p:nvSpPr>
          <p:cNvPr id="4" name="TextBox 3"/>
          <p:cNvSpPr txBox="1"/>
          <p:nvPr/>
        </p:nvSpPr>
        <p:spPr>
          <a:xfrm>
            <a:off x="428596" y="2411014"/>
            <a:ext cx="1785950" cy="400110"/>
          </a:xfrm>
          <a:prstGeom prst="rect">
            <a:avLst/>
          </a:prstGeom>
          <a:noFill/>
        </p:spPr>
        <p:txBody>
          <a:bodyPr wrap="square" rtlCol="0">
            <a:spAutoFit/>
          </a:bodyPr>
          <a:lstStyle/>
          <a:p>
            <a:r>
              <a:rPr lang="en-US" sz="2000" dirty="0" smtClean="0"/>
              <a:t>Example:</a:t>
            </a:r>
            <a:endParaRPr lang="en-US" sz="2000" dirty="0"/>
          </a:p>
        </p:txBody>
      </p:sp>
      <p:graphicFrame>
        <p:nvGraphicFramePr>
          <p:cNvPr id="5" name="Table 4"/>
          <p:cNvGraphicFramePr>
            <a:graphicFrameLocks noGrp="1"/>
          </p:cNvGraphicFramePr>
          <p:nvPr/>
        </p:nvGraphicFramePr>
        <p:xfrm>
          <a:off x="1214414" y="2786065"/>
          <a:ext cx="6096000" cy="1127760"/>
        </p:xfrm>
        <a:graphic>
          <a:graphicData uri="http://schemas.openxmlformats.org/drawingml/2006/table">
            <a:tbl>
              <a:tblPr firstRow="1" bandRow="1">
                <a:tableStyleId>{5C22544A-7EE6-4342-B048-85BDC9FD1C3A}</a:tableStyleId>
              </a:tblPr>
              <a:tblGrid>
                <a:gridCol w="1524000"/>
                <a:gridCol w="1524000"/>
                <a:gridCol w="1524000"/>
                <a:gridCol w="1524000"/>
              </a:tblGrid>
              <a:tr h="288036">
                <a:tc>
                  <a:txBody>
                    <a:bodyPr/>
                    <a:lstStyle/>
                    <a:p>
                      <a:r>
                        <a:rPr lang="en-US" sz="1400" dirty="0" err="1" smtClean="0"/>
                        <a:t>sid</a:t>
                      </a:r>
                      <a:endParaRPr lang="en-US" sz="1400" dirty="0"/>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address</a:t>
                      </a:r>
                      <a:endParaRPr lang="en-US" sz="1400" dirty="0"/>
                    </a:p>
                  </a:txBody>
                  <a:tcPr marT="34290" marB="34290"/>
                </a:tc>
                <a:tc>
                  <a:txBody>
                    <a:bodyPr/>
                    <a:lstStyle/>
                    <a:p>
                      <a:r>
                        <a:rPr lang="en-US" sz="1400" dirty="0" err="1" smtClean="0"/>
                        <a:t>cname</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Ram</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C,CPP</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err="1" smtClean="0"/>
                        <a:t>Sai</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JAVA</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Abhi</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SQL,PP</a:t>
                      </a:r>
                      <a:endParaRPr lang="en-US" sz="1400" dirty="0"/>
                    </a:p>
                  </a:txBody>
                  <a:tcPr marT="34290" marB="34290"/>
                </a:tc>
              </a:tr>
            </a:tbl>
          </a:graphicData>
        </a:graphic>
      </p:graphicFrame>
    </p:spTree>
  </p:cSld>
  <p:clrMapOvr>
    <a:masterClrMapping/>
  </p:clrMapOvr>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14549" y="107139"/>
          <a:ext cx="6739265" cy="1127760"/>
        </p:xfrm>
        <a:graphic>
          <a:graphicData uri="http://schemas.openxmlformats.org/drawingml/2006/table">
            <a:tbl>
              <a:tblPr firstRow="1" bandRow="1">
                <a:tableStyleId>{5C22544A-7EE6-4342-B048-85BDC9FD1C3A}</a:tableStyleId>
              </a:tblPr>
              <a:tblGrid>
                <a:gridCol w="1063625"/>
                <a:gridCol w="1063625"/>
                <a:gridCol w="1063625"/>
                <a:gridCol w="1063625"/>
                <a:gridCol w="1127443"/>
                <a:gridCol w="1357322"/>
              </a:tblGrid>
              <a:tr h="288036">
                <a:tc>
                  <a:txBody>
                    <a:bodyPr/>
                    <a:lstStyle/>
                    <a:p>
                      <a:r>
                        <a:rPr lang="en-US" sz="1400" dirty="0" err="1" smtClean="0"/>
                        <a:t>sid</a:t>
                      </a:r>
                      <a:endParaRPr lang="en-US" sz="1400" dirty="0"/>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address</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cname1</a:t>
                      </a:r>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cname2</a:t>
                      </a:r>
                    </a:p>
                  </a:txBody>
                  <a:tcPr marT="34290" marB="34290"/>
                </a:tc>
                <a:tc>
                  <a:txBody>
                    <a:bodyPr/>
                    <a:lstStyle/>
                    <a:p>
                      <a:r>
                        <a:rPr lang="en-US" sz="1400" dirty="0" smtClean="0"/>
                        <a:t>cname3</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Ram</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C</a:t>
                      </a:r>
                      <a:endParaRPr lang="en-US" sz="1400" dirty="0"/>
                    </a:p>
                  </a:txBody>
                  <a:tcPr marT="34290" marB="34290"/>
                </a:tc>
                <a:tc>
                  <a:txBody>
                    <a:bodyPr/>
                    <a:lstStyle/>
                    <a:p>
                      <a:r>
                        <a:rPr lang="en-US" sz="1400" dirty="0" smtClean="0"/>
                        <a:t>CPP</a:t>
                      </a:r>
                      <a:endParaRPr lang="en-US" sz="1400" dirty="0"/>
                    </a:p>
                  </a:txBody>
                  <a:tcPr marT="34290" marB="34290"/>
                </a:tc>
                <a:tc>
                  <a:txBody>
                    <a:bodyPr/>
                    <a:lstStyle/>
                    <a:p>
                      <a:r>
                        <a:rPr lang="en-US" sz="1400" dirty="0" smtClean="0"/>
                        <a:t>SQL</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err="1" smtClean="0"/>
                        <a:t>Sai</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NULL</a:t>
                      </a:r>
                      <a:endParaRPr lang="en-US" sz="1400" dirty="0"/>
                    </a:p>
                  </a:txBody>
                  <a:tcPr marT="34290" marB="34290"/>
                </a:tc>
                <a:tc>
                  <a:txBody>
                    <a:bodyPr/>
                    <a:lstStyle/>
                    <a:p>
                      <a:r>
                        <a:rPr lang="en-US" sz="1400" dirty="0" smtClean="0"/>
                        <a:t>NULL</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JAVA</a:t>
                      </a:r>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Abhi</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NULL</a:t>
                      </a:r>
                      <a:endParaRPr lang="en-US" sz="1400" dirty="0"/>
                    </a:p>
                  </a:txBody>
                  <a:tcPr marT="34290" marB="34290"/>
                </a:tc>
                <a:tc>
                  <a:txBody>
                    <a:bodyPr/>
                    <a:lstStyle/>
                    <a:p>
                      <a:r>
                        <a:rPr lang="en-US" sz="1400" dirty="0" smtClean="0"/>
                        <a:t>PP</a:t>
                      </a:r>
                      <a:endParaRPr lang="en-US" sz="1400" dirty="0"/>
                    </a:p>
                  </a:txBody>
                  <a:tcPr marT="34290" marB="34290"/>
                </a:tc>
                <a:tc>
                  <a:txBody>
                    <a:bodyPr/>
                    <a:lstStyle/>
                    <a:p>
                      <a:r>
                        <a:rPr lang="en-US" sz="1400" dirty="0" smtClean="0"/>
                        <a:t>SQL</a:t>
                      </a:r>
                      <a:endParaRPr lang="en-US" sz="1400" dirty="0"/>
                    </a:p>
                  </a:txBody>
                  <a:tcPr marT="34290" marB="34290"/>
                </a:tc>
              </a:tr>
            </a:tbl>
          </a:graphicData>
        </a:graphic>
      </p:graphicFrame>
      <p:sp>
        <p:nvSpPr>
          <p:cNvPr id="3" name="Right Arrow 2"/>
          <p:cNvSpPr/>
          <p:nvPr/>
        </p:nvSpPr>
        <p:spPr>
          <a:xfrm>
            <a:off x="285720" y="482190"/>
            <a:ext cx="1500198" cy="5357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Method 1</a:t>
            </a:r>
            <a:endParaRPr lang="en-US" dirty="0"/>
          </a:p>
        </p:txBody>
      </p:sp>
      <p:sp>
        <p:nvSpPr>
          <p:cNvPr id="5" name="Right Arrow 4"/>
          <p:cNvSpPr/>
          <p:nvPr/>
        </p:nvSpPr>
        <p:spPr>
          <a:xfrm>
            <a:off x="357158" y="1660917"/>
            <a:ext cx="1500198" cy="5357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Method 2</a:t>
            </a:r>
            <a:endParaRPr lang="en-US" dirty="0"/>
          </a:p>
        </p:txBody>
      </p:sp>
      <p:graphicFrame>
        <p:nvGraphicFramePr>
          <p:cNvPr id="7" name="Table 6"/>
          <p:cNvGraphicFramePr>
            <a:graphicFrameLocks noGrp="1"/>
          </p:cNvGraphicFramePr>
          <p:nvPr/>
        </p:nvGraphicFramePr>
        <p:xfrm>
          <a:off x="3357554" y="1393023"/>
          <a:ext cx="4064000" cy="2171700"/>
        </p:xfrm>
        <a:graphic>
          <a:graphicData uri="http://schemas.openxmlformats.org/drawingml/2006/table">
            <a:tbl>
              <a:tblPr firstRow="1" bandRow="1">
                <a:tableStyleId>{5C22544A-7EE6-4342-B048-85BDC9FD1C3A}</a:tableStyleId>
              </a:tblPr>
              <a:tblGrid>
                <a:gridCol w="1016000"/>
                <a:gridCol w="1016000"/>
                <a:gridCol w="1016000"/>
                <a:gridCol w="1016000"/>
              </a:tblGrid>
              <a:tr h="480060">
                <a:tc>
                  <a:txBody>
                    <a:bodyPr/>
                    <a:lstStyle/>
                    <a:p>
                      <a:r>
                        <a:rPr lang="en-US" sz="1400" dirty="0" err="1" smtClean="0"/>
                        <a:t>sid</a:t>
                      </a:r>
                      <a:endParaRPr lang="en-US" sz="1400" dirty="0"/>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address</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cname1</a:t>
                      </a:r>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Ram</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C</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Ram</a:t>
                      </a:r>
                      <a:endParaRPr lang="en-US" sz="1400" dirty="0"/>
                    </a:p>
                  </a:txBody>
                  <a:tcPr marT="34290" marB="34290"/>
                </a:tc>
                <a:tc>
                  <a:txBody>
                    <a:bodyPr/>
                    <a:lstStyle/>
                    <a:p>
                      <a:r>
                        <a:rPr lang="en-US" sz="1400" dirty="0" smtClean="0"/>
                        <a:t>A1</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CPP</a:t>
                      </a:r>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Ram</a:t>
                      </a:r>
                      <a:endParaRPr lang="en-US" sz="1400" dirty="0"/>
                    </a:p>
                  </a:txBody>
                  <a:tcPr marT="34290" marB="34290"/>
                </a:tc>
                <a:tc>
                  <a:txBody>
                    <a:bodyPr/>
                    <a:lstStyle/>
                    <a:p>
                      <a:r>
                        <a:rPr lang="en-US" sz="1400" dirty="0" smtClean="0"/>
                        <a:t>A1</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SQL</a:t>
                      </a:r>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err="1" smtClean="0"/>
                        <a:t>Sai</a:t>
                      </a:r>
                      <a:endParaRPr lang="en-US" sz="1400" dirty="0"/>
                    </a:p>
                  </a:txBody>
                  <a:tcPr marT="34290" marB="34290"/>
                </a:tc>
                <a:tc>
                  <a:txBody>
                    <a:bodyPr/>
                    <a:lstStyle/>
                    <a:p>
                      <a:r>
                        <a:rPr lang="en-US" sz="1400" dirty="0" smtClean="0"/>
                        <a:t>A1</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JAVA</a:t>
                      </a:r>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Abhi</a:t>
                      </a:r>
                      <a:endParaRPr lang="en-US" sz="1400" dirty="0"/>
                    </a:p>
                  </a:txBody>
                  <a:tcPr marT="34290" marB="34290"/>
                </a:tc>
                <a:tc>
                  <a:txBody>
                    <a:bodyPr/>
                    <a:lstStyle/>
                    <a:p>
                      <a:r>
                        <a:rPr lang="en-US" sz="1400" dirty="0" smtClean="0"/>
                        <a:t>A2</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SQL</a:t>
                      </a:r>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Abhi</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PP</a:t>
                      </a:r>
                      <a:endParaRPr lang="en-US" sz="1400" dirty="0"/>
                    </a:p>
                  </a:txBody>
                  <a:tcPr marT="34290" marB="34290"/>
                </a:tc>
              </a:tr>
            </a:tbl>
          </a:graphicData>
        </a:graphic>
      </p:graphicFrame>
    </p:spTree>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Arrow 1"/>
          <p:cNvSpPr/>
          <p:nvPr/>
        </p:nvSpPr>
        <p:spPr>
          <a:xfrm>
            <a:off x="357158" y="428611"/>
            <a:ext cx="1500198" cy="5357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Method 3</a:t>
            </a:r>
            <a:endParaRPr lang="en-US" dirty="0"/>
          </a:p>
        </p:txBody>
      </p:sp>
      <p:graphicFrame>
        <p:nvGraphicFramePr>
          <p:cNvPr id="3" name="Table 2"/>
          <p:cNvGraphicFramePr>
            <a:graphicFrameLocks noGrp="1"/>
          </p:cNvGraphicFramePr>
          <p:nvPr/>
        </p:nvGraphicFramePr>
        <p:xfrm>
          <a:off x="1928797" y="482189"/>
          <a:ext cx="2688591" cy="1127760"/>
        </p:xfrm>
        <a:graphic>
          <a:graphicData uri="http://schemas.openxmlformats.org/drawingml/2006/table">
            <a:tbl>
              <a:tblPr firstRow="1" bandRow="1">
                <a:tableStyleId>{5C22544A-7EE6-4342-B048-85BDC9FD1C3A}</a:tableStyleId>
              </a:tblPr>
              <a:tblGrid>
                <a:gridCol w="582930"/>
                <a:gridCol w="981393"/>
                <a:gridCol w="1124268"/>
              </a:tblGrid>
              <a:tr h="288036">
                <a:tc>
                  <a:txBody>
                    <a:bodyPr/>
                    <a:lstStyle/>
                    <a:p>
                      <a:r>
                        <a:rPr lang="en-US" sz="1400" dirty="0" err="1" smtClean="0"/>
                        <a:t>sid</a:t>
                      </a:r>
                      <a:endParaRPr lang="en-US" sz="1400" dirty="0"/>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address</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Ram</a:t>
                      </a:r>
                      <a:endParaRPr lang="en-US" sz="1400" dirty="0"/>
                    </a:p>
                  </a:txBody>
                  <a:tcPr marT="34290" marB="34290"/>
                </a:tc>
                <a:tc>
                  <a:txBody>
                    <a:bodyPr/>
                    <a:lstStyle/>
                    <a:p>
                      <a:r>
                        <a:rPr lang="en-US" sz="1400" dirty="0" smtClean="0"/>
                        <a:t>A1</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err="1" smtClean="0"/>
                        <a:t>Sai</a:t>
                      </a:r>
                      <a:endParaRPr lang="en-US" sz="1400" dirty="0"/>
                    </a:p>
                  </a:txBody>
                  <a:tcPr marT="34290" marB="34290"/>
                </a:tc>
                <a:tc>
                  <a:txBody>
                    <a:bodyPr/>
                    <a:lstStyle/>
                    <a:p>
                      <a:r>
                        <a:rPr lang="en-US" sz="1400" dirty="0" smtClean="0"/>
                        <a:t>A1</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Abhi</a:t>
                      </a:r>
                      <a:endParaRPr lang="en-US" sz="1400" dirty="0"/>
                    </a:p>
                  </a:txBody>
                  <a:tcPr marT="34290" marB="34290"/>
                </a:tc>
                <a:tc>
                  <a:txBody>
                    <a:bodyPr/>
                    <a:lstStyle/>
                    <a:p>
                      <a:r>
                        <a:rPr lang="en-US" sz="1400" dirty="0" smtClean="0"/>
                        <a:t>A2</a:t>
                      </a:r>
                      <a:endParaRPr lang="en-US" sz="1400" dirty="0"/>
                    </a:p>
                  </a:txBody>
                  <a:tcPr marT="34290" marB="34290"/>
                </a:tc>
              </a:tr>
            </a:tbl>
          </a:graphicData>
        </a:graphic>
      </p:graphicFrame>
      <p:graphicFrame>
        <p:nvGraphicFramePr>
          <p:cNvPr id="4" name="Table 3"/>
          <p:cNvGraphicFramePr>
            <a:graphicFrameLocks noGrp="1"/>
          </p:cNvGraphicFramePr>
          <p:nvPr/>
        </p:nvGraphicFramePr>
        <p:xfrm>
          <a:off x="7000892" y="214297"/>
          <a:ext cx="1565910" cy="1973580"/>
        </p:xfrm>
        <a:graphic>
          <a:graphicData uri="http://schemas.openxmlformats.org/drawingml/2006/table">
            <a:tbl>
              <a:tblPr firstRow="1" bandRow="1">
                <a:tableStyleId>{5C22544A-7EE6-4342-B048-85BDC9FD1C3A}</a:tableStyleId>
              </a:tblPr>
              <a:tblGrid>
                <a:gridCol w="582930"/>
                <a:gridCol w="982980"/>
              </a:tblGrid>
              <a:tr h="288036">
                <a:tc>
                  <a:txBody>
                    <a:bodyPr/>
                    <a:lstStyle/>
                    <a:p>
                      <a:r>
                        <a:rPr lang="en-US" sz="1400" dirty="0" err="1" smtClean="0"/>
                        <a:t>sid</a:t>
                      </a:r>
                      <a:endParaRPr lang="en-US" sz="1400" dirty="0"/>
                    </a:p>
                  </a:txBody>
                  <a:tcPr marT="34290" marB="34290"/>
                </a:tc>
                <a:tc>
                  <a:txBody>
                    <a:bodyPr/>
                    <a:lstStyle/>
                    <a:p>
                      <a:r>
                        <a:rPr lang="en-US" sz="1400" dirty="0" err="1" smtClean="0"/>
                        <a:t>cname</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C</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CPP</a:t>
                      </a:r>
                    </a:p>
                  </a:txBody>
                  <a:tcPr marT="34290" marB="34290"/>
                </a:tc>
              </a:tr>
              <a:tr h="288036">
                <a:tc>
                  <a:txBody>
                    <a:bodyPr/>
                    <a:lstStyle/>
                    <a:p>
                      <a:r>
                        <a:rPr lang="en-US" sz="1400" dirty="0" smtClean="0"/>
                        <a:t>1</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SQL</a:t>
                      </a:r>
                    </a:p>
                  </a:txBody>
                  <a:tcPr marT="34290" marB="34290"/>
                </a:tc>
              </a:tr>
              <a:tr h="288036">
                <a:tc>
                  <a:txBody>
                    <a:bodyPr/>
                    <a:lstStyle/>
                    <a:p>
                      <a:r>
                        <a:rPr lang="en-US" sz="1400" dirty="0" smtClean="0"/>
                        <a:t>2</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JAVA</a:t>
                      </a:r>
                    </a:p>
                  </a:txBody>
                  <a:tcPr marT="34290" marB="34290"/>
                </a:tc>
              </a:tr>
              <a:tr h="288036">
                <a:tc>
                  <a:txBody>
                    <a:bodyPr/>
                    <a:lstStyle/>
                    <a:p>
                      <a:r>
                        <a:rPr lang="en-US" sz="1400" dirty="0" smtClean="0"/>
                        <a:t>3</a:t>
                      </a:r>
                      <a:endParaRPr lang="en-US" sz="1400" dirty="0"/>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SQL</a:t>
                      </a:r>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smtClean="0"/>
                        <a:t>PP</a:t>
                      </a:r>
                      <a:endParaRPr lang="en-US" sz="1400" dirty="0"/>
                    </a:p>
                  </a:txBody>
                  <a:tcPr marT="34290" marB="34290"/>
                </a:tc>
              </a:tr>
            </a:tbl>
          </a:graphicData>
        </a:graphic>
      </p:graphicFrame>
    </p:spTree>
  </p:cSld>
  <p:clrMapOvr>
    <a:masterClrMapping/>
  </p:clrMapOv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53561"/>
            <a:ext cx="4572000" cy="369332"/>
          </a:xfrm>
          <a:prstGeom prst="rect">
            <a:avLst/>
          </a:prstGeom>
        </p:spPr>
        <p:txBody>
          <a:bodyPr>
            <a:spAutoFit/>
          </a:bodyPr>
          <a:lstStyle/>
          <a:p>
            <a:r>
              <a:rPr lang="en-US" dirty="0" smtClean="0"/>
              <a:t>2)Second normal form(2NF) </a:t>
            </a:r>
          </a:p>
        </p:txBody>
      </p:sp>
      <p:sp>
        <p:nvSpPr>
          <p:cNvPr id="3" name="TextBox 2"/>
          <p:cNvSpPr txBox="1"/>
          <p:nvPr/>
        </p:nvSpPr>
        <p:spPr>
          <a:xfrm>
            <a:off x="142844" y="321454"/>
            <a:ext cx="4500594" cy="1200329"/>
          </a:xfrm>
          <a:prstGeom prst="rect">
            <a:avLst/>
          </a:prstGeom>
          <a:noFill/>
        </p:spPr>
        <p:txBody>
          <a:bodyPr wrap="square" rtlCol="0">
            <a:spAutoFit/>
          </a:bodyPr>
          <a:lstStyle/>
          <a:p>
            <a:r>
              <a:rPr lang="en-US" sz="2400" dirty="0" smtClean="0"/>
              <a:t>If Relation in 2NF it follows </a:t>
            </a:r>
          </a:p>
          <a:p>
            <a:pPr marL="342900" indent="-342900">
              <a:buAutoNum type="arabicPeriod"/>
            </a:pPr>
            <a:r>
              <a:rPr lang="en-US" sz="2400" dirty="0" smtClean="0"/>
              <a:t>It is in 1Nf</a:t>
            </a:r>
          </a:p>
          <a:p>
            <a:pPr marL="342900" indent="-342900">
              <a:buAutoNum type="arabicPeriod"/>
            </a:pPr>
            <a:r>
              <a:rPr lang="en-US" sz="2400" dirty="0" smtClean="0"/>
              <a:t>It not having PD</a:t>
            </a:r>
          </a:p>
        </p:txBody>
      </p:sp>
      <p:graphicFrame>
        <p:nvGraphicFramePr>
          <p:cNvPr id="4" name="Table 3"/>
          <p:cNvGraphicFramePr>
            <a:graphicFrameLocks noGrp="1"/>
          </p:cNvGraphicFramePr>
          <p:nvPr/>
        </p:nvGraphicFramePr>
        <p:xfrm>
          <a:off x="214282" y="1125130"/>
          <a:ext cx="7286676" cy="1691640"/>
        </p:xfrm>
        <a:graphic>
          <a:graphicData uri="http://schemas.openxmlformats.org/drawingml/2006/table">
            <a:tbl>
              <a:tblPr firstRow="1" bandRow="1">
                <a:tableStyleId>{5C22544A-7EE6-4342-B048-85BDC9FD1C3A}</a:tableStyleId>
              </a:tblPr>
              <a:tblGrid>
                <a:gridCol w="979721"/>
                <a:gridCol w="979721"/>
                <a:gridCol w="979721"/>
                <a:gridCol w="979721"/>
                <a:gridCol w="1224652"/>
                <a:gridCol w="734790"/>
                <a:gridCol w="1408350"/>
              </a:tblGrid>
              <a:tr h="288036">
                <a:tc>
                  <a:txBody>
                    <a:bodyPr/>
                    <a:lstStyle/>
                    <a:p>
                      <a:r>
                        <a:rPr lang="en-US" sz="1400" dirty="0" err="1" smtClean="0"/>
                        <a:t>Htno</a:t>
                      </a:r>
                      <a:r>
                        <a:rPr lang="en-US" sz="1400" dirty="0" smtClean="0"/>
                        <a:t> </a:t>
                      </a:r>
                      <a:endParaRPr lang="en-US" sz="1400" dirty="0"/>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Add</a:t>
                      </a:r>
                      <a:endParaRPr lang="en-US" sz="1400" dirty="0"/>
                    </a:p>
                  </a:txBody>
                  <a:tcPr marT="34290" marB="34290"/>
                </a:tc>
                <a:tc>
                  <a:txBody>
                    <a:bodyPr/>
                    <a:lstStyle/>
                    <a:p>
                      <a:r>
                        <a:rPr lang="en-US" sz="1400" dirty="0" err="1" smtClean="0"/>
                        <a:t>Phno</a:t>
                      </a:r>
                      <a:endParaRPr lang="en-US" sz="1400" dirty="0"/>
                    </a:p>
                  </a:txBody>
                  <a:tcPr marT="34290" marB="34290"/>
                </a:tc>
                <a:tc>
                  <a:txBody>
                    <a:bodyPr/>
                    <a:lstStyle/>
                    <a:p>
                      <a:r>
                        <a:rPr lang="en-US" sz="1400" dirty="0" err="1" smtClean="0"/>
                        <a:t>Cname</a:t>
                      </a:r>
                      <a:endParaRPr lang="en-US" sz="1400" dirty="0"/>
                    </a:p>
                  </a:txBody>
                  <a:tcPr marT="34290" marB="34290"/>
                </a:tc>
                <a:tc>
                  <a:txBody>
                    <a:bodyPr/>
                    <a:lstStyle/>
                    <a:p>
                      <a:r>
                        <a:rPr lang="en-US" sz="1400" dirty="0" smtClean="0"/>
                        <a:t>Fee</a:t>
                      </a:r>
                      <a:endParaRPr lang="en-US" sz="1400" dirty="0"/>
                    </a:p>
                  </a:txBody>
                  <a:tcPr marT="34290" marB="34290"/>
                </a:tc>
                <a:tc>
                  <a:txBody>
                    <a:bodyPr/>
                    <a:lstStyle/>
                    <a:p>
                      <a:r>
                        <a:rPr lang="en-US" sz="1400" dirty="0" smtClean="0"/>
                        <a:t>DOJ</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123</a:t>
                      </a:r>
                      <a:endParaRPr lang="en-US" sz="1400" dirty="0"/>
                    </a:p>
                  </a:txBody>
                  <a:tcPr marT="34290" marB="34290"/>
                </a:tc>
                <a:tc>
                  <a:txBody>
                    <a:bodyPr/>
                    <a:lstStyle/>
                    <a:p>
                      <a:r>
                        <a:rPr lang="en-US" sz="1400" dirty="0" smtClean="0"/>
                        <a:t>C</a:t>
                      </a:r>
                      <a:endParaRPr lang="en-US" sz="1400" dirty="0"/>
                    </a:p>
                  </a:txBody>
                  <a:tcPr marT="34290" marB="34290"/>
                </a:tc>
                <a:tc>
                  <a:txBody>
                    <a:bodyPr/>
                    <a:lstStyle/>
                    <a:p>
                      <a:r>
                        <a:rPr lang="en-US" sz="1400" dirty="0" smtClean="0"/>
                        <a:t>5K</a:t>
                      </a:r>
                      <a:endParaRPr lang="en-US" sz="1400" dirty="0"/>
                    </a:p>
                  </a:txBody>
                  <a:tcPr marT="34290" marB="34290"/>
                </a:tc>
                <a:tc>
                  <a:txBody>
                    <a:bodyPr/>
                    <a:lstStyle/>
                    <a:p>
                      <a:r>
                        <a:rPr lang="en-US" sz="1400" dirty="0" smtClean="0"/>
                        <a:t>13-10-23</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123</a:t>
                      </a:r>
                      <a:endParaRPr lang="en-US" sz="1400" dirty="0"/>
                    </a:p>
                  </a:txBody>
                  <a:tcPr marT="34290" marB="34290"/>
                </a:tc>
                <a:tc>
                  <a:txBody>
                    <a:bodyPr/>
                    <a:lstStyle/>
                    <a:p>
                      <a:r>
                        <a:rPr lang="en-US" sz="1400" dirty="0" smtClean="0"/>
                        <a:t>CPP</a:t>
                      </a:r>
                      <a:endParaRPr lang="en-US" sz="1400" dirty="0"/>
                    </a:p>
                  </a:txBody>
                  <a:tcPr marT="34290" marB="34290"/>
                </a:tc>
                <a:tc>
                  <a:txBody>
                    <a:bodyPr/>
                    <a:lstStyle/>
                    <a:p>
                      <a:r>
                        <a:rPr lang="en-US" sz="1400" dirty="0" smtClean="0"/>
                        <a:t>8K</a:t>
                      </a:r>
                      <a:endParaRPr lang="en-US" sz="1400" dirty="0"/>
                    </a:p>
                  </a:txBody>
                  <a:tcPr marT="34290" marB="34290"/>
                </a:tc>
                <a:tc>
                  <a:txBody>
                    <a:bodyPr/>
                    <a:lstStyle/>
                    <a:p>
                      <a:r>
                        <a:rPr lang="en-US" sz="1400" dirty="0" smtClean="0"/>
                        <a:t>12-11-24</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456</a:t>
                      </a:r>
                      <a:endParaRPr lang="en-US" sz="1400" dirty="0"/>
                    </a:p>
                  </a:txBody>
                  <a:tcPr marT="34290" marB="34290"/>
                </a:tc>
                <a:tc>
                  <a:txBody>
                    <a:bodyPr/>
                    <a:lstStyle/>
                    <a:p>
                      <a:r>
                        <a:rPr lang="en-US" sz="1400" dirty="0" err="1" smtClean="0"/>
                        <a:t>sql</a:t>
                      </a:r>
                      <a:endParaRPr lang="en-US" sz="1400" dirty="0"/>
                    </a:p>
                  </a:txBody>
                  <a:tcPr marT="34290" marB="34290"/>
                </a:tc>
                <a:tc>
                  <a:txBody>
                    <a:bodyPr/>
                    <a:lstStyle/>
                    <a:p>
                      <a:r>
                        <a:rPr lang="en-US" sz="1400" dirty="0" smtClean="0"/>
                        <a:t>10K</a:t>
                      </a:r>
                      <a:endParaRPr lang="en-US" sz="1400" dirty="0"/>
                    </a:p>
                  </a:txBody>
                  <a:tcPr marT="34290" marB="34290"/>
                </a:tc>
                <a:tc>
                  <a:txBody>
                    <a:bodyPr/>
                    <a:lstStyle/>
                    <a:p>
                      <a:r>
                        <a:rPr lang="en-US" sz="1400" dirty="0" smtClean="0"/>
                        <a:t>14-02-24</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pqr</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568</a:t>
                      </a:r>
                      <a:endParaRPr lang="en-US" sz="1400" dirty="0"/>
                    </a:p>
                  </a:txBody>
                  <a:tcPr marT="34290" marB="34290"/>
                </a:tc>
                <a:tc>
                  <a:txBody>
                    <a:bodyPr/>
                    <a:lstStyle/>
                    <a:p>
                      <a:r>
                        <a:rPr lang="en-US" sz="1400" dirty="0" err="1" smtClean="0"/>
                        <a:t>sql</a:t>
                      </a:r>
                      <a:endParaRPr lang="en-US" sz="1400" dirty="0"/>
                    </a:p>
                  </a:txBody>
                  <a:tcPr marT="34290" marB="34290"/>
                </a:tc>
                <a:tc>
                  <a:txBody>
                    <a:bodyPr/>
                    <a:lstStyle/>
                    <a:p>
                      <a:r>
                        <a:rPr lang="en-US" sz="1400" dirty="0" smtClean="0"/>
                        <a:t>10K</a:t>
                      </a:r>
                      <a:endParaRPr lang="en-US" sz="1400" dirty="0"/>
                    </a:p>
                  </a:txBody>
                  <a:tcPr marT="34290" marB="34290"/>
                </a:tc>
                <a:tc>
                  <a:txBody>
                    <a:bodyPr/>
                    <a:lstStyle/>
                    <a:p>
                      <a:r>
                        <a:rPr lang="en-US" sz="1400" dirty="0" smtClean="0"/>
                        <a:t>13-12-24</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pqr</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568</a:t>
                      </a:r>
                      <a:endParaRPr lang="en-US" sz="1400" dirty="0"/>
                    </a:p>
                  </a:txBody>
                  <a:tcPr marT="34290" marB="34290"/>
                </a:tc>
                <a:tc>
                  <a:txBody>
                    <a:bodyPr/>
                    <a:lstStyle/>
                    <a:p>
                      <a:r>
                        <a:rPr lang="en-US" sz="1400" dirty="0" smtClean="0"/>
                        <a:t>java</a:t>
                      </a:r>
                      <a:endParaRPr lang="en-US" sz="1400" dirty="0"/>
                    </a:p>
                  </a:txBody>
                  <a:tcPr marT="34290" marB="34290"/>
                </a:tc>
                <a:tc>
                  <a:txBody>
                    <a:bodyPr/>
                    <a:lstStyle/>
                    <a:p>
                      <a:r>
                        <a:rPr lang="en-US" sz="1400" dirty="0" smtClean="0"/>
                        <a:t>7K</a:t>
                      </a:r>
                      <a:endParaRPr lang="en-US" sz="1400" dirty="0"/>
                    </a:p>
                  </a:txBody>
                  <a:tcPr marT="34290" marB="34290"/>
                </a:tc>
                <a:tc>
                  <a:txBody>
                    <a:bodyPr/>
                    <a:lstStyle/>
                    <a:p>
                      <a:r>
                        <a:rPr lang="en-US" sz="1400" dirty="0" smtClean="0"/>
                        <a:t>13-10-23</a:t>
                      </a:r>
                      <a:endParaRPr lang="en-US" sz="1400" dirty="0"/>
                    </a:p>
                  </a:txBody>
                  <a:tcPr marT="34290" marB="34290"/>
                </a:tc>
              </a:tr>
            </a:tbl>
          </a:graphicData>
        </a:graphic>
      </p:graphicFrame>
      <p:graphicFrame>
        <p:nvGraphicFramePr>
          <p:cNvPr id="5" name="Table 4"/>
          <p:cNvGraphicFramePr>
            <a:graphicFrameLocks noGrp="1"/>
          </p:cNvGraphicFramePr>
          <p:nvPr/>
        </p:nvGraphicFramePr>
        <p:xfrm>
          <a:off x="3" y="3000378"/>
          <a:ext cx="3536549" cy="1127760"/>
        </p:xfrm>
        <a:graphic>
          <a:graphicData uri="http://schemas.openxmlformats.org/drawingml/2006/table">
            <a:tbl>
              <a:tblPr firstRow="1" bandRow="1">
                <a:tableStyleId>{5C22544A-7EE6-4342-B048-85BDC9FD1C3A}</a:tableStyleId>
              </a:tblPr>
              <a:tblGrid>
                <a:gridCol w="865505"/>
                <a:gridCol w="989330"/>
                <a:gridCol w="701993"/>
                <a:gridCol w="979721"/>
              </a:tblGrid>
              <a:tr h="288036">
                <a:tc>
                  <a:txBody>
                    <a:bodyPr/>
                    <a:lstStyle/>
                    <a:p>
                      <a:r>
                        <a:rPr lang="en-US" sz="1400" dirty="0" err="1" smtClean="0"/>
                        <a:t>Htno</a:t>
                      </a:r>
                      <a:r>
                        <a:rPr lang="en-US" sz="1400" dirty="0" smtClean="0"/>
                        <a:t> </a:t>
                      </a:r>
                      <a:endParaRPr lang="en-US" sz="1400" dirty="0"/>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Add</a:t>
                      </a:r>
                      <a:endParaRPr lang="en-US" sz="1400" dirty="0"/>
                    </a:p>
                  </a:txBody>
                  <a:tcPr marT="34290" marB="34290"/>
                </a:tc>
                <a:tc>
                  <a:txBody>
                    <a:bodyPr/>
                    <a:lstStyle/>
                    <a:p>
                      <a:r>
                        <a:rPr lang="en-US" sz="1400" dirty="0" err="1" smtClean="0"/>
                        <a:t>Phno</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123</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456</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pqr</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568</a:t>
                      </a:r>
                      <a:endParaRPr lang="en-US" sz="1400" dirty="0"/>
                    </a:p>
                  </a:txBody>
                  <a:tcPr marT="34290" marB="34290"/>
                </a:tc>
              </a:tr>
            </a:tbl>
          </a:graphicData>
        </a:graphic>
      </p:graphicFrame>
      <p:graphicFrame>
        <p:nvGraphicFramePr>
          <p:cNvPr id="6" name="Table 5"/>
          <p:cNvGraphicFramePr>
            <a:graphicFrameLocks noGrp="1"/>
          </p:cNvGraphicFramePr>
          <p:nvPr/>
        </p:nvGraphicFramePr>
        <p:xfrm>
          <a:off x="3857623" y="3000379"/>
          <a:ext cx="1759045" cy="1409700"/>
        </p:xfrm>
        <a:graphic>
          <a:graphicData uri="http://schemas.openxmlformats.org/drawingml/2006/table">
            <a:tbl>
              <a:tblPr firstRow="1" bandRow="1">
                <a:tableStyleId>{5C22544A-7EE6-4342-B048-85BDC9FD1C3A}</a:tableStyleId>
              </a:tblPr>
              <a:tblGrid>
                <a:gridCol w="1024255"/>
                <a:gridCol w="734790"/>
              </a:tblGrid>
              <a:tr h="288036">
                <a:tc>
                  <a:txBody>
                    <a:bodyPr/>
                    <a:lstStyle/>
                    <a:p>
                      <a:r>
                        <a:rPr lang="en-US" sz="1400" dirty="0" err="1" smtClean="0"/>
                        <a:t>Cname</a:t>
                      </a:r>
                      <a:endParaRPr lang="en-US" sz="1400" dirty="0"/>
                    </a:p>
                  </a:txBody>
                  <a:tcPr marT="34290" marB="34290"/>
                </a:tc>
                <a:tc>
                  <a:txBody>
                    <a:bodyPr/>
                    <a:lstStyle/>
                    <a:p>
                      <a:r>
                        <a:rPr lang="en-US" sz="1400" dirty="0" smtClean="0"/>
                        <a:t>Fee</a:t>
                      </a:r>
                      <a:endParaRPr lang="en-US" sz="1400" dirty="0"/>
                    </a:p>
                  </a:txBody>
                  <a:tcPr marT="34290" marB="34290"/>
                </a:tc>
              </a:tr>
              <a:tr h="288036">
                <a:tc>
                  <a:txBody>
                    <a:bodyPr/>
                    <a:lstStyle/>
                    <a:p>
                      <a:r>
                        <a:rPr lang="en-US" sz="1400" dirty="0" smtClean="0"/>
                        <a:t>C</a:t>
                      </a:r>
                      <a:endParaRPr lang="en-US" sz="1400" dirty="0"/>
                    </a:p>
                  </a:txBody>
                  <a:tcPr marT="34290" marB="34290"/>
                </a:tc>
                <a:tc>
                  <a:txBody>
                    <a:bodyPr/>
                    <a:lstStyle/>
                    <a:p>
                      <a:r>
                        <a:rPr lang="en-US" sz="1400" dirty="0" smtClean="0"/>
                        <a:t>5K</a:t>
                      </a:r>
                      <a:endParaRPr lang="en-US" sz="1400" dirty="0"/>
                    </a:p>
                  </a:txBody>
                  <a:tcPr marT="34290" marB="34290"/>
                </a:tc>
              </a:tr>
              <a:tr h="288036">
                <a:tc>
                  <a:txBody>
                    <a:bodyPr/>
                    <a:lstStyle/>
                    <a:p>
                      <a:r>
                        <a:rPr lang="en-US" sz="1400" dirty="0" smtClean="0"/>
                        <a:t>CPP</a:t>
                      </a:r>
                      <a:endParaRPr lang="en-US" sz="1400" dirty="0"/>
                    </a:p>
                  </a:txBody>
                  <a:tcPr marT="34290" marB="34290"/>
                </a:tc>
                <a:tc>
                  <a:txBody>
                    <a:bodyPr/>
                    <a:lstStyle/>
                    <a:p>
                      <a:r>
                        <a:rPr lang="en-US" sz="1400" dirty="0" smtClean="0"/>
                        <a:t>8K</a:t>
                      </a:r>
                      <a:endParaRPr lang="en-US" sz="1400" dirty="0"/>
                    </a:p>
                  </a:txBody>
                  <a:tcPr marT="34290" marB="34290"/>
                </a:tc>
              </a:tr>
              <a:tr h="288036">
                <a:tc>
                  <a:txBody>
                    <a:bodyPr/>
                    <a:lstStyle/>
                    <a:p>
                      <a:r>
                        <a:rPr lang="en-US" sz="1400" dirty="0" err="1" smtClean="0"/>
                        <a:t>sql</a:t>
                      </a:r>
                      <a:endParaRPr lang="en-US" sz="1400" dirty="0"/>
                    </a:p>
                  </a:txBody>
                  <a:tcPr marT="34290" marB="34290"/>
                </a:tc>
                <a:tc>
                  <a:txBody>
                    <a:bodyPr/>
                    <a:lstStyle/>
                    <a:p>
                      <a:r>
                        <a:rPr lang="en-US" sz="1400" dirty="0" smtClean="0"/>
                        <a:t>10K</a:t>
                      </a:r>
                      <a:endParaRPr lang="en-US" sz="1400" dirty="0"/>
                    </a:p>
                  </a:txBody>
                  <a:tcPr marT="34290" marB="34290"/>
                </a:tc>
              </a:tr>
              <a:tr h="288036">
                <a:tc>
                  <a:txBody>
                    <a:bodyPr/>
                    <a:lstStyle/>
                    <a:p>
                      <a:r>
                        <a:rPr lang="en-US" sz="1400" dirty="0" smtClean="0"/>
                        <a:t>java</a:t>
                      </a:r>
                      <a:endParaRPr lang="en-US" sz="1400" dirty="0"/>
                    </a:p>
                  </a:txBody>
                  <a:tcPr marT="34290" marB="34290"/>
                </a:tc>
                <a:tc>
                  <a:txBody>
                    <a:bodyPr/>
                    <a:lstStyle/>
                    <a:p>
                      <a:r>
                        <a:rPr lang="en-US" sz="1400" dirty="0" smtClean="0"/>
                        <a:t>7K</a:t>
                      </a:r>
                      <a:endParaRPr lang="en-US" sz="1400" dirty="0"/>
                    </a:p>
                  </a:txBody>
                  <a:tcPr marT="34290" marB="34290"/>
                </a:tc>
              </a:tr>
            </a:tbl>
          </a:graphicData>
        </a:graphic>
      </p:graphicFrame>
      <p:graphicFrame>
        <p:nvGraphicFramePr>
          <p:cNvPr id="7" name="Table 6"/>
          <p:cNvGraphicFramePr>
            <a:graphicFrameLocks noGrp="1"/>
          </p:cNvGraphicFramePr>
          <p:nvPr/>
        </p:nvGraphicFramePr>
        <p:xfrm>
          <a:off x="5868038" y="2946800"/>
          <a:ext cx="3275965" cy="1691640"/>
        </p:xfrm>
        <a:graphic>
          <a:graphicData uri="http://schemas.openxmlformats.org/drawingml/2006/table">
            <a:tbl>
              <a:tblPr firstRow="1" bandRow="1">
                <a:tableStyleId>{5C22544A-7EE6-4342-B048-85BDC9FD1C3A}</a:tableStyleId>
              </a:tblPr>
              <a:tblGrid>
                <a:gridCol w="865505"/>
                <a:gridCol w="1024255"/>
                <a:gridCol w="1386205"/>
              </a:tblGrid>
              <a:tr h="288036">
                <a:tc>
                  <a:txBody>
                    <a:bodyPr/>
                    <a:lstStyle/>
                    <a:p>
                      <a:r>
                        <a:rPr lang="en-US" sz="1400" dirty="0" err="1" smtClean="0"/>
                        <a:t>Htno</a:t>
                      </a:r>
                      <a:r>
                        <a:rPr lang="en-US" sz="1400" dirty="0" smtClean="0"/>
                        <a:t> </a:t>
                      </a:r>
                      <a:endParaRPr lang="en-US" sz="1400" dirty="0"/>
                    </a:p>
                  </a:txBody>
                  <a:tcPr marT="34290" marB="34290"/>
                </a:tc>
                <a:tc>
                  <a:txBody>
                    <a:bodyPr/>
                    <a:lstStyle/>
                    <a:p>
                      <a:r>
                        <a:rPr lang="en-US" sz="1400" dirty="0" err="1" smtClean="0"/>
                        <a:t>Cname</a:t>
                      </a:r>
                      <a:endParaRPr lang="en-US" sz="1400" dirty="0"/>
                    </a:p>
                  </a:txBody>
                  <a:tcPr marT="34290" marB="34290"/>
                </a:tc>
                <a:tc>
                  <a:txBody>
                    <a:bodyPr/>
                    <a:lstStyle/>
                    <a:p>
                      <a:r>
                        <a:rPr lang="en-US" sz="1400" dirty="0" smtClean="0"/>
                        <a:t>DOJ</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C</a:t>
                      </a:r>
                      <a:endParaRPr lang="en-US" sz="1400" dirty="0"/>
                    </a:p>
                  </a:txBody>
                  <a:tcPr marT="34290" marB="34290"/>
                </a:tc>
                <a:tc>
                  <a:txBody>
                    <a:bodyPr/>
                    <a:lstStyle/>
                    <a:p>
                      <a:r>
                        <a:rPr lang="en-US" sz="1400" dirty="0" smtClean="0"/>
                        <a:t>13-10-23</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CPP</a:t>
                      </a:r>
                      <a:endParaRPr lang="en-US" sz="1400" dirty="0"/>
                    </a:p>
                  </a:txBody>
                  <a:tcPr marT="34290" marB="34290"/>
                </a:tc>
                <a:tc>
                  <a:txBody>
                    <a:bodyPr/>
                    <a:lstStyle/>
                    <a:p>
                      <a:r>
                        <a:rPr lang="en-US" sz="1400" dirty="0" smtClean="0"/>
                        <a:t>12-11-24</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err="1" smtClean="0"/>
                        <a:t>sql</a:t>
                      </a:r>
                      <a:endParaRPr lang="en-US" sz="1400" dirty="0"/>
                    </a:p>
                  </a:txBody>
                  <a:tcPr marT="34290" marB="34290"/>
                </a:tc>
                <a:tc>
                  <a:txBody>
                    <a:bodyPr/>
                    <a:lstStyle/>
                    <a:p>
                      <a:r>
                        <a:rPr lang="en-US" sz="1400" dirty="0" smtClean="0"/>
                        <a:t>14-02-24</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sql</a:t>
                      </a:r>
                      <a:endParaRPr lang="en-US" sz="1400" dirty="0"/>
                    </a:p>
                  </a:txBody>
                  <a:tcPr marT="34290" marB="34290"/>
                </a:tc>
                <a:tc>
                  <a:txBody>
                    <a:bodyPr/>
                    <a:lstStyle/>
                    <a:p>
                      <a:r>
                        <a:rPr lang="en-US" sz="1400" dirty="0" smtClean="0"/>
                        <a:t>13-12-24</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smtClean="0"/>
                        <a:t>java</a:t>
                      </a:r>
                      <a:endParaRPr lang="en-US" sz="1400" dirty="0"/>
                    </a:p>
                  </a:txBody>
                  <a:tcPr marT="34290" marB="34290"/>
                </a:tc>
                <a:tc>
                  <a:txBody>
                    <a:bodyPr/>
                    <a:lstStyle/>
                    <a:p>
                      <a:r>
                        <a:rPr lang="en-US" sz="1400" dirty="0" smtClean="0"/>
                        <a:t>13-10-23</a:t>
                      </a:r>
                      <a:endParaRPr lang="en-US" sz="1400" dirty="0"/>
                    </a:p>
                  </a:txBody>
                  <a:tcPr marT="34290" marB="34290"/>
                </a:tc>
              </a:tr>
            </a:tbl>
          </a:graphicData>
        </a:graphic>
      </p:graphicFrame>
    </p:spTree>
  </p:cSld>
  <p:clrMapOvr>
    <a:masterClrMapping/>
  </p:clrMapOvr>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07139"/>
            <a:ext cx="4572000" cy="369332"/>
          </a:xfrm>
          <a:prstGeom prst="rect">
            <a:avLst/>
          </a:prstGeom>
        </p:spPr>
        <p:txBody>
          <a:bodyPr>
            <a:spAutoFit/>
          </a:bodyPr>
          <a:lstStyle/>
          <a:p>
            <a:r>
              <a:rPr lang="en-US" dirty="0" smtClean="0"/>
              <a:t>3)Third normal form(3NF) </a:t>
            </a:r>
          </a:p>
        </p:txBody>
      </p:sp>
      <p:sp>
        <p:nvSpPr>
          <p:cNvPr id="3" name="Rectangle 2"/>
          <p:cNvSpPr/>
          <p:nvPr/>
        </p:nvSpPr>
        <p:spPr>
          <a:xfrm>
            <a:off x="500034" y="375033"/>
            <a:ext cx="7572428" cy="1200329"/>
          </a:xfrm>
          <a:prstGeom prst="rect">
            <a:avLst/>
          </a:prstGeom>
        </p:spPr>
        <p:txBody>
          <a:bodyPr wrap="square">
            <a:spAutoFit/>
          </a:bodyPr>
          <a:lstStyle/>
          <a:p>
            <a:r>
              <a:rPr lang="en-US" sz="2400" dirty="0" smtClean="0"/>
              <a:t>If Relation in 2NF it follows </a:t>
            </a:r>
          </a:p>
          <a:p>
            <a:pPr marL="342900" indent="-342900">
              <a:buAutoNum type="arabicPeriod"/>
            </a:pPr>
            <a:r>
              <a:rPr lang="en-US" sz="2400" dirty="0" smtClean="0"/>
              <a:t>It is in 2Nf</a:t>
            </a:r>
          </a:p>
          <a:p>
            <a:pPr marL="342900" indent="-342900">
              <a:buAutoNum type="arabicPeriod"/>
            </a:pPr>
            <a:r>
              <a:rPr lang="en-US" sz="2400" dirty="0" smtClean="0"/>
              <a:t>It not having TD</a:t>
            </a:r>
          </a:p>
        </p:txBody>
      </p:sp>
      <p:graphicFrame>
        <p:nvGraphicFramePr>
          <p:cNvPr id="9" name="Table 8"/>
          <p:cNvGraphicFramePr>
            <a:graphicFrameLocks noGrp="1"/>
          </p:cNvGraphicFramePr>
          <p:nvPr/>
        </p:nvGraphicFramePr>
        <p:xfrm>
          <a:off x="428596" y="1232288"/>
          <a:ext cx="5505088" cy="1409700"/>
        </p:xfrm>
        <a:graphic>
          <a:graphicData uri="http://schemas.openxmlformats.org/drawingml/2006/table">
            <a:tbl>
              <a:tblPr firstRow="1" bandRow="1">
                <a:tableStyleId>{5C22544A-7EE6-4342-B048-85BDC9FD1C3A}</a:tableStyleId>
              </a:tblPr>
              <a:tblGrid>
                <a:gridCol w="594043"/>
                <a:gridCol w="992505"/>
                <a:gridCol w="671830"/>
                <a:gridCol w="678180"/>
                <a:gridCol w="824230"/>
                <a:gridCol w="873443"/>
                <a:gridCol w="870857"/>
              </a:tblGrid>
              <a:tr h="288036">
                <a:tc>
                  <a:txBody>
                    <a:bodyPr/>
                    <a:lstStyle/>
                    <a:p>
                      <a:r>
                        <a:rPr lang="en-US" sz="1400" dirty="0" err="1" smtClean="0"/>
                        <a:t>eid</a:t>
                      </a:r>
                      <a:endParaRPr lang="en-US" sz="1400" dirty="0"/>
                    </a:p>
                  </a:txBody>
                  <a:tcPr marT="34290" marB="34290"/>
                </a:tc>
                <a:tc>
                  <a:txBody>
                    <a:bodyPr/>
                    <a:lstStyle/>
                    <a:p>
                      <a:r>
                        <a:rPr lang="en-US" sz="1400" dirty="0" err="1" smtClean="0"/>
                        <a:t>ename</a:t>
                      </a:r>
                      <a:endParaRPr lang="en-US" sz="1400" dirty="0"/>
                    </a:p>
                  </a:txBody>
                  <a:tcPr marT="34290" marB="34290"/>
                </a:tc>
                <a:tc>
                  <a:txBody>
                    <a:bodyPr/>
                    <a:lstStyle/>
                    <a:p>
                      <a:r>
                        <a:rPr lang="en-US" sz="1400" dirty="0" smtClean="0"/>
                        <a:t>add</a:t>
                      </a:r>
                      <a:endParaRPr lang="en-US" sz="1400" dirty="0"/>
                    </a:p>
                  </a:txBody>
                  <a:tcPr marT="34290" marB="34290"/>
                </a:tc>
                <a:tc>
                  <a:txBody>
                    <a:bodyPr/>
                    <a:lstStyle/>
                    <a:p>
                      <a:r>
                        <a:rPr lang="en-US" sz="1400" dirty="0" err="1" smtClean="0"/>
                        <a:t>sal</a:t>
                      </a:r>
                      <a:endParaRPr lang="en-US" sz="1400" dirty="0"/>
                    </a:p>
                  </a:txBody>
                  <a:tcPr marT="34290" marB="34290"/>
                </a:tc>
                <a:tc>
                  <a:txBody>
                    <a:bodyPr/>
                    <a:lstStyle/>
                    <a:p>
                      <a:r>
                        <a:rPr lang="en-US" sz="1400" dirty="0" err="1" smtClean="0"/>
                        <a:t>phno</a:t>
                      </a:r>
                      <a:endParaRPr lang="en-US" sz="1400" dirty="0"/>
                    </a:p>
                  </a:txBody>
                  <a:tcPr marT="34290" marB="34290"/>
                </a:tc>
                <a:tc>
                  <a:txBody>
                    <a:bodyPr/>
                    <a:lstStyle/>
                    <a:p>
                      <a:r>
                        <a:rPr lang="en-US" sz="1400" dirty="0" smtClean="0"/>
                        <a:t>comp</a:t>
                      </a:r>
                      <a:endParaRPr lang="en-US" sz="1400" dirty="0"/>
                    </a:p>
                  </a:txBody>
                  <a:tcPr marT="34290" marB="34290"/>
                </a:tc>
                <a:tc>
                  <a:txBody>
                    <a:bodyPr/>
                    <a:lstStyle/>
                    <a:p>
                      <a:r>
                        <a:rPr lang="en-US" sz="1400" dirty="0" smtClean="0"/>
                        <a:t>loc</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40k</a:t>
                      </a:r>
                      <a:endParaRPr lang="en-US" sz="1400" dirty="0"/>
                    </a:p>
                  </a:txBody>
                  <a:tcPr marT="34290" marB="34290"/>
                </a:tc>
                <a:tc>
                  <a:txBody>
                    <a:bodyPr/>
                    <a:lstStyle/>
                    <a:p>
                      <a:r>
                        <a:rPr lang="en-US" sz="1400" dirty="0" smtClean="0"/>
                        <a:t>123</a:t>
                      </a:r>
                      <a:endParaRPr lang="en-US" sz="1400" dirty="0"/>
                    </a:p>
                  </a:txBody>
                  <a:tcPr marT="34290" marB="34290"/>
                </a:tc>
                <a:tc>
                  <a:txBody>
                    <a:bodyPr/>
                    <a:lstStyle/>
                    <a:p>
                      <a:r>
                        <a:rPr lang="en-US" sz="1400" dirty="0" smtClean="0"/>
                        <a:t>c1</a:t>
                      </a:r>
                      <a:endParaRPr lang="en-US" sz="1400" dirty="0"/>
                    </a:p>
                  </a:txBody>
                  <a:tcPr marT="34290" marB="34290"/>
                </a:tc>
                <a:tc>
                  <a:txBody>
                    <a:bodyPr/>
                    <a:lstStyle/>
                    <a:p>
                      <a:r>
                        <a:rPr lang="en-US" sz="1400" dirty="0" err="1" smtClean="0"/>
                        <a:t>Hyd</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c>
                  <a:txBody>
                    <a:bodyPr/>
                    <a:lstStyle/>
                    <a:p>
                      <a:r>
                        <a:rPr lang="en-US" sz="1400" dirty="0" smtClean="0"/>
                        <a:t>a3</a:t>
                      </a:r>
                      <a:endParaRPr lang="en-US" sz="1400" dirty="0"/>
                    </a:p>
                  </a:txBody>
                  <a:tcPr marT="34290" marB="34290"/>
                </a:tc>
                <a:tc>
                  <a:txBody>
                    <a:bodyPr/>
                    <a:lstStyle/>
                    <a:p>
                      <a:r>
                        <a:rPr lang="en-US" sz="1400" dirty="0" smtClean="0"/>
                        <a:t>25k</a:t>
                      </a:r>
                      <a:endParaRPr lang="en-US" sz="1400" dirty="0"/>
                    </a:p>
                  </a:txBody>
                  <a:tcPr marT="34290" marB="34290"/>
                </a:tc>
                <a:tc>
                  <a:txBody>
                    <a:bodyPr/>
                    <a:lstStyle/>
                    <a:p>
                      <a:r>
                        <a:rPr lang="en-US" sz="1400" dirty="0" smtClean="0"/>
                        <a:t>234</a:t>
                      </a:r>
                      <a:endParaRPr lang="en-US" sz="1400" dirty="0"/>
                    </a:p>
                  </a:txBody>
                  <a:tcPr marT="34290" marB="34290"/>
                </a:tc>
                <a:tc>
                  <a:txBody>
                    <a:bodyPr/>
                    <a:lstStyle/>
                    <a:p>
                      <a:r>
                        <a:rPr lang="en-US" sz="1400" dirty="0" smtClean="0"/>
                        <a:t>c1</a:t>
                      </a:r>
                      <a:endParaRPr lang="en-US" sz="1400" dirty="0"/>
                    </a:p>
                  </a:txBody>
                  <a:tcPr marT="34290" marB="34290"/>
                </a:tc>
                <a:tc>
                  <a:txBody>
                    <a:bodyPr/>
                    <a:lstStyle/>
                    <a:p>
                      <a:r>
                        <a:rPr lang="en-US" sz="1400" dirty="0" err="1" smtClean="0"/>
                        <a:t>Hyd</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pqr</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35k</a:t>
                      </a:r>
                      <a:endParaRPr lang="en-US" sz="1400" dirty="0"/>
                    </a:p>
                  </a:txBody>
                  <a:tcPr marT="34290" marB="34290"/>
                </a:tc>
                <a:tc>
                  <a:txBody>
                    <a:bodyPr/>
                    <a:lstStyle/>
                    <a:p>
                      <a:r>
                        <a:rPr lang="en-US" sz="1400" dirty="0" smtClean="0"/>
                        <a:t>456</a:t>
                      </a:r>
                      <a:endParaRPr lang="en-US" sz="1400" dirty="0"/>
                    </a:p>
                  </a:txBody>
                  <a:tcPr marT="34290" marB="34290"/>
                </a:tc>
                <a:tc>
                  <a:txBody>
                    <a:bodyPr/>
                    <a:lstStyle/>
                    <a:p>
                      <a:r>
                        <a:rPr lang="en-US" sz="1400" dirty="0" smtClean="0"/>
                        <a:t>c2</a:t>
                      </a:r>
                      <a:endParaRPr lang="en-US" sz="1400" dirty="0"/>
                    </a:p>
                  </a:txBody>
                  <a:tcPr marT="34290" marB="34290"/>
                </a:tc>
                <a:tc>
                  <a:txBody>
                    <a:bodyPr/>
                    <a:lstStyle/>
                    <a:p>
                      <a:r>
                        <a:rPr lang="en-US" sz="1400" dirty="0" err="1" smtClean="0"/>
                        <a:t>Vja</a:t>
                      </a:r>
                      <a:endParaRPr lang="en-US" sz="1400" dirty="0"/>
                    </a:p>
                  </a:txBody>
                  <a:tcPr marT="34290" marB="34290"/>
                </a:tc>
              </a:tr>
              <a:tr h="288036">
                <a:tc>
                  <a:txBody>
                    <a:bodyPr/>
                    <a:lstStyle/>
                    <a:p>
                      <a:r>
                        <a:rPr lang="en-US" sz="1400" dirty="0" smtClean="0"/>
                        <a:t>4</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50k</a:t>
                      </a:r>
                      <a:endParaRPr lang="en-US" sz="1400" dirty="0"/>
                    </a:p>
                  </a:txBody>
                  <a:tcPr marT="34290" marB="34290"/>
                </a:tc>
                <a:tc>
                  <a:txBody>
                    <a:bodyPr/>
                    <a:lstStyle/>
                    <a:p>
                      <a:r>
                        <a:rPr lang="en-US" sz="1400" dirty="0" smtClean="0"/>
                        <a:t>567</a:t>
                      </a:r>
                      <a:endParaRPr lang="en-US" sz="1400" dirty="0"/>
                    </a:p>
                  </a:txBody>
                  <a:tcPr marT="34290" marB="34290"/>
                </a:tc>
                <a:tc>
                  <a:txBody>
                    <a:bodyPr/>
                    <a:lstStyle/>
                    <a:p>
                      <a:r>
                        <a:rPr lang="en-US" sz="1400" dirty="0" smtClean="0"/>
                        <a:t>c3</a:t>
                      </a:r>
                      <a:endParaRPr lang="en-US" sz="1400" dirty="0"/>
                    </a:p>
                  </a:txBody>
                  <a:tcPr marT="34290" marB="34290"/>
                </a:tc>
                <a:tc>
                  <a:txBody>
                    <a:bodyPr/>
                    <a:lstStyle/>
                    <a:p>
                      <a:r>
                        <a:rPr lang="en-US" sz="1400" dirty="0" err="1" smtClean="0"/>
                        <a:t>Vja</a:t>
                      </a:r>
                      <a:r>
                        <a:rPr lang="en-US" sz="1400" dirty="0" smtClean="0"/>
                        <a:t> </a:t>
                      </a:r>
                      <a:endParaRPr lang="en-US" sz="1400" dirty="0"/>
                    </a:p>
                  </a:txBody>
                  <a:tcPr marT="34290" marB="34290"/>
                </a:tc>
              </a:tr>
            </a:tbl>
          </a:graphicData>
        </a:graphic>
      </p:graphicFrame>
      <p:graphicFrame>
        <p:nvGraphicFramePr>
          <p:cNvPr id="11" name="Table 10"/>
          <p:cNvGraphicFramePr>
            <a:graphicFrameLocks noGrp="1"/>
          </p:cNvGraphicFramePr>
          <p:nvPr/>
        </p:nvGraphicFramePr>
        <p:xfrm>
          <a:off x="714351" y="2946800"/>
          <a:ext cx="4634231" cy="1409700"/>
        </p:xfrm>
        <a:graphic>
          <a:graphicData uri="http://schemas.openxmlformats.org/drawingml/2006/table">
            <a:tbl>
              <a:tblPr firstRow="1" bandRow="1">
                <a:tableStyleId>{5C22544A-7EE6-4342-B048-85BDC9FD1C3A}</a:tableStyleId>
              </a:tblPr>
              <a:tblGrid>
                <a:gridCol w="594043"/>
                <a:gridCol w="992505"/>
                <a:gridCol w="671830"/>
                <a:gridCol w="678180"/>
                <a:gridCol w="824230"/>
                <a:gridCol w="873443"/>
              </a:tblGrid>
              <a:tr h="288036">
                <a:tc>
                  <a:txBody>
                    <a:bodyPr/>
                    <a:lstStyle/>
                    <a:p>
                      <a:r>
                        <a:rPr lang="en-US" sz="1400" dirty="0" err="1" smtClean="0"/>
                        <a:t>eid</a:t>
                      </a:r>
                      <a:endParaRPr lang="en-US" sz="1400" dirty="0"/>
                    </a:p>
                  </a:txBody>
                  <a:tcPr marT="34290" marB="34290"/>
                </a:tc>
                <a:tc>
                  <a:txBody>
                    <a:bodyPr/>
                    <a:lstStyle/>
                    <a:p>
                      <a:r>
                        <a:rPr lang="en-US" sz="1400" dirty="0" err="1" smtClean="0"/>
                        <a:t>ename</a:t>
                      </a:r>
                      <a:endParaRPr lang="en-US" sz="1400" dirty="0"/>
                    </a:p>
                  </a:txBody>
                  <a:tcPr marT="34290" marB="34290"/>
                </a:tc>
                <a:tc>
                  <a:txBody>
                    <a:bodyPr/>
                    <a:lstStyle/>
                    <a:p>
                      <a:r>
                        <a:rPr lang="en-US" sz="1400" dirty="0" smtClean="0"/>
                        <a:t>add</a:t>
                      </a:r>
                      <a:endParaRPr lang="en-US" sz="1400" dirty="0"/>
                    </a:p>
                  </a:txBody>
                  <a:tcPr marT="34290" marB="34290"/>
                </a:tc>
                <a:tc>
                  <a:txBody>
                    <a:bodyPr/>
                    <a:lstStyle/>
                    <a:p>
                      <a:r>
                        <a:rPr lang="en-US" sz="1400" dirty="0" err="1" smtClean="0"/>
                        <a:t>sal</a:t>
                      </a:r>
                      <a:endParaRPr lang="en-US" sz="1400" dirty="0"/>
                    </a:p>
                  </a:txBody>
                  <a:tcPr marT="34290" marB="34290"/>
                </a:tc>
                <a:tc>
                  <a:txBody>
                    <a:bodyPr/>
                    <a:lstStyle/>
                    <a:p>
                      <a:r>
                        <a:rPr lang="en-US" sz="1400" dirty="0" err="1" smtClean="0"/>
                        <a:t>phno</a:t>
                      </a:r>
                      <a:endParaRPr lang="en-US" sz="1400" dirty="0"/>
                    </a:p>
                  </a:txBody>
                  <a:tcPr marT="34290" marB="34290"/>
                </a:tc>
                <a:tc>
                  <a:txBody>
                    <a:bodyPr/>
                    <a:lstStyle/>
                    <a:p>
                      <a:r>
                        <a:rPr lang="en-US" sz="1400" dirty="0" smtClean="0"/>
                        <a:t>comp</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40k</a:t>
                      </a:r>
                      <a:endParaRPr lang="en-US" sz="1400" dirty="0"/>
                    </a:p>
                  </a:txBody>
                  <a:tcPr marT="34290" marB="34290"/>
                </a:tc>
                <a:tc>
                  <a:txBody>
                    <a:bodyPr/>
                    <a:lstStyle/>
                    <a:p>
                      <a:r>
                        <a:rPr lang="en-US" sz="1400" dirty="0" smtClean="0"/>
                        <a:t>123</a:t>
                      </a:r>
                      <a:endParaRPr lang="en-US" sz="1400" dirty="0"/>
                    </a:p>
                  </a:txBody>
                  <a:tcPr marT="34290" marB="34290"/>
                </a:tc>
                <a:tc>
                  <a:txBody>
                    <a:bodyPr/>
                    <a:lstStyle/>
                    <a:p>
                      <a:r>
                        <a:rPr lang="en-US" sz="1400" dirty="0" smtClean="0"/>
                        <a:t>c1</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c>
                  <a:txBody>
                    <a:bodyPr/>
                    <a:lstStyle/>
                    <a:p>
                      <a:r>
                        <a:rPr lang="en-US" sz="1400" dirty="0" smtClean="0"/>
                        <a:t>a3</a:t>
                      </a:r>
                      <a:endParaRPr lang="en-US" sz="1400" dirty="0"/>
                    </a:p>
                  </a:txBody>
                  <a:tcPr marT="34290" marB="34290"/>
                </a:tc>
                <a:tc>
                  <a:txBody>
                    <a:bodyPr/>
                    <a:lstStyle/>
                    <a:p>
                      <a:r>
                        <a:rPr lang="en-US" sz="1400" dirty="0" smtClean="0"/>
                        <a:t>25k</a:t>
                      </a:r>
                      <a:endParaRPr lang="en-US" sz="1400" dirty="0"/>
                    </a:p>
                  </a:txBody>
                  <a:tcPr marT="34290" marB="34290"/>
                </a:tc>
                <a:tc>
                  <a:txBody>
                    <a:bodyPr/>
                    <a:lstStyle/>
                    <a:p>
                      <a:r>
                        <a:rPr lang="en-US" sz="1400" dirty="0" smtClean="0"/>
                        <a:t>234</a:t>
                      </a:r>
                      <a:endParaRPr lang="en-US" sz="1400" dirty="0"/>
                    </a:p>
                  </a:txBody>
                  <a:tcPr marT="34290" marB="34290"/>
                </a:tc>
                <a:tc>
                  <a:txBody>
                    <a:bodyPr/>
                    <a:lstStyle/>
                    <a:p>
                      <a:r>
                        <a:rPr lang="en-US" sz="1400" dirty="0" smtClean="0"/>
                        <a:t>c1</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pqr</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35k</a:t>
                      </a:r>
                      <a:endParaRPr lang="en-US" sz="1400" dirty="0"/>
                    </a:p>
                  </a:txBody>
                  <a:tcPr marT="34290" marB="34290"/>
                </a:tc>
                <a:tc>
                  <a:txBody>
                    <a:bodyPr/>
                    <a:lstStyle/>
                    <a:p>
                      <a:r>
                        <a:rPr lang="en-US" sz="1400" dirty="0" smtClean="0"/>
                        <a:t>456</a:t>
                      </a:r>
                      <a:endParaRPr lang="en-US" sz="1400" dirty="0"/>
                    </a:p>
                  </a:txBody>
                  <a:tcPr marT="34290" marB="34290"/>
                </a:tc>
                <a:tc>
                  <a:txBody>
                    <a:bodyPr/>
                    <a:lstStyle/>
                    <a:p>
                      <a:r>
                        <a:rPr lang="en-US" sz="1400" dirty="0" smtClean="0"/>
                        <a:t>c2</a:t>
                      </a:r>
                      <a:endParaRPr lang="en-US" sz="1400" dirty="0"/>
                    </a:p>
                  </a:txBody>
                  <a:tcPr marT="34290" marB="34290"/>
                </a:tc>
              </a:tr>
              <a:tr h="288036">
                <a:tc>
                  <a:txBody>
                    <a:bodyPr/>
                    <a:lstStyle/>
                    <a:p>
                      <a:r>
                        <a:rPr lang="en-US" sz="1400" dirty="0" smtClean="0"/>
                        <a:t>4</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50k</a:t>
                      </a:r>
                      <a:endParaRPr lang="en-US" sz="1400" dirty="0"/>
                    </a:p>
                  </a:txBody>
                  <a:tcPr marT="34290" marB="34290"/>
                </a:tc>
                <a:tc>
                  <a:txBody>
                    <a:bodyPr/>
                    <a:lstStyle/>
                    <a:p>
                      <a:r>
                        <a:rPr lang="en-US" sz="1400" dirty="0" smtClean="0"/>
                        <a:t>567</a:t>
                      </a:r>
                      <a:endParaRPr lang="en-US" sz="1400" dirty="0"/>
                    </a:p>
                  </a:txBody>
                  <a:tcPr marT="34290" marB="34290"/>
                </a:tc>
                <a:tc>
                  <a:txBody>
                    <a:bodyPr/>
                    <a:lstStyle/>
                    <a:p>
                      <a:r>
                        <a:rPr lang="en-US" sz="1400" dirty="0" smtClean="0"/>
                        <a:t>c3</a:t>
                      </a:r>
                      <a:endParaRPr lang="en-US" sz="1400" dirty="0"/>
                    </a:p>
                  </a:txBody>
                  <a:tcPr marT="34290" marB="34290"/>
                </a:tc>
              </a:tr>
            </a:tbl>
          </a:graphicData>
        </a:graphic>
      </p:graphicFrame>
      <p:graphicFrame>
        <p:nvGraphicFramePr>
          <p:cNvPr id="12" name="Table 11"/>
          <p:cNvGraphicFramePr>
            <a:graphicFrameLocks noGrp="1"/>
          </p:cNvGraphicFramePr>
          <p:nvPr/>
        </p:nvGraphicFramePr>
        <p:xfrm>
          <a:off x="6286512" y="3107536"/>
          <a:ext cx="1744300" cy="1127760"/>
        </p:xfrm>
        <a:graphic>
          <a:graphicData uri="http://schemas.openxmlformats.org/drawingml/2006/table">
            <a:tbl>
              <a:tblPr firstRow="1" bandRow="1">
                <a:tableStyleId>{5C22544A-7EE6-4342-B048-85BDC9FD1C3A}</a:tableStyleId>
              </a:tblPr>
              <a:tblGrid>
                <a:gridCol w="873443"/>
                <a:gridCol w="870857"/>
              </a:tblGrid>
              <a:tr h="288036">
                <a:tc>
                  <a:txBody>
                    <a:bodyPr/>
                    <a:lstStyle/>
                    <a:p>
                      <a:r>
                        <a:rPr lang="en-US" sz="1400" dirty="0" smtClean="0"/>
                        <a:t>comp</a:t>
                      </a:r>
                      <a:endParaRPr lang="en-US" sz="1400" dirty="0"/>
                    </a:p>
                  </a:txBody>
                  <a:tcPr marT="34290" marB="34290"/>
                </a:tc>
                <a:tc>
                  <a:txBody>
                    <a:bodyPr/>
                    <a:lstStyle/>
                    <a:p>
                      <a:r>
                        <a:rPr lang="en-US" sz="1400" dirty="0" smtClean="0"/>
                        <a:t>loc</a:t>
                      </a:r>
                      <a:endParaRPr lang="en-US" sz="1400" dirty="0"/>
                    </a:p>
                  </a:txBody>
                  <a:tcPr marT="34290" marB="34290"/>
                </a:tc>
              </a:tr>
              <a:tr h="288036">
                <a:tc>
                  <a:txBody>
                    <a:bodyPr/>
                    <a:lstStyle/>
                    <a:p>
                      <a:r>
                        <a:rPr lang="en-US" sz="1400" dirty="0" smtClean="0"/>
                        <a:t>c1</a:t>
                      </a:r>
                      <a:endParaRPr lang="en-US" sz="1400" dirty="0"/>
                    </a:p>
                  </a:txBody>
                  <a:tcPr marT="34290" marB="34290"/>
                </a:tc>
                <a:tc>
                  <a:txBody>
                    <a:bodyPr/>
                    <a:lstStyle/>
                    <a:p>
                      <a:r>
                        <a:rPr lang="en-US" sz="1400" dirty="0" err="1" smtClean="0"/>
                        <a:t>Hyd</a:t>
                      </a:r>
                      <a:endParaRPr lang="en-US" sz="1400" dirty="0"/>
                    </a:p>
                  </a:txBody>
                  <a:tcPr marT="34290" marB="34290"/>
                </a:tc>
              </a:tr>
              <a:tr h="288036">
                <a:tc>
                  <a:txBody>
                    <a:bodyPr/>
                    <a:lstStyle/>
                    <a:p>
                      <a:r>
                        <a:rPr lang="en-US" sz="1400" dirty="0" smtClean="0"/>
                        <a:t>c2</a:t>
                      </a:r>
                      <a:endParaRPr lang="en-US" sz="1400" dirty="0"/>
                    </a:p>
                  </a:txBody>
                  <a:tcPr marT="34290" marB="34290"/>
                </a:tc>
                <a:tc>
                  <a:txBody>
                    <a:bodyPr/>
                    <a:lstStyle/>
                    <a:p>
                      <a:r>
                        <a:rPr lang="en-US" sz="1400" dirty="0" err="1" smtClean="0"/>
                        <a:t>Vja</a:t>
                      </a:r>
                      <a:endParaRPr lang="en-US" sz="1400" dirty="0"/>
                    </a:p>
                  </a:txBody>
                  <a:tcPr marT="34290" marB="34290"/>
                </a:tc>
              </a:tr>
              <a:tr h="288036">
                <a:tc>
                  <a:txBody>
                    <a:bodyPr/>
                    <a:lstStyle/>
                    <a:p>
                      <a:r>
                        <a:rPr lang="en-US" sz="1400" dirty="0" smtClean="0"/>
                        <a:t>c3</a:t>
                      </a:r>
                      <a:endParaRPr lang="en-US" sz="1400" dirty="0"/>
                    </a:p>
                  </a:txBody>
                  <a:tcPr marT="34290" marB="34290"/>
                </a:tc>
                <a:tc>
                  <a:txBody>
                    <a:bodyPr/>
                    <a:lstStyle/>
                    <a:p>
                      <a:r>
                        <a:rPr lang="en-US" sz="1400" dirty="0" err="1" smtClean="0"/>
                        <a:t>Vja</a:t>
                      </a:r>
                      <a:r>
                        <a:rPr lang="en-US" sz="1400" dirty="0" smtClean="0"/>
                        <a:t> </a:t>
                      </a:r>
                      <a:endParaRPr lang="en-US" sz="1400" dirty="0"/>
                    </a:p>
                  </a:txBody>
                  <a:tcPr marT="34290" marB="34290"/>
                </a:tc>
              </a:tr>
            </a:tbl>
          </a:graphicData>
        </a:graphic>
      </p:graphicFrame>
      <p:sp>
        <p:nvSpPr>
          <p:cNvPr id="13" name="TextBox 12"/>
          <p:cNvSpPr txBox="1"/>
          <p:nvPr/>
        </p:nvSpPr>
        <p:spPr>
          <a:xfrm>
            <a:off x="6215074" y="1446601"/>
            <a:ext cx="2571768" cy="1569660"/>
          </a:xfrm>
          <a:prstGeom prst="rect">
            <a:avLst/>
          </a:prstGeom>
          <a:noFill/>
        </p:spPr>
        <p:txBody>
          <a:bodyPr wrap="square" rtlCol="0">
            <a:spAutoFit/>
          </a:bodyPr>
          <a:lstStyle/>
          <a:p>
            <a:r>
              <a:rPr lang="en-US" sz="3200" dirty="0" err="1" smtClean="0"/>
              <a:t>Eid</a:t>
            </a:r>
            <a:r>
              <a:rPr lang="en-US" sz="3200" dirty="0" err="1" smtClean="0">
                <a:sym typeface="Wingdings" pitchFamily="2" charset="2"/>
              </a:rPr>
              <a:t>comp</a:t>
            </a:r>
            <a:endParaRPr lang="en-US" sz="3200" dirty="0" smtClean="0">
              <a:sym typeface="Wingdings" pitchFamily="2" charset="2"/>
            </a:endParaRPr>
          </a:p>
          <a:p>
            <a:r>
              <a:rPr lang="en-US" sz="3200" dirty="0" smtClean="0">
                <a:sym typeface="Wingdings" pitchFamily="2" charset="2"/>
              </a:rPr>
              <a:t> </a:t>
            </a:r>
            <a:r>
              <a:rPr lang="en-US" sz="3200" dirty="0" err="1" smtClean="0">
                <a:sym typeface="Wingdings" pitchFamily="2" charset="2"/>
              </a:rPr>
              <a:t>comloc</a:t>
            </a:r>
            <a:r>
              <a:rPr lang="en-US" sz="3200" dirty="0" smtClean="0">
                <a:sym typeface="Wingdings" pitchFamily="2" charset="2"/>
              </a:rPr>
              <a:t> </a:t>
            </a:r>
          </a:p>
          <a:p>
            <a:r>
              <a:rPr lang="en-US" sz="3200" dirty="0" err="1" smtClean="0">
                <a:sym typeface="Wingdings" pitchFamily="2" charset="2"/>
              </a:rPr>
              <a:t>Eidloc</a:t>
            </a:r>
            <a:r>
              <a:rPr lang="en-US" sz="3200" dirty="0" smtClean="0">
                <a:sym typeface="Wingdings" pitchFamily="2" charset="2"/>
              </a:rPr>
              <a:t> TD</a:t>
            </a:r>
            <a:endParaRPr lang="en-US" sz="3200" dirty="0"/>
          </a:p>
        </p:txBody>
      </p:sp>
    </p:spTree>
  </p:cSld>
  <p:clrMapOvr>
    <a:masterClrMapping/>
  </p:clrMapOvr>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267875"/>
            <a:ext cx="4572000" cy="369332"/>
          </a:xfrm>
          <a:prstGeom prst="rect">
            <a:avLst/>
          </a:prstGeom>
        </p:spPr>
        <p:txBody>
          <a:bodyPr>
            <a:spAutoFit/>
          </a:bodyPr>
          <a:lstStyle/>
          <a:p>
            <a:r>
              <a:rPr lang="en-US" dirty="0" smtClean="0"/>
              <a:t>4)Boyce coded normal form(BCNF) </a:t>
            </a:r>
          </a:p>
        </p:txBody>
      </p:sp>
      <p:sp>
        <p:nvSpPr>
          <p:cNvPr id="3" name="Rectangle 2"/>
          <p:cNvSpPr/>
          <p:nvPr/>
        </p:nvSpPr>
        <p:spPr>
          <a:xfrm>
            <a:off x="571472" y="589345"/>
            <a:ext cx="6215090" cy="923330"/>
          </a:xfrm>
          <a:prstGeom prst="rect">
            <a:avLst/>
          </a:prstGeom>
        </p:spPr>
        <p:txBody>
          <a:bodyPr wrap="square">
            <a:spAutoFit/>
          </a:bodyPr>
          <a:lstStyle/>
          <a:p>
            <a:r>
              <a:rPr lang="en-US" dirty="0" smtClean="0"/>
              <a:t>If Relation in BCNF it follows </a:t>
            </a:r>
          </a:p>
          <a:p>
            <a:pPr marL="342900" indent="-342900">
              <a:buAutoNum type="arabicPeriod"/>
            </a:pPr>
            <a:r>
              <a:rPr lang="en-US" dirty="0" smtClean="0"/>
              <a:t>It is in 3Nf</a:t>
            </a:r>
          </a:p>
          <a:p>
            <a:pPr marL="342900" indent="-342900">
              <a:buAutoNum type="arabicPeriod"/>
            </a:pPr>
            <a:r>
              <a:rPr lang="en-US" dirty="0" smtClean="0"/>
              <a:t>If there is a FD like A</a:t>
            </a:r>
            <a:r>
              <a:rPr lang="en-US" dirty="0" smtClean="0">
                <a:sym typeface="Wingdings" pitchFamily="2" charset="2"/>
              </a:rPr>
              <a:t>B  A must be a SK</a:t>
            </a:r>
            <a:endParaRPr lang="en-US" dirty="0" smtClean="0"/>
          </a:p>
        </p:txBody>
      </p:sp>
      <p:graphicFrame>
        <p:nvGraphicFramePr>
          <p:cNvPr id="4" name="Table 3"/>
          <p:cNvGraphicFramePr>
            <a:graphicFrameLocks noGrp="1"/>
          </p:cNvGraphicFramePr>
          <p:nvPr/>
        </p:nvGraphicFramePr>
        <p:xfrm>
          <a:off x="214285" y="1339445"/>
          <a:ext cx="3544571" cy="1691640"/>
        </p:xfrm>
        <a:graphic>
          <a:graphicData uri="http://schemas.openxmlformats.org/drawingml/2006/table">
            <a:tbl>
              <a:tblPr firstRow="1" bandRow="1">
                <a:tableStyleId>{5C22544A-7EE6-4342-B048-85BDC9FD1C3A}</a:tableStyleId>
              </a:tblPr>
              <a:tblGrid>
                <a:gridCol w="582930"/>
                <a:gridCol w="981393"/>
                <a:gridCol w="982980"/>
                <a:gridCol w="997268"/>
              </a:tblGrid>
              <a:tr h="288036">
                <a:tc>
                  <a:txBody>
                    <a:bodyPr/>
                    <a:lstStyle/>
                    <a:p>
                      <a:r>
                        <a:rPr lang="en-US" sz="1400" u="sng" dirty="0" err="1" smtClean="0">
                          <a:solidFill>
                            <a:schemeClr val="tx1"/>
                          </a:solidFill>
                        </a:rPr>
                        <a:t>sid</a:t>
                      </a:r>
                      <a:endParaRPr lang="en-US" sz="1400" u="sng" dirty="0">
                        <a:solidFill>
                          <a:schemeClr val="tx1"/>
                        </a:solidFill>
                      </a:endParaRPr>
                    </a:p>
                  </a:txBody>
                  <a:tcPr marT="34290" marB="34290"/>
                </a:tc>
                <a:tc>
                  <a:txBody>
                    <a:bodyPr/>
                    <a:lstStyle/>
                    <a:p>
                      <a:r>
                        <a:rPr lang="en-US" sz="1400" dirty="0" err="1" smtClean="0"/>
                        <a:t>sname</a:t>
                      </a:r>
                      <a:endParaRPr lang="en-US" sz="1400" dirty="0"/>
                    </a:p>
                  </a:txBody>
                  <a:tcPr marT="34290" marB="34290"/>
                </a:tc>
                <a:tc>
                  <a:txBody>
                    <a:bodyPr/>
                    <a:lstStyle/>
                    <a:p>
                      <a:r>
                        <a:rPr lang="en-US" sz="1400" u="sng" dirty="0" err="1" smtClean="0">
                          <a:solidFill>
                            <a:schemeClr val="tx1"/>
                          </a:solidFill>
                        </a:rPr>
                        <a:t>cname</a:t>
                      </a:r>
                      <a:endParaRPr lang="en-US" sz="1400" u="sng" dirty="0">
                        <a:solidFill>
                          <a:schemeClr val="tx1"/>
                        </a:solidFill>
                      </a:endParaRPr>
                    </a:p>
                  </a:txBody>
                  <a:tcPr marT="34290" marB="34290"/>
                </a:tc>
                <a:tc>
                  <a:txBody>
                    <a:bodyPr/>
                    <a:lstStyle/>
                    <a:p>
                      <a:r>
                        <a:rPr lang="en-US" sz="1400" dirty="0" smtClean="0"/>
                        <a:t>faculty</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C</a:t>
                      </a:r>
                      <a:endParaRPr lang="en-US" sz="1400" dirty="0"/>
                    </a:p>
                  </a:txBody>
                  <a:tcPr marT="34290" marB="34290"/>
                </a:tc>
                <a:tc>
                  <a:txBody>
                    <a:bodyPr/>
                    <a:lstStyle/>
                    <a:p>
                      <a:r>
                        <a:rPr lang="en-US" sz="1400" dirty="0" smtClean="0"/>
                        <a:t>S</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CPP</a:t>
                      </a:r>
                      <a:endParaRPr lang="en-US" sz="1400" dirty="0"/>
                    </a:p>
                  </a:txBody>
                  <a:tcPr marT="34290" marB="34290"/>
                </a:tc>
                <a:tc>
                  <a:txBody>
                    <a:bodyPr/>
                    <a:lstStyle/>
                    <a:p>
                      <a:r>
                        <a:rPr lang="en-US" sz="1400" dirty="0" smtClean="0"/>
                        <a:t>T</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c>
                  <a:txBody>
                    <a:bodyPr/>
                    <a:lstStyle/>
                    <a:p>
                      <a:r>
                        <a:rPr lang="en-US" sz="1400" dirty="0" smtClean="0"/>
                        <a:t>C</a:t>
                      </a:r>
                      <a:endParaRPr lang="en-US" sz="1400" dirty="0"/>
                    </a:p>
                  </a:txBody>
                  <a:tcPr marT="34290" marB="34290"/>
                </a:tc>
                <a:tc>
                  <a:txBody>
                    <a:bodyPr/>
                    <a:lstStyle/>
                    <a:p>
                      <a:r>
                        <a:rPr lang="en-US" sz="1400" dirty="0" smtClean="0"/>
                        <a:t>S</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Pqr</a:t>
                      </a:r>
                      <a:endParaRPr lang="en-US" sz="1400" dirty="0"/>
                    </a:p>
                  </a:txBody>
                  <a:tcPr marT="34290" marB="34290"/>
                </a:tc>
                <a:tc>
                  <a:txBody>
                    <a:bodyPr/>
                    <a:lstStyle/>
                    <a:p>
                      <a:r>
                        <a:rPr lang="en-US" sz="1400" dirty="0" smtClean="0"/>
                        <a:t>C</a:t>
                      </a:r>
                      <a:endParaRPr lang="en-US" sz="1400" dirty="0"/>
                    </a:p>
                  </a:txBody>
                  <a:tcPr marT="34290" marB="34290"/>
                </a:tc>
                <a:tc>
                  <a:txBody>
                    <a:bodyPr/>
                    <a:lstStyle/>
                    <a:p>
                      <a:r>
                        <a:rPr lang="en-US" sz="1400" dirty="0" smtClean="0"/>
                        <a:t>M</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Pqr</a:t>
                      </a:r>
                      <a:endParaRPr lang="en-US" sz="1400" dirty="0"/>
                    </a:p>
                  </a:txBody>
                  <a:tcPr marT="34290" marB="34290"/>
                </a:tc>
                <a:tc>
                  <a:txBody>
                    <a:bodyPr/>
                    <a:lstStyle/>
                    <a:p>
                      <a:r>
                        <a:rPr lang="en-US" sz="1400" dirty="0" smtClean="0"/>
                        <a:t>SQL</a:t>
                      </a:r>
                      <a:endParaRPr lang="en-US" sz="1400" dirty="0"/>
                    </a:p>
                  </a:txBody>
                  <a:tcPr marT="34290" marB="34290"/>
                </a:tc>
                <a:tc>
                  <a:txBody>
                    <a:bodyPr/>
                    <a:lstStyle/>
                    <a:p>
                      <a:r>
                        <a:rPr lang="en-US" sz="1400" dirty="0" smtClean="0"/>
                        <a:t>N</a:t>
                      </a:r>
                      <a:endParaRPr lang="en-US" sz="1400" dirty="0"/>
                    </a:p>
                  </a:txBody>
                  <a:tcPr marT="34290" marB="34290"/>
                </a:tc>
              </a:tr>
            </a:tbl>
          </a:graphicData>
        </a:graphic>
      </p:graphicFrame>
      <p:graphicFrame>
        <p:nvGraphicFramePr>
          <p:cNvPr id="6" name="Table 5"/>
          <p:cNvGraphicFramePr>
            <a:graphicFrameLocks noGrp="1"/>
          </p:cNvGraphicFramePr>
          <p:nvPr/>
        </p:nvGraphicFramePr>
        <p:xfrm>
          <a:off x="1928794" y="3107535"/>
          <a:ext cx="1980248" cy="1623060"/>
        </p:xfrm>
        <a:graphic>
          <a:graphicData uri="http://schemas.openxmlformats.org/drawingml/2006/table">
            <a:tbl>
              <a:tblPr firstRow="1" bandRow="1">
                <a:tableStyleId>{5C22544A-7EE6-4342-B048-85BDC9FD1C3A}</a:tableStyleId>
              </a:tblPr>
              <a:tblGrid>
                <a:gridCol w="982980"/>
                <a:gridCol w="997268"/>
              </a:tblGrid>
              <a:tr h="5074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u="sng" dirty="0" smtClean="0">
                          <a:solidFill>
                            <a:schemeClr val="tx1"/>
                          </a:solidFill>
                        </a:rPr>
                        <a:t>faculty</a:t>
                      </a:r>
                    </a:p>
                  </a:txBody>
                  <a:tcPr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err="1" smtClean="0"/>
                        <a:t>cname</a:t>
                      </a:r>
                      <a:endParaRPr lang="en-US" sz="1400" dirty="0" smtClean="0"/>
                    </a:p>
                    <a:p>
                      <a:endParaRPr lang="en-US" sz="1400" dirty="0"/>
                    </a:p>
                  </a:txBody>
                  <a:tcPr marT="34290" marB="34290"/>
                </a:tc>
              </a:tr>
              <a:tr h="288036">
                <a:tc>
                  <a:txBody>
                    <a:bodyPr/>
                    <a:lstStyle/>
                    <a:p>
                      <a:r>
                        <a:rPr lang="en-US" sz="1400" dirty="0" smtClean="0"/>
                        <a:t>S</a:t>
                      </a:r>
                      <a:endParaRPr lang="en-US" sz="1400" dirty="0"/>
                    </a:p>
                  </a:txBody>
                  <a:tcPr marT="34290" marB="34290"/>
                </a:tc>
                <a:tc>
                  <a:txBody>
                    <a:bodyPr/>
                    <a:lstStyle/>
                    <a:p>
                      <a:r>
                        <a:rPr lang="en-US" sz="1400" dirty="0" smtClean="0"/>
                        <a:t>C</a:t>
                      </a:r>
                      <a:endParaRPr lang="en-US" sz="1400" dirty="0"/>
                    </a:p>
                  </a:txBody>
                  <a:tcPr marT="34290" marB="34290"/>
                </a:tc>
              </a:tr>
              <a:tr h="288036">
                <a:tc>
                  <a:txBody>
                    <a:bodyPr/>
                    <a:lstStyle/>
                    <a:p>
                      <a:r>
                        <a:rPr lang="en-US" sz="1400" dirty="0" smtClean="0"/>
                        <a:t>T</a:t>
                      </a:r>
                      <a:endParaRPr lang="en-US" sz="1400" dirty="0"/>
                    </a:p>
                  </a:txBody>
                  <a:tcPr marT="34290" marB="34290"/>
                </a:tc>
                <a:tc>
                  <a:txBody>
                    <a:bodyPr/>
                    <a:lstStyle/>
                    <a:p>
                      <a:r>
                        <a:rPr lang="en-US" sz="1400" dirty="0" smtClean="0"/>
                        <a:t>CPP</a:t>
                      </a:r>
                      <a:endParaRPr lang="en-US" sz="1400" dirty="0"/>
                    </a:p>
                  </a:txBody>
                  <a:tcPr marT="34290" marB="34290"/>
                </a:tc>
              </a:tr>
              <a:tr h="288036">
                <a:tc>
                  <a:txBody>
                    <a:bodyPr/>
                    <a:lstStyle/>
                    <a:p>
                      <a:r>
                        <a:rPr lang="en-US" sz="1400" dirty="0" smtClean="0"/>
                        <a:t>M</a:t>
                      </a:r>
                      <a:endParaRPr lang="en-US" sz="1400" dirty="0"/>
                    </a:p>
                  </a:txBody>
                  <a:tcPr marT="34290" marB="34290"/>
                </a:tc>
                <a:tc>
                  <a:txBody>
                    <a:bodyPr/>
                    <a:lstStyle/>
                    <a:p>
                      <a:r>
                        <a:rPr lang="en-US" sz="1400" dirty="0" smtClean="0"/>
                        <a:t>C</a:t>
                      </a:r>
                      <a:endParaRPr lang="en-US" sz="1400" dirty="0"/>
                    </a:p>
                  </a:txBody>
                  <a:tcPr marT="34290" marB="34290"/>
                </a:tc>
              </a:tr>
              <a:tr h="288036">
                <a:tc>
                  <a:txBody>
                    <a:bodyPr/>
                    <a:lstStyle/>
                    <a:p>
                      <a:r>
                        <a:rPr lang="en-US" sz="1400" dirty="0" smtClean="0"/>
                        <a:t>N</a:t>
                      </a:r>
                      <a:endParaRPr lang="en-US" sz="1400" dirty="0"/>
                    </a:p>
                  </a:txBody>
                  <a:tcPr marT="34290" marB="34290"/>
                </a:tc>
                <a:tc>
                  <a:txBody>
                    <a:bodyPr/>
                    <a:lstStyle/>
                    <a:p>
                      <a:r>
                        <a:rPr lang="en-US" sz="1400" dirty="0" smtClean="0"/>
                        <a:t>SQL</a:t>
                      </a:r>
                      <a:endParaRPr lang="en-US" sz="1400" dirty="0"/>
                    </a:p>
                  </a:txBody>
                  <a:tcPr marT="34290" marB="34290"/>
                </a:tc>
              </a:tr>
            </a:tbl>
          </a:graphicData>
        </a:graphic>
      </p:graphicFrame>
      <p:graphicFrame>
        <p:nvGraphicFramePr>
          <p:cNvPr id="8" name="Table 7"/>
          <p:cNvGraphicFramePr>
            <a:graphicFrameLocks noGrp="1"/>
          </p:cNvGraphicFramePr>
          <p:nvPr/>
        </p:nvGraphicFramePr>
        <p:xfrm>
          <a:off x="6286512" y="2946800"/>
          <a:ext cx="1580198" cy="1691640"/>
        </p:xfrm>
        <a:graphic>
          <a:graphicData uri="http://schemas.openxmlformats.org/drawingml/2006/table">
            <a:tbl>
              <a:tblPr firstRow="1" bandRow="1">
                <a:tableStyleId>{5C22544A-7EE6-4342-B048-85BDC9FD1C3A}</a:tableStyleId>
              </a:tblPr>
              <a:tblGrid>
                <a:gridCol w="582930"/>
                <a:gridCol w="997268"/>
              </a:tblGrid>
              <a:tr h="288036">
                <a:tc>
                  <a:txBody>
                    <a:bodyPr/>
                    <a:lstStyle/>
                    <a:p>
                      <a:r>
                        <a:rPr lang="en-US" sz="1400" u="sng" dirty="0" err="1" smtClean="0">
                          <a:solidFill>
                            <a:schemeClr val="tx1"/>
                          </a:solidFill>
                        </a:rPr>
                        <a:t>sid</a:t>
                      </a:r>
                      <a:endParaRPr lang="en-US" sz="1400" u="sng" dirty="0">
                        <a:solidFill>
                          <a:schemeClr val="tx1"/>
                        </a:solidFill>
                      </a:endParaRPr>
                    </a:p>
                  </a:txBody>
                  <a:tcPr marT="34290" marB="34290"/>
                </a:tc>
                <a:tc>
                  <a:txBody>
                    <a:bodyPr/>
                    <a:lstStyle/>
                    <a:p>
                      <a:r>
                        <a:rPr lang="en-US" sz="1400" u="sng" dirty="0" smtClean="0">
                          <a:solidFill>
                            <a:schemeClr val="tx1"/>
                          </a:solidFill>
                        </a:rPr>
                        <a:t>faculty</a:t>
                      </a:r>
                      <a:endParaRPr lang="en-US" sz="1400" u="sng" dirty="0">
                        <a:solidFill>
                          <a:schemeClr val="tx1"/>
                        </a:solidFill>
                      </a:endParaRPr>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S</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T</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S</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smtClean="0"/>
                        <a:t>M</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smtClean="0"/>
                        <a:t>N</a:t>
                      </a:r>
                      <a:endParaRPr lang="en-US" sz="1400" dirty="0"/>
                    </a:p>
                  </a:txBody>
                  <a:tcPr marT="34290" marB="34290"/>
                </a:tc>
              </a:tr>
            </a:tbl>
          </a:graphicData>
        </a:graphic>
      </p:graphicFrame>
      <p:graphicFrame>
        <p:nvGraphicFramePr>
          <p:cNvPr id="9" name="Table 8"/>
          <p:cNvGraphicFramePr>
            <a:graphicFrameLocks noGrp="1"/>
          </p:cNvGraphicFramePr>
          <p:nvPr/>
        </p:nvGraphicFramePr>
        <p:xfrm>
          <a:off x="4071934" y="3161115"/>
          <a:ext cx="1564323" cy="1127760"/>
        </p:xfrm>
        <a:graphic>
          <a:graphicData uri="http://schemas.openxmlformats.org/drawingml/2006/table">
            <a:tbl>
              <a:tblPr firstRow="1" bandRow="1">
                <a:tableStyleId>{5C22544A-7EE6-4342-B048-85BDC9FD1C3A}</a:tableStyleId>
              </a:tblPr>
              <a:tblGrid>
                <a:gridCol w="582930"/>
                <a:gridCol w="981393"/>
              </a:tblGrid>
              <a:tr h="288036">
                <a:tc>
                  <a:txBody>
                    <a:bodyPr/>
                    <a:lstStyle/>
                    <a:p>
                      <a:r>
                        <a:rPr lang="en-US" sz="1400" b="1" u="sng" dirty="0" err="1" smtClean="0">
                          <a:solidFill>
                            <a:schemeClr val="tx1"/>
                          </a:solidFill>
                        </a:rPr>
                        <a:t>sid</a:t>
                      </a:r>
                      <a:endParaRPr lang="en-US" sz="1400" b="1" u="sng" dirty="0">
                        <a:solidFill>
                          <a:schemeClr val="tx1"/>
                        </a:solidFill>
                      </a:endParaRPr>
                    </a:p>
                  </a:txBody>
                  <a:tcPr marT="34290" marB="34290"/>
                </a:tc>
                <a:tc>
                  <a:txBody>
                    <a:bodyPr/>
                    <a:lstStyle/>
                    <a:p>
                      <a:r>
                        <a:rPr lang="en-US" sz="1400" dirty="0" err="1" smtClean="0"/>
                        <a:t>sname</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r>
              <a:tr h="288036">
                <a:tc>
                  <a:txBody>
                    <a:bodyPr/>
                    <a:lstStyle/>
                    <a:p>
                      <a:r>
                        <a:rPr lang="en-US" sz="1400" dirty="0" smtClean="0"/>
                        <a:t>3</a:t>
                      </a:r>
                      <a:endParaRPr lang="en-US" sz="1400" dirty="0"/>
                    </a:p>
                  </a:txBody>
                  <a:tcPr marT="34290" marB="34290"/>
                </a:tc>
                <a:tc>
                  <a:txBody>
                    <a:bodyPr/>
                    <a:lstStyle/>
                    <a:p>
                      <a:r>
                        <a:rPr lang="en-US" sz="1400" dirty="0" err="1" smtClean="0"/>
                        <a:t>Pqr</a:t>
                      </a:r>
                      <a:endParaRPr lang="en-US" sz="1400" dirty="0"/>
                    </a:p>
                  </a:txBody>
                  <a:tcPr marT="34290" marB="34290"/>
                </a:tc>
              </a:tr>
            </a:tbl>
          </a:graphicData>
        </a:graphic>
      </p:graphicFrame>
    </p:spTree>
  </p:cSld>
  <p:clrMapOvr>
    <a:masterClrMapping/>
  </p:clrMapOvr>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375032"/>
            <a:ext cx="4572000" cy="369332"/>
          </a:xfrm>
          <a:prstGeom prst="rect">
            <a:avLst/>
          </a:prstGeom>
        </p:spPr>
        <p:txBody>
          <a:bodyPr>
            <a:spAutoFit/>
          </a:bodyPr>
          <a:lstStyle/>
          <a:p>
            <a:r>
              <a:rPr lang="en-US" dirty="0" smtClean="0"/>
              <a:t>5)Forth normal form(4NF) </a:t>
            </a:r>
          </a:p>
        </p:txBody>
      </p:sp>
      <p:sp>
        <p:nvSpPr>
          <p:cNvPr id="3" name="Rectangle 2"/>
          <p:cNvSpPr/>
          <p:nvPr/>
        </p:nvSpPr>
        <p:spPr>
          <a:xfrm>
            <a:off x="642910" y="750081"/>
            <a:ext cx="5929338" cy="923330"/>
          </a:xfrm>
          <a:prstGeom prst="rect">
            <a:avLst/>
          </a:prstGeom>
        </p:spPr>
        <p:txBody>
          <a:bodyPr wrap="square">
            <a:spAutoFit/>
          </a:bodyPr>
          <a:lstStyle/>
          <a:p>
            <a:r>
              <a:rPr lang="en-US" dirty="0" smtClean="0"/>
              <a:t>If Relation in 4NF it follows </a:t>
            </a:r>
          </a:p>
          <a:p>
            <a:pPr marL="342900" indent="-342900">
              <a:buAutoNum type="arabicPeriod"/>
            </a:pPr>
            <a:r>
              <a:rPr lang="en-US" dirty="0" smtClean="0"/>
              <a:t>It is in </a:t>
            </a:r>
            <a:r>
              <a:rPr lang="en-US" dirty="0" err="1" smtClean="0"/>
              <a:t>BCNf</a:t>
            </a:r>
            <a:endParaRPr lang="en-US" dirty="0" smtClean="0"/>
          </a:p>
          <a:p>
            <a:pPr marL="342900" indent="-342900">
              <a:buAutoNum type="arabicPeriod"/>
            </a:pPr>
            <a:r>
              <a:rPr lang="en-US" dirty="0" smtClean="0"/>
              <a:t>No MVD</a:t>
            </a:r>
          </a:p>
        </p:txBody>
      </p:sp>
      <p:graphicFrame>
        <p:nvGraphicFramePr>
          <p:cNvPr id="4" name="Table 3"/>
          <p:cNvGraphicFramePr>
            <a:graphicFrameLocks noGrp="1"/>
          </p:cNvGraphicFramePr>
          <p:nvPr/>
        </p:nvGraphicFramePr>
        <p:xfrm>
          <a:off x="928662" y="1446603"/>
          <a:ext cx="6096000" cy="140970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288036">
                <a:tc>
                  <a:txBody>
                    <a:bodyPr/>
                    <a:lstStyle/>
                    <a:p>
                      <a:r>
                        <a:rPr lang="en-US" sz="1400" u="sng" dirty="0" err="1" smtClean="0">
                          <a:solidFill>
                            <a:schemeClr val="tx1"/>
                          </a:solidFill>
                        </a:rPr>
                        <a:t>sid</a:t>
                      </a:r>
                      <a:endParaRPr lang="en-US" sz="1400" u="sng" dirty="0">
                        <a:solidFill>
                          <a:schemeClr val="tx1"/>
                        </a:solidFill>
                      </a:endParaRPr>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add</a:t>
                      </a:r>
                      <a:endParaRPr lang="en-US" sz="1400" dirty="0"/>
                    </a:p>
                  </a:txBody>
                  <a:tcPr marT="34290" marB="34290"/>
                </a:tc>
                <a:tc>
                  <a:txBody>
                    <a:bodyPr/>
                    <a:lstStyle/>
                    <a:p>
                      <a:r>
                        <a:rPr lang="en-US" sz="1400" dirty="0" err="1" smtClean="0"/>
                        <a:t>phno</a:t>
                      </a:r>
                      <a:endParaRPr lang="en-US" sz="1400" dirty="0"/>
                    </a:p>
                  </a:txBody>
                  <a:tcPr marT="34290" marB="34290"/>
                </a:tc>
                <a:tc>
                  <a:txBody>
                    <a:bodyPr/>
                    <a:lstStyle/>
                    <a:p>
                      <a:r>
                        <a:rPr lang="en-US" sz="1400" u="sng" dirty="0" err="1" smtClean="0">
                          <a:solidFill>
                            <a:schemeClr val="tx1"/>
                          </a:solidFill>
                        </a:rPr>
                        <a:t>cname</a:t>
                      </a:r>
                      <a:endParaRPr lang="en-US" sz="1400" u="sng" dirty="0">
                        <a:solidFill>
                          <a:schemeClr val="tx1"/>
                        </a:solidFill>
                      </a:endParaRPr>
                    </a:p>
                  </a:txBody>
                  <a:tcPr marT="34290" marB="34290"/>
                </a:tc>
                <a:tc>
                  <a:txBody>
                    <a:bodyPr/>
                    <a:lstStyle/>
                    <a:p>
                      <a:r>
                        <a:rPr lang="en-US" sz="1400" u="sng" dirty="0" smtClean="0">
                          <a:solidFill>
                            <a:schemeClr val="tx1"/>
                          </a:solidFill>
                        </a:rPr>
                        <a:t>hobby</a:t>
                      </a:r>
                      <a:endParaRPr lang="en-US" sz="1400" u="sng" dirty="0">
                        <a:solidFill>
                          <a:schemeClr val="tx1"/>
                        </a:solidFill>
                      </a:endParaRPr>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234</a:t>
                      </a:r>
                      <a:endParaRPr lang="en-US" sz="1400" dirty="0"/>
                    </a:p>
                  </a:txBody>
                  <a:tcPr marT="34290" marB="34290"/>
                </a:tc>
                <a:tc>
                  <a:txBody>
                    <a:bodyPr/>
                    <a:lstStyle/>
                    <a:p>
                      <a:r>
                        <a:rPr lang="en-US" sz="1400" dirty="0" smtClean="0"/>
                        <a:t>c</a:t>
                      </a:r>
                      <a:endParaRPr lang="en-US" sz="1400" dirty="0"/>
                    </a:p>
                  </a:txBody>
                  <a:tcPr marT="34290" marB="34290"/>
                </a:tc>
                <a:tc>
                  <a:txBody>
                    <a:bodyPr/>
                    <a:lstStyle/>
                    <a:p>
                      <a:r>
                        <a:rPr lang="en-US" sz="1400" dirty="0" smtClean="0"/>
                        <a:t>music</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234</a:t>
                      </a:r>
                      <a:endParaRPr lang="en-US" sz="1400" dirty="0"/>
                    </a:p>
                  </a:txBody>
                  <a:tcPr marT="34290" marB="34290"/>
                </a:tc>
                <a:tc>
                  <a:txBody>
                    <a:bodyPr/>
                    <a:lstStyle/>
                    <a:p>
                      <a:r>
                        <a:rPr lang="en-US" sz="1400" dirty="0" err="1" smtClean="0"/>
                        <a:t>cpp</a:t>
                      </a:r>
                      <a:endParaRPr lang="en-US" sz="1400" dirty="0"/>
                    </a:p>
                  </a:txBody>
                  <a:tcPr marT="34290" marB="34290"/>
                </a:tc>
                <a:tc>
                  <a:txBody>
                    <a:bodyPr/>
                    <a:lstStyle/>
                    <a:p>
                      <a:r>
                        <a:rPr lang="en-US" sz="1400" dirty="0" smtClean="0"/>
                        <a:t>cricket</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345</a:t>
                      </a:r>
                      <a:endParaRPr lang="en-US" sz="1400" dirty="0"/>
                    </a:p>
                  </a:txBody>
                  <a:tcPr marT="34290" marB="34290"/>
                </a:tc>
                <a:tc>
                  <a:txBody>
                    <a:bodyPr/>
                    <a:lstStyle/>
                    <a:p>
                      <a:r>
                        <a:rPr lang="en-US" sz="1400" dirty="0" smtClean="0"/>
                        <a:t>java</a:t>
                      </a:r>
                      <a:endParaRPr lang="en-US" sz="1400" dirty="0"/>
                    </a:p>
                  </a:txBody>
                  <a:tcPr marT="34290" marB="34290"/>
                </a:tc>
                <a:tc>
                  <a:txBody>
                    <a:bodyPr/>
                    <a:lstStyle/>
                    <a:p>
                      <a:r>
                        <a:rPr lang="en-US" sz="1400" dirty="0" smtClean="0"/>
                        <a:t>cricket</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345</a:t>
                      </a:r>
                      <a:endParaRPr lang="en-US" sz="1400" dirty="0"/>
                    </a:p>
                  </a:txBody>
                  <a:tcPr marT="34290" marB="34290"/>
                </a:tc>
                <a:tc>
                  <a:txBody>
                    <a:bodyPr/>
                    <a:lstStyle/>
                    <a:p>
                      <a:r>
                        <a:rPr lang="en-US" sz="1400" dirty="0" err="1" smtClean="0"/>
                        <a:t>sql</a:t>
                      </a:r>
                      <a:endParaRPr lang="en-US" sz="1400" dirty="0"/>
                    </a:p>
                  </a:txBody>
                  <a:tcPr marT="34290" marB="34290"/>
                </a:tc>
                <a:tc>
                  <a:txBody>
                    <a:bodyPr/>
                    <a:lstStyle/>
                    <a:p>
                      <a:r>
                        <a:rPr lang="en-US" sz="1400" dirty="0" smtClean="0"/>
                        <a:t>hockey</a:t>
                      </a:r>
                      <a:endParaRPr lang="en-US" sz="1400" dirty="0"/>
                    </a:p>
                  </a:txBody>
                  <a:tcPr marT="34290" marB="34290"/>
                </a:tc>
              </a:tr>
            </a:tbl>
          </a:graphicData>
        </a:graphic>
      </p:graphicFrame>
      <p:graphicFrame>
        <p:nvGraphicFramePr>
          <p:cNvPr id="5" name="Table 4"/>
          <p:cNvGraphicFramePr>
            <a:graphicFrameLocks noGrp="1"/>
          </p:cNvGraphicFramePr>
          <p:nvPr/>
        </p:nvGraphicFramePr>
        <p:xfrm>
          <a:off x="428599" y="3053957"/>
          <a:ext cx="3060383" cy="845820"/>
        </p:xfrm>
        <a:graphic>
          <a:graphicData uri="http://schemas.openxmlformats.org/drawingml/2006/table">
            <a:tbl>
              <a:tblPr firstRow="1" bandRow="1">
                <a:tableStyleId>{5C22544A-7EE6-4342-B048-85BDC9FD1C3A}</a:tableStyleId>
              </a:tblPr>
              <a:tblGrid>
                <a:gridCol w="582930"/>
                <a:gridCol w="981393"/>
                <a:gridCol w="671830"/>
                <a:gridCol w="824230"/>
              </a:tblGrid>
              <a:tr h="288036">
                <a:tc>
                  <a:txBody>
                    <a:bodyPr/>
                    <a:lstStyle/>
                    <a:p>
                      <a:r>
                        <a:rPr lang="en-US" sz="1400" u="sng" dirty="0" err="1" smtClean="0">
                          <a:solidFill>
                            <a:schemeClr val="tx1"/>
                          </a:solidFill>
                        </a:rPr>
                        <a:t>sid</a:t>
                      </a:r>
                      <a:endParaRPr lang="en-US" sz="1400" u="sng" dirty="0">
                        <a:solidFill>
                          <a:schemeClr val="tx1"/>
                        </a:solidFill>
                      </a:endParaRPr>
                    </a:p>
                  </a:txBody>
                  <a:tcPr marT="34290" marB="34290"/>
                </a:tc>
                <a:tc>
                  <a:txBody>
                    <a:bodyPr/>
                    <a:lstStyle/>
                    <a:p>
                      <a:r>
                        <a:rPr lang="en-US" sz="1400" dirty="0" err="1" smtClean="0"/>
                        <a:t>sname</a:t>
                      </a:r>
                      <a:endParaRPr lang="en-US" sz="1400" dirty="0"/>
                    </a:p>
                  </a:txBody>
                  <a:tcPr marT="34290" marB="34290"/>
                </a:tc>
                <a:tc>
                  <a:txBody>
                    <a:bodyPr/>
                    <a:lstStyle/>
                    <a:p>
                      <a:r>
                        <a:rPr lang="en-US" sz="1400" dirty="0" smtClean="0"/>
                        <a:t>add</a:t>
                      </a:r>
                      <a:endParaRPr lang="en-US" sz="1400" dirty="0"/>
                    </a:p>
                  </a:txBody>
                  <a:tcPr marT="34290" marB="34290"/>
                </a:tc>
                <a:tc>
                  <a:txBody>
                    <a:bodyPr/>
                    <a:lstStyle/>
                    <a:p>
                      <a:r>
                        <a:rPr lang="en-US" sz="1400" dirty="0" err="1" smtClean="0"/>
                        <a:t>phno</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Abc</a:t>
                      </a:r>
                      <a:endParaRPr lang="en-US" sz="1400" dirty="0"/>
                    </a:p>
                  </a:txBody>
                  <a:tcPr marT="34290" marB="34290"/>
                </a:tc>
                <a:tc>
                  <a:txBody>
                    <a:bodyPr/>
                    <a:lstStyle/>
                    <a:p>
                      <a:r>
                        <a:rPr lang="en-US" sz="1400" dirty="0" smtClean="0"/>
                        <a:t>A1</a:t>
                      </a:r>
                      <a:endParaRPr lang="en-US" sz="1400" dirty="0"/>
                    </a:p>
                  </a:txBody>
                  <a:tcPr marT="34290" marB="34290"/>
                </a:tc>
                <a:tc>
                  <a:txBody>
                    <a:bodyPr/>
                    <a:lstStyle/>
                    <a:p>
                      <a:r>
                        <a:rPr lang="en-US" sz="1400" dirty="0" smtClean="0"/>
                        <a:t>234</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Xyz</a:t>
                      </a:r>
                      <a:endParaRPr lang="en-US" sz="1400" dirty="0"/>
                    </a:p>
                  </a:txBody>
                  <a:tcPr marT="34290" marB="34290"/>
                </a:tc>
                <a:tc>
                  <a:txBody>
                    <a:bodyPr/>
                    <a:lstStyle/>
                    <a:p>
                      <a:r>
                        <a:rPr lang="en-US" sz="1400" dirty="0" smtClean="0"/>
                        <a:t>A2</a:t>
                      </a:r>
                      <a:endParaRPr lang="en-US" sz="1400" dirty="0"/>
                    </a:p>
                  </a:txBody>
                  <a:tcPr marT="34290" marB="34290"/>
                </a:tc>
                <a:tc>
                  <a:txBody>
                    <a:bodyPr/>
                    <a:lstStyle/>
                    <a:p>
                      <a:r>
                        <a:rPr lang="en-US" sz="1400" dirty="0" smtClean="0"/>
                        <a:t>345</a:t>
                      </a:r>
                      <a:endParaRPr lang="en-US" sz="1400" dirty="0"/>
                    </a:p>
                  </a:txBody>
                  <a:tcPr marT="34290" marB="34290"/>
                </a:tc>
              </a:tr>
            </a:tbl>
          </a:graphicData>
        </a:graphic>
      </p:graphicFrame>
      <p:graphicFrame>
        <p:nvGraphicFramePr>
          <p:cNvPr id="6" name="Table 5"/>
          <p:cNvGraphicFramePr>
            <a:graphicFrameLocks noGrp="1"/>
          </p:cNvGraphicFramePr>
          <p:nvPr/>
        </p:nvGraphicFramePr>
        <p:xfrm>
          <a:off x="3857620" y="3107536"/>
          <a:ext cx="2032000" cy="1409700"/>
        </p:xfrm>
        <a:graphic>
          <a:graphicData uri="http://schemas.openxmlformats.org/drawingml/2006/table">
            <a:tbl>
              <a:tblPr firstRow="1" bandRow="1">
                <a:tableStyleId>{5C22544A-7EE6-4342-B048-85BDC9FD1C3A}</a:tableStyleId>
              </a:tblPr>
              <a:tblGrid>
                <a:gridCol w="1016000"/>
                <a:gridCol w="1016000"/>
              </a:tblGrid>
              <a:tr h="288036">
                <a:tc>
                  <a:txBody>
                    <a:bodyPr/>
                    <a:lstStyle/>
                    <a:p>
                      <a:r>
                        <a:rPr lang="en-US" sz="1400" u="sng" dirty="0" err="1" smtClean="0">
                          <a:solidFill>
                            <a:schemeClr val="tx1"/>
                          </a:solidFill>
                        </a:rPr>
                        <a:t>sid</a:t>
                      </a:r>
                      <a:endParaRPr lang="en-US" sz="1400" u="sng" dirty="0">
                        <a:solidFill>
                          <a:schemeClr val="tx1"/>
                        </a:solidFill>
                      </a:endParaRPr>
                    </a:p>
                  </a:txBody>
                  <a:tcPr marT="34290" marB="34290"/>
                </a:tc>
                <a:tc>
                  <a:txBody>
                    <a:bodyPr/>
                    <a:lstStyle/>
                    <a:p>
                      <a:r>
                        <a:rPr lang="en-US" sz="1400" u="sng" dirty="0" err="1" smtClean="0">
                          <a:solidFill>
                            <a:schemeClr val="tx1"/>
                          </a:solidFill>
                        </a:rPr>
                        <a:t>cname</a:t>
                      </a:r>
                      <a:endParaRPr lang="en-US" sz="1400" u="sng" dirty="0">
                        <a:solidFill>
                          <a:schemeClr val="tx1"/>
                        </a:solidFill>
                      </a:endParaRPr>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c</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err="1" smtClean="0"/>
                        <a:t>cpp</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java</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err="1" smtClean="0"/>
                        <a:t>sql</a:t>
                      </a:r>
                      <a:endParaRPr lang="en-US" sz="1400" dirty="0"/>
                    </a:p>
                  </a:txBody>
                  <a:tcPr marT="34290" marB="34290"/>
                </a:tc>
              </a:tr>
            </a:tbl>
          </a:graphicData>
        </a:graphic>
      </p:graphicFrame>
      <p:graphicFrame>
        <p:nvGraphicFramePr>
          <p:cNvPr id="7" name="Table 6"/>
          <p:cNvGraphicFramePr>
            <a:graphicFrameLocks noGrp="1"/>
          </p:cNvGraphicFramePr>
          <p:nvPr/>
        </p:nvGraphicFramePr>
        <p:xfrm>
          <a:off x="6215074" y="3107536"/>
          <a:ext cx="2032000" cy="1409700"/>
        </p:xfrm>
        <a:graphic>
          <a:graphicData uri="http://schemas.openxmlformats.org/drawingml/2006/table">
            <a:tbl>
              <a:tblPr firstRow="1" bandRow="1">
                <a:tableStyleId>{5C22544A-7EE6-4342-B048-85BDC9FD1C3A}</a:tableStyleId>
              </a:tblPr>
              <a:tblGrid>
                <a:gridCol w="1016000"/>
                <a:gridCol w="1016000"/>
              </a:tblGrid>
              <a:tr h="288036">
                <a:tc>
                  <a:txBody>
                    <a:bodyPr/>
                    <a:lstStyle/>
                    <a:p>
                      <a:r>
                        <a:rPr lang="en-US" sz="1400" u="sng" dirty="0" err="1" smtClean="0">
                          <a:solidFill>
                            <a:schemeClr val="tx1"/>
                          </a:solidFill>
                        </a:rPr>
                        <a:t>sid</a:t>
                      </a:r>
                      <a:endParaRPr lang="en-US" sz="1400" u="sng" dirty="0">
                        <a:solidFill>
                          <a:schemeClr val="tx1"/>
                        </a:solidFill>
                      </a:endParaRPr>
                    </a:p>
                  </a:txBody>
                  <a:tcPr marT="34290" marB="34290"/>
                </a:tc>
                <a:tc>
                  <a:txBody>
                    <a:bodyPr/>
                    <a:lstStyle/>
                    <a:p>
                      <a:r>
                        <a:rPr lang="en-US" sz="1400" u="sng" dirty="0" smtClean="0">
                          <a:solidFill>
                            <a:schemeClr val="tx1"/>
                          </a:solidFill>
                        </a:rPr>
                        <a:t>hobby</a:t>
                      </a:r>
                      <a:endParaRPr lang="en-US" sz="1400" u="sng" dirty="0">
                        <a:solidFill>
                          <a:schemeClr val="tx1"/>
                        </a:solidFill>
                      </a:endParaRPr>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music</a:t>
                      </a:r>
                      <a:endParaRPr lang="en-US" sz="1400" dirty="0"/>
                    </a:p>
                  </a:txBody>
                  <a:tcPr marT="34290" marB="34290"/>
                </a:tc>
              </a:tr>
              <a:tr h="288036">
                <a:tc>
                  <a:txBody>
                    <a:bodyPr/>
                    <a:lstStyle/>
                    <a:p>
                      <a:r>
                        <a:rPr lang="en-US" sz="1400" dirty="0" smtClean="0"/>
                        <a:t>1</a:t>
                      </a:r>
                      <a:endParaRPr lang="en-US" sz="1400" dirty="0"/>
                    </a:p>
                  </a:txBody>
                  <a:tcPr marT="34290" marB="34290"/>
                </a:tc>
                <a:tc>
                  <a:txBody>
                    <a:bodyPr/>
                    <a:lstStyle/>
                    <a:p>
                      <a:r>
                        <a:rPr lang="en-US" sz="1400" dirty="0" smtClean="0"/>
                        <a:t>cricket</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cricket</a:t>
                      </a:r>
                      <a:endParaRPr lang="en-US" sz="1400" dirty="0"/>
                    </a:p>
                  </a:txBody>
                  <a:tcPr marT="34290" marB="34290"/>
                </a:tc>
              </a:tr>
              <a:tr h="288036">
                <a:tc>
                  <a:txBody>
                    <a:bodyPr/>
                    <a:lstStyle/>
                    <a:p>
                      <a:r>
                        <a:rPr lang="en-US" sz="1400" dirty="0" smtClean="0"/>
                        <a:t>2</a:t>
                      </a:r>
                      <a:endParaRPr lang="en-US" sz="1400" dirty="0"/>
                    </a:p>
                  </a:txBody>
                  <a:tcPr marT="34290" marB="34290"/>
                </a:tc>
                <a:tc>
                  <a:txBody>
                    <a:bodyPr/>
                    <a:lstStyle/>
                    <a:p>
                      <a:r>
                        <a:rPr lang="en-US" sz="1400" dirty="0" smtClean="0"/>
                        <a:t>hockey</a:t>
                      </a:r>
                      <a:endParaRPr lang="en-US" sz="1400" dirty="0"/>
                    </a:p>
                  </a:txBody>
                  <a:tcPr marT="34290" marB="34290"/>
                </a:tc>
              </a:tr>
            </a:tbl>
          </a:graphicData>
        </a:graphic>
      </p:graphicFrame>
      <p:sp>
        <p:nvSpPr>
          <p:cNvPr id="8" name="TextBox 7"/>
          <p:cNvSpPr txBox="1"/>
          <p:nvPr/>
        </p:nvSpPr>
        <p:spPr>
          <a:xfrm>
            <a:off x="3929058" y="428611"/>
            <a:ext cx="5072098" cy="830997"/>
          </a:xfrm>
          <a:prstGeom prst="rect">
            <a:avLst/>
          </a:prstGeom>
          <a:noFill/>
        </p:spPr>
        <p:txBody>
          <a:bodyPr wrap="square" rtlCol="0">
            <a:spAutoFit/>
          </a:bodyPr>
          <a:lstStyle/>
          <a:p>
            <a:r>
              <a:rPr lang="en-US" sz="2400" dirty="0" smtClean="0">
                <a:solidFill>
                  <a:srgbClr val="FF0000"/>
                </a:solidFill>
              </a:rPr>
              <a:t>MVD: A</a:t>
            </a:r>
            <a:r>
              <a:rPr lang="en-US" sz="2400" dirty="0" smtClean="0">
                <a:solidFill>
                  <a:srgbClr val="FF0000"/>
                </a:solidFill>
                <a:sym typeface="Wingdings" pitchFamily="2" charset="2"/>
              </a:rPr>
              <a:t>B Single value of a and Multiple values of B</a:t>
            </a:r>
            <a:endParaRPr lang="en-US" sz="2400" dirty="0">
              <a:solidFill>
                <a:srgbClr val="FF0000"/>
              </a:solidFill>
            </a:endParaRPr>
          </a:p>
        </p:txBody>
      </p:sp>
    </p:spTree>
  </p:cSld>
  <p:clrMapOvr>
    <a:masterClrMapping/>
  </p:clrMapOv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7" y="107139"/>
            <a:ext cx="2972289" cy="369332"/>
          </a:xfrm>
          <a:prstGeom prst="rect">
            <a:avLst/>
          </a:prstGeom>
        </p:spPr>
        <p:txBody>
          <a:bodyPr wrap="none">
            <a:spAutoFit/>
          </a:bodyPr>
          <a:lstStyle/>
          <a:p>
            <a:r>
              <a:rPr lang="en-US" dirty="0" smtClean="0"/>
              <a:t>6)Fifth normal form(5NF)</a:t>
            </a:r>
            <a:endParaRPr lang="en-US" dirty="0"/>
          </a:p>
        </p:txBody>
      </p:sp>
    </p:spTree>
  </p:cSld>
  <p:clrMapOvr>
    <a:masterClrMapping/>
  </p:clrMapOv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14298"/>
            <a:ext cx="9072594" cy="4955203"/>
          </a:xfrm>
          <a:prstGeom prst="rect">
            <a:avLst/>
          </a:prstGeom>
        </p:spPr>
        <p:txBody>
          <a:bodyPr wrap="square">
            <a:spAutoFit/>
          </a:bodyPr>
          <a:lstStyle/>
          <a:p>
            <a:pPr algn="ctr"/>
            <a:r>
              <a:rPr lang="en-US" sz="2800" b="1" dirty="0" smtClean="0">
                <a:solidFill>
                  <a:srgbClr val="FF0000"/>
                </a:solidFill>
              </a:rPr>
              <a:t>Rules for FDS: Armstrong axiom rules 7</a:t>
            </a:r>
          </a:p>
          <a:p>
            <a:r>
              <a:rPr lang="en-US" sz="3200" b="1" dirty="0" smtClean="0">
                <a:solidFill>
                  <a:srgbClr val="FF0000"/>
                </a:solidFill>
              </a:rPr>
              <a:t>Primary: </a:t>
            </a:r>
          </a:p>
          <a:p>
            <a:r>
              <a:rPr lang="en-US" sz="2800" dirty="0" smtClean="0">
                <a:solidFill>
                  <a:srgbClr val="FF0000"/>
                </a:solidFill>
              </a:rPr>
              <a:t>1.Reflexivity A</a:t>
            </a:r>
            <a:r>
              <a:rPr lang="en-US" sz="2800" dirty="0" smtClean="0">
                <a:solidFill>
                  <a:srgbClr val="FF0000"/>
                </a:solidFill>
                <a:sym typeface="Wingdings" pitchFamily="2" charset="2"/>
              </a:rPr>
              <a:t>A  AB  B is subset of A Trivial</a:t>
            </a:r>
          </a:p>
          <a:p>
            <a:r>
              <a:rPr lang="en-US" sz="2800" dirty="0" smtClean="0">
                <a:solidFill>
                  <a:srgbClr val="FF0000"/>
                </a:solidFill>
              </a:rPr>
              <a:t>2. Transitivity if A</a:t>
            </a:r>
            <a:r>
              <a:rPr lang="en-US" sz="2800" dirty="0" smtClean="0">
                <a:solidFill>
                  <a:srgbClr val="FF0000"/>
                </a:solidFill>
                <a:sym typeface="Wingdings" pitchFamily="2" charset="2"/>
              </a:rPr>
              <a:t>B  BC  then AC transitive FD</a:t>
            </a:r>
            <a:endParaRPr lang="en-US" sz="2800" dirty="0" smtClean="0">
              <a:solidFill>
                <a:srgbClr val="FF0000"/>
              </a:solidFill>
            </a:endParaRPr>
          </a:p>
          <a:p>
            <a:r>
              <a:rPr lang="en-US" sz="2800" dirty="0" smtClean="0">
                <a:solidFill>
                  <a:srgbClr val="FF0000"/>
                </a:solidFill>
              </a:rPr>
              <a:t>3.Augumentation if A</a:t>
            </a:r>
            <a:r>
              <a:rPr lang="en-US" sz="2800" dirty="0" smtClean="0">
                <a:solidFill>
                  <a:srgbClr val="FF0000"/>
                </a:solidFill>
                <a:sym typeface="Wingdings" pitchFamily="2" charset="2"/>
              </a:rPr>
              <a:t>B then AXBX</a:t>
            </a:r>
            <a:endParaRPr lang="en-US" sz="2800" dirty="0" smtClean="0">
              <a:solidFill>
                <a:srgbClr val="FF0000"/>
              </a:solidFill>
            </a:endParaRPr>
          </a:p>
          <a:p>
            <a:endParaRPr lang="en-US" sz="2800" dirty="0" smtClean="0">
              <a:solidFill>
                <a:srgbClr val="FF0000"/>
              </a:solidFill>
            </a:endParaRPr>
          </a:p>
          <a:p>
            <a:r>
              <a:rPr lang="en-US" sz="3200" b="1" dirty="0" smtClean="0">
                <a:solidFill>
                  <a:srgbClr val="FF0000"/>
                </a:solidFill>
              </a:rPr>
              <a:t>Secondary:</a:t>
            </a:r>
          </a:p>
          <a:p>
            <a:pPr marL="342900" indent="-342900">
              <a:buAutoNum type="arabicPeriod"/>
            </a:pPr>
            <a:r>
              <a:rPr lang="en-US" sz="2800" dirty="0" smtClean="0">
                <a:solidFill>
                  <a:srgbClr val="FF0000"/>
                </a:solidFill>
              </a:rPr>
              <a:t>Union A</a:t>
            </a:r>
            <a:r>
              <a:rPr lang="en-US" sz="2800" dirty="0" smtClean="0">
                <a:solidFill>
                  <a:srgbClr val="FF0000"/>
                </a:solidFill>
                <a:sym typeface="Wingdings" pitchFamily="2" charset="2"/>
              </a:rPr>
              <a:t>B and AC then ABC</a:t>
            </a:r>
          </a:p>
          <a:p>
            <a:pPr marL="342900" indent="-342900">
              <a:buAutoNum type="arabicPeriod"/>
            </a:pPr>
            <a:r>
              <a:rPr lang="en-US" sz="2800" dirty="0" smtClean="0">
                <a:solidFill>
                  <a:srgbClr val="FF0000"/>
                </a:solidFill>
                <a:sym typeface="Wingdings" pitchFamily="2" charset="2"/>
              </a:rPr>
              <a:t>Splitting or Decomposition ABC then </a:t>
            </a:r>
            <a:r>
              <a:rPr lang="en-US" sz="2800" dirty="0" smtClean="0">
                <a:solidFill>
                  <a:srgbClr val="FF0000"/>
                </a:solidFill>
              </a:rPr>
              <a:t>A</a:t>
            </a:r>
            <a:r>
              <a:rPr lang="en-US" sz="2800" dirty="0" smtClean="0">
                <a:solidFill>
                  <a:srgbClr val="FF0000"/>
                </a:solidFill>
                <a:sym typeface="Wingdings" pitchFamily="2" charset="2"/>
              </a:rPr>
              <a:t>B </a:t>
            </a:r>
            <a:r>
              <a:rPr lang="en-US" sz="2800" dirty="0" smtClean="0">
                <a:solidFill>
                  <a:srgbClr val="FF0000"/>
                </a:solidFill>
              </a:rPr>
              <a:t>A</a:t>
            </a:r>
            <a:r>
              <a:rPr lang="en-US" sz="2800" dirty="0" smtClean="0">
                <a:solidFill>
                  <a:srgbClr val="FF0000"/>
                </a:solidFill>
                <a:sym typeface="Wingdings" pitchFamily="2" charset="2"/>
              </a:rPr>
              <a:t>C</a:t>
            </a:r>
          </a:p>
          <a:p>
            <a:pPr marL="342900" indent="-342900">
              <a:buAutoNum type="arabicPeriod"/>
            </a:pPr>
            <a:r>
              <a:rPr lang="en-US" sz="2800" dirty="0" smtClean="0">
                <a:solidFill>
                  <a:srgbClr val="FF0000"/>
                </a:solidFill>
                <a:sym typeface="Wingdings" pitchFamily="2" charset="2"/>
              </a:rPr>
              <a:t>Pseudo </a:t>
            </a:r>
            <a:r>
              <a:rPr lang="en-US" sz="2800" dirty="0" smtClean="0">
                <a:solidFill>
                  <a:srgbClr val="FF0000"/>
                </a:solidFill>
              </a:rPr>
              <a:t>Transitivity if X</a:t>
            </a:r>
            <a:r>
              <a:rPr lang="en-US" sz="2800" dirty="0" smtClean="0">
                <a:solidFill>
                  <a:srgbClr val="FF0000"/>
                </a:solidFill>
                <a:sym typeface="Wingdings" pitchFamily="2" charset="2"/>
              </a:rPr>
              <a:t>Y and YZA then XZA</a:t>
            </a:r>
          </a:p>
          <a:p>
            <a:pPr marL="342900" indent="-342900">
              <a:buAutoNum type="arabicPeriod"/>
            </a:pPr>
            <a:r>
              <a:rPr lang="en-US" sz="2800" dirty="0" smtClean="0">
                <a:solidFill>
                  <a:srgbClr val="FF0000"/>
                </a:solidFill>
                <a:sym typeface="Wingdings" pitchFamily="2" charset="2"/>
              </a:rPr>
              <a:t>Composition XY and AB then XAYB</a:t>
            </a:r>
            <a:endParaRPr lang="en-US" sz="2800" dirty="0" smtClean="0">
              <a:solidFill>
                <a:srgbClr val="FF0000"/>
              </a:solidFill>
            </a:endParaRPr>
          </a:p>
        </p:txBody>
      </p:sp>
    </p:spTree>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844" y="321455"/>
            <a:ext cx="8858312" cy="1384995"/>
          </a:xfrm>
          <a:prstGeom prst="rect">
            <a:avLst/>
          </a:prstGeom>
          <a:noFill/>
        </p:spPr>
        <p:txBody>
          <a:bodyPr wrap="square" rtlCol="0">
            <a:spAutoFit/>
          </a:bodyPr>
          <a:lstStyle/>
          <a:p>
            <a:r>
              <a:rPr lang="en-US" sz="2800" dirty="0" smtClean="0"/>
              <a:t>Attribute Closure: A is a attribute or set attributes </a:t>
            </a:r>
          </a:p>
          <a:p>
            <a:r>
              <a:rPr lang="en-US" sz="2800" dirty="0" smtClean="0"/>
              <a:t>Closure of A is A+ it contains set attributes determined by A.</a:t>
            </a:r>
          </a:p>
        </p:txBody>
      </p:sp>
      <p:sp>
        <p:nvSpPr>
          <p:cNvPr id="3" name="TextBox 2"/>
          <p:cNvSpPr txBox="1"/>
          <p:nvPr/>
        </p:nvSpPr>
        <p:spPr>
          <a:xfrm>
            <a:off x="214282" y="1500181"/>
            <a:ext cx="9001156" cy="1384995"/>
          </a:xfrm>
          <a:prstGeom prst="rect">
            <a:avLst/>
          </a:prstGeom>
          <a:noFill/>
        </p:spPr>
        <p:txBody>
          <a:bodyPr wrap="square" rtlCol="0">
            <a:spAutoFit/>
          </a:bodyPr>
          <a:lstStyle/>
          <a:p>
            <a:r>
              <a:rPr lang="en-US" sz="2800" dirty="0" smtClean="0"/>
              <a:t>Example:</a:t>
            </a:r>
          </a:p>
          <a:p>
            <a:r>
              <a:rPr lang="en-US" sz="2800" dirty="0" smtClean="0"/>
              <a:t>R(A,B,C,D,E) and FDS { A</a:t>
            </a:r>
            <a:r>
              <a:rPr lang="en-US" sz="2800" dirty="0" smtClean="0">
                <a:sym typeface="Wingdings" pitchFamily="2" charset="2"/>
              </a:rPr>
              <a:t>B BC  CD  DE} find Candidate keys</a:t>
            </a:r>
            <a:endParaRPr lang="en-US" sz="2800" dirty="0"/>
          </a:p>
        </p:txBody>
      </p:sp>
      <p:sp>
        <p:nvSpPr>
          <p:cNvPr id="4" name="TextBox 3"/>
          <p:cNvSpPr txBox="1"/>
          <p:nvPr/>
        </p:nvSpPr>
        <p:spPr>
          <a:xfrm>
            <a:off x="214282" y="2678907"/>
            <a:ext cx="8715436" cy="1815882"/>
          </a:xfrm>
          <a:prstGeom prst="rect">
            <a:avLst/>
          </a:prstGeom>
          <a:noFill/>
        </p:spPr>
        <p:txBody>
          <a:bodyPr wrap="square" rtlCol="0">
            <a:spAutoFit/>
          </a:bodyPr>
          <a:lstStyle/>
          <a:p>
            <a:r>
              <a:rPr lang="en-US" sz="2800" dirty="0" smtClean="0"/>
              <a:t>SK: It is a attribute or set of attributes whose closure having all attributes</a:t>
            </a:r>
          </a:p>
          <a:p>
            <a:endParaRPr lang="en-US" sz="2800" dirty="0" smtClean="0"/>
          </a:p>
          <a:p>
            <a:r>
              <a:rPr lang="en-US" sz="2800" dirty="0" smtClean="0"/>
              <a:t>CK: Proper Subset of SK is Not a SK</a:t>
            </a:r>
            <a:endParaRPr lang="en-US" sz="2800" dirty="0"/>
          </a:p>
        </p:txBody>
      </p:sp>
    </p:spTree>
  </p:cSld>
  <p:clrMapOvr>
    <a:masterClrMapping/>
  </p:clrMapOvr>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160719"/>
            <a:ext cx="5572164" cy="646331"/>
          </a:xfrm>
          <a:prstGeom prst="rect">
            <a:avLst/>
          </a:prstGeom>
          <a:noFill/>
        </p:spPr>
        <p:txBody>
          <a:bodyPr wrap="square" rtlCol="0">
            <a:spAutoFit/>
          </a:bodyPr>
          <a:lstStyle/>
          <a:p>
            <a:pPr algn="ctr"/>
            <a:r>
              <a:rPr lang="en-US" dirty="0" smtClean="0"/>
              <a:t>UNIT-V</a:t>
            </a:r>
          </a:p>
          <a:p>
            <a:endParaRPr lang="en-US" dirty="0" smtClean="0"/>
          </a:p>
        </p:txBody>
      </p:sp>
      <p:sp>
        <p:nvSpPr>
          <p:cNvPr id="1025" name="Rectangle 1"/>
          <p:cNvSpPr>
            <a:spLocks noChangeArrowheads="1"/>
          </p:cNvSpPr>
          <p:nvPr/>
        </p:nvSpPr>
        <p:spPr bwMode="auto">
          <a:xfrm rot="10800000" flipV="1">
            <a:off x="71406" y="-689594"/>
            <a:ext cx="8501122" cy="569386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PART-I</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Transaction Concept:</a:t>
            </a: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Transaction State, ACID properties,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Concurrent Executions in conflict resolution,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Serializability</a:t>
            </a: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Recoverability, Implementation of Isolation,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Testing for </a:t>
            </a:r>
            <a:r>
              <a:rPr kumimoji="0" lang="en-US" sz="28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Serializability</a:t>
            </a: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lock based, time stamp based, optimistic, concurrency protocols,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Deadlocks, Failure Classification, Storage, Recovery and Atomicity, Recovery algorithm.</a:t>
            </a:r>
            <a:endPar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eaLnBrk="0" fontAlgn="base" hangingPunct="0">
              <a:spcBef>
                <a:spcPct val="0"/>
              </a:spcBef>
              <a:spcAft>
                <a:spcPct val="0"/>
              </a:spcAft>
            </a:pPr>
            <a:r>
              <a:rPr lang="en-US" sz="2800" b="1" dirty="0" smtClean="0">
                <a:latin typeface="Times New Roman" pitchFamily="18" charset="0"/>
                <a:ea typeface="Calibri" pitchFamily="34" charset="0"/>
                <a:cs typeface="Times New Roman" pitchFamily="18" charset="0"/>
              </a:rPr>
              <a:t>PART-II</a:t>
            </a:r>
          </a:p>
          <a:p>
            <a:pPr eaLnBrk="0" fontAlgn="base" hangingPunct="0">
              <a:spcBef>
                <a:spcPct val="0"/>
              </a:spcBef>
              <a:spcAft>
                <a:spcPct val="0"/>
              </a:spcAf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Introduction to indexing:</a:t>
            </a: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p>
          <a:p>
            <a:pPr eaLnBrk="0" fontAlgn="base" hangingPunct="0">
              <a:spcBef>
                <a:spcPct val="0"/>
              </a:spcBef>
              <a:spcAft>
                <a:spcPct val="0"/>
              </a:spcAft>
            </a:pPr>
            <a:r>
              <a:rPr kumimoji="0" lang="en-US"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 trees, B+ trees operations.</a:t>
            </a:r>
            <a:r>
              <a:rPr kumimoji="0" lang="en-US" sz="1100" b="0" i="0" u="none" strike="noStrike" cap="none" normalizeH="0" baseline="0" dirty="0" smtClean="0">
                <a:ln>
                  <a:noFill/>
                </a:ln>
                <a:solidFill>
                  <a:schemeClr val="tx1"/>
                </a:solidFill>
                <a:effectLst/>
                <a:latin typeface="Arial" pitchFamily="34" charset="0"/>
                <a:cs typeface="Arial" pitchFamily="34" charset="0"/>
              </a:rPr>
              <a:t> </a:t>
            </a:r>
            <a:endParaRPr kumimoji="0" lang="en-US" sz="4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RATHNA SRI\Downloads\WhatsApp Image 2025-04-10 at 8.08.48 AM.jpeg"/>
          <p:cNvPicPr>
            <a:picLocks noChangeAspect="1" noChangeArrowheads="1"/>
          </p:cNvPicPr>
          <p:nvPr/>
        </p:nvPicPr>
        <p:blipFill>
          <a:blip r:embed="rId2"/>
          <a:srcRect/>
          <a:stretch>
            <a:fillRect/>
          </a:stretch>
        </p:blipFill>
        <p:spPr bwMode="auto">
          <a:xfrm>
            <a:off x="270975" y="375031"/>
            <a:ext cx="7634777" cy="3234944"/>
          </a:xfrm>
          <a:prstGeom prst="rect">
            <a:avLst/>
          </a:prstGeom>
          <a:noFill/>
        </p:spPr>
      </p:pic>
    </p:spTree>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RATHNA SRI\Downloads\WhatsApp Image 2025-04-10 at 8.08.47 AM (1).jpeg"/>
          <p:cNvPicPr>
            <a:picLocks noChangeAspect="1" noChangeArrowheads="1"/>
          </p:cNvPicPr>
          <p:nvPr/>
        </p:nvPicPr>
        <p:blipFill>
          <a:blip r:embed="rId2"/>
          <a:srcRect/>
          <a:stretch>
            <a:fillRect/>
          </a:stretch>
        </p:blipFill>
        <p:spPr bwMode="auto">
          <a:xfrm>
            <a:off x="285723" y="375031"/>
            <a:ext cx="8072493" cy="4044569"/>
          </a:xfrm>
          <a:prstGeom prst="rect">
            <a:avLst/>
          </a:prstGeom>
          <a:noFill/>
        </p:spPr>
      </p:pic>
    </p:spTree>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ATHNA SRI\Downloads\WhatsApp Image 2025-04-10 at 8.08.47 AM.jpeg"/>
          <p:cNvPicPr>
            <a:picLocks noChangeAspect="1" noChangeArrowheads="1"/>
          </p:cNvPicPr>
          <p:nvPr/>
        </p:nvPicPr>
        <p:blipFill>
          <a:blip r:embed="rId2"/>
          <a:srcRect/>
          <a:stretch>
            <a:fillRect/>
          </a:stretch>
        </p:blipFill>
        <p:spPr bwMode="auto">
          <a:xfrm>
            <a:off x="279400" y="581026"/>
            <a:ext cx="8585200" cy="3981450"/>
          </a:xfrm>
          <a:prstGeom prst="rect">
            <a:avLst/>
          </a:prstGeom>
          <a:noFill/>
        </p:spPr>
      </p:pic>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042991" y="1114425"/>
            <a:ext cx="7056437" cy="2914650"/>
          </a:xfrm>
          <a:prstGeom prst="rect">
            <a:avLst/>
          </a:prstGeom>
          <a:noFill/>
          <a:ln w="9525">
            <a:noFill/>
            <a:miter lim="800000"/>
            <a:headEnd/>
            <a:tailEnd/>
          </a:ln>
          <a:effectLst/>
        </p:spPr>
      </p:pic>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5554</TotalTime>
  <Words>6516</Words>
  <Application>Microsoft Office PowerPoint</Application>
  <PresentationFormat>On-screen Show (16:9)</PresentationFormat>
  <Paragraphs>1336</Paragraphs>
  <Slides>145</Slides>
  <Notes>4</Notes>
  <HiddenSlides>0</HiddenSlides>
  <MMClips>0</MMClips>
  <ScaleCrop>false</ScaleCrop>
  <HeadingPairs>
    <vt:vector size="4" baseType="variant">
      <vt:variant>
        <vt:lpstr>Theme</vt:lpstr>
      </vt:variant>
      <vt:variant>
        <vt:i4>1</vt:i4>
      </vt:variant>
      <vt:variant>
        <vt:lpstr>Slide Titles</vt:lpstr>
      </vt:variant>
      <vt:variant>
        <vt:i4>145</vt:i4>
      </vt:variant>
    </vt:vector>
  </HeadingPairs>
  <TitlesOfParts>
    <vt:vector size="146" baseType="lpstr">
      <vt:lpstr>Concourse</vt:lpstr>
      <vt:lpstr>Slide 1</vt:lpstr>
      <vt:lpstr>Slide 2</vt:lpstr>
      <vt:lpstr>Slide 3</vt:lpstr>
      <vt:lpstr>Slide 4</vt:lpstr>
      <vt:lpstr>Slide 5</vt:lpstr>
      <vt:lpstr>Slide 6</vt:lpstr>
      <vt:lpstr>Slide 7</vt:lpstr>
      <vt:lpstr>Slide 8</vt:lpstr>
      <vt:lpstr>Slide 9</vt:lpstr>
      <vt:lpstr>Slide 10</vt:lpstr>
      <vt:lpstr>Slide 11</vt:lpstr>
      <vt:lpstr>Identified Issues</vt:lpstr>
      <vt:lpstr>DBMS</vt:lpstr>
      <vt:lpstr>Slide 14</vt:lpstr>
      <vt:lpstr>Database Users</vt:lpstr>
      <vt:lpstr>Slide 16</vt:lpstr>
      <vt:lpstr>Advantages of DBMS</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RELATIONAL MODEL</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RATHNA SRI</dc:creator>
  <cp:lastModifiedBy>RATHNA SRI</cp:lastModifiedBy>
  <cp:revision>88</cp:revision>
  <dcterms:created xsi:type="dcterms:W3CDTF">2024-11-28T06:16:16Z</dcterms:created>
  <dcterms:modified xsi:type="dcterms:W3CDTF">2026-08-27T11:26:13Z</dcterms:modified>
</cp:coreProperties>
</file>